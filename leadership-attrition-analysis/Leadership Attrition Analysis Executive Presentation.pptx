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12192000"/>
  <p:embeddedFontLst>
    <p:embeddedFont>
      <p:font typeface="Play"/>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JzpbD+sSYMyHlSv31qjjvElWR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regular.fntdata"/><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25" name="Google Shape;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findings synthesized from Insights Generation</a:t>
            </a:r>
            <a:r>
              <a:rPr lang="en-US" sz="1200">
                <a:solidFill>
                  <a:schemeClr val="dk1"/>
                </a:solidFill>
              </a:rPr>
              <a:t>, </a:t>
            </a:r>
            <a:r>
              <a:rPr lang="en-US" sz="1200">
                <a:solidFill>
                  <a:schemeClr val="dk1"/>
                </a:solidFill>
                <a:latin typeface="Arial"/>
                <a:ea typeface="Arial"/>
                <a:cs typeface="Arial"/>
                <a:sym typeface="Arial"/>
              </a:rPr>
              <a:t>Power BI screenshots,</a:t>
            </a:r>
            <a:r>
              <a:rPr lang="en-US" sz="1200">
                <a:solidFill>
                  <a:schemeClr val="dk1"/>
                </a:solidFill>
              </a:rPr>
              <a:t> </a:t>
            </a:r>
            <a:r>
              <a:rPr lang="en-US" sz="1200">
                <a:solidFill>
                  <a:schemeClr val="dk1"/>
                </a:solidFill>
                <a:latin typeface="Arial"/>
                <a:ea typeface="Arial"/>
                <a:cs typeface="Arial"/>
                <a:sym typeface="Arial"/>
              </a:rPr>
              <a:t>analyst interpretations, Data Analysis, and Business</a:t>
            </a:r>
            <a:r>
              <a:rPr lang="en-US" sz="1200">
                <a:solidFill>
                  <a:schemeClr val="dk1"/>
                </a:solidFill>
              </a:rPr>
              <a:t> Analytics</a:t>
            </a:r>
            <a:r>
              <a:rPr lang="en-US" sz="1200">
                <a:solidFill>
                  <a:schemeClr val="dk1"/>
                </a:solidFill>
                <a:latin typeface="Arial"/>
                <a:ea typeface="Arial"/>
                <a:cs typeface="Arial"/>
                <a:sym typeface="Arial"/>
              </a:rPr>
              <a:t>.</a:t>
            </a:r>
            <a:endParaRPr/>
          </a:p>
        </p:txBody>
      </p:sp>
      <p:sp>
        <p:nvSpPr>
          <p:cNvPr id="56" name="Google Shape;5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85" name="Google Shape;8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122" name="Google Shape;12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153" name="Google Shape;15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Gallup, “Managers Account for 70% of Variance in Employee Engagement” (2015): https://news.gallup.com/businessjournal/182792/managers-account-variance-employee-engagement.aspx</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Gallup, “This Fixable Problem Costs U.S. Businesses $1 Trillion” (2019): https://www.gallup.com/workplace/247391/fixable-problem-costs-businesses-trillion.aspx</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Qualtrics, “Calculating the Cost of Employee Turnover” (2023), citing Josh Bersin: https://www.qualtrics.com/articles/employee-experience/cost-of-employee-turnover/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Porter et al., “The turnover contagion process: An integrative review of theory and research” (2021): https://onlinelibrary.wiley.com/doi/abs/10.1002/job.2483</a:t>
            </a:r>
            <a:endParaRPr/>
          </a:p>
        </p:txBody>
      </p:sp>
      <p:sp>
        <p:nvSpPr>
          <p:cNvPr id="176" name="Google Shape;17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source: Data Analysis, including data attributes, wrangling approach, transformations, statistical methods, assumptions and constraints.</a:t>
            </a:r>
            <a:endParaRPr/>
          </a:p>
        </p:txBody>
      </p:sp>
      <p:sp>
        <p:nvSpPr>
          <p:cNvPr id="203" name="Google Shape;20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237" name="Google Shape;23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visuals: tenure-group Power BI screenshots</a:t>
            </a:r>
            <a:br>
              <a:rPr lang="en-US" sz="1200">
                <a:solidFill>
                  <a:schemeClr val="dk1"/>
                </a:solidFill>
              </a:rPr>
            </a:br>
            <a:r>
              <a:rPr lang="en-US" sz="1200">
                <a:solidFill>
                  <a:schemeClr val="dk1"/>
                </a:solidFill>
                <a:latin typeface="Arial"/>
                <a:ea typeface="Arial"/>
                <a:cs typeface="Arial"/>
                <a:sym typeface="Arial"/>
              </a:rPr>
              <a:t>- Internal interpretation informed by analyst write-ups</a:t>
            </a:r>
            <a:endParaRPr/>
          </a:p>
        </p:txBody>
      </p:sp>
      <p:sp>
        <p:nvSpPr>
          <p:cNvPr id="258" name="Google Shape;25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visuals: department attrition Power BI screenshots.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interpretation informed by analyst write-ups.</a:t>
            </a:r>
            <a:endParaRPr/>
          </a:p>
        </p:txBody>
      </p:sp>
      <p:sp>
        <p:nvSpPr>
          <p:cNvPr id="278" name="Google Shape;27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visuals: Power BI screenshots for years in role, work-life balance, salary increase and performance rating.</a:t>
            </a:r>
            <a:endParaRPr/>
          </a:p>
        </p:txBody>
      </p:sp>
      <p:sp>
        <p:nvSpPr>
          <p:cNvPr id="301" name="Google Shape;301;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recommendations inferred from the Business Case, Insights Generation</a:t>
            </a:r>
            <a:r>
              <a:rPr lang="en-US" sz="1200">
                <a:solidFill>
                  <a:schemeClr val="dk1"/>
                </a:solidFill>
              </a:rPr>
              <a:t>, </a:t>
            </a:r>
            <a:r>
              <a:rPr lang="en-US" sz="1200">
                <a:solidFill>
                  <a:schemeClr val="dk1"/>
                </a:solidFill>
                <a:latin typeface="Arial"/>
                <a:ea typeface="Arial"/>
                <a:cs typeface="Arial"/>
                <a:sym typeface="Arial"/>
              </a:rPr>
              <a:t>and Data Analysis findings.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External rationale on turnover cost and manager influence summarized earlier in Slide 7 notes.</a:t>
            </a:r>
            <a:endParaRPr/>
          </a:p>
        </p:txBody>
      </p:sp>
      <p:sp>
        <p:nvSpPr>
          <p:cNvPr id="328" name="Google Shape;32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50" name="Google Shape;35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source: Project Plan, including timeline, milestones, activities, dependencies, roles and governance cadence.</a:t>
            </a:r>
            <a:endParaRPr/>
          </a:p>
        </p:txBody>
      </p:sp>
      <p:sp>
        <p:nvSpPr>
          <p:cNvPr id="361" name="Google Shape;36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source: Hypothesis Explanation and Inventory document, including scoring framework, 20 hypotheses and top 10 prioritized user stories.</a:t>
            </a:r>
            <a:endParaRPr/>
          </a:p>
        </p:txBody>
      </p:sp>
      <p:sp>
        <p:nvSpPr>
          <p:cNvPr id="462" name="Google Shape;462;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source: Data Analysis Assignment, including variables received, assumptions, wrangling phases, formulas and method limitations.</a:t>
            </a:r>
            <a:endParaRPr/>
          </a:p>
        </p:txBody>
      </p:sp>
      <p:sp>
        <p:nvSpPr>
          <p:cNvPr id="500" name="Google Shape;50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visuals: travel-needs and engagement-correlation Power BI screenshots.</a:t>
            </a:r>
            <a:endParaRPr/>
          </a:p>
        </p:txBody>
      </p:sp>
      <p:sp>
        <p:nvSpPr>
          <p:cNvPr id="521" name="Google Shape;521;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Internal visuals: salary-increase and performance-rating Power BI screenshots.</a:t>
            </a:r>
            <a:endParaRPr/>
          </a:p>
        </p:txBody>
      </p:sp>
      <p:sp>
        <p:nvSpPr>
          <p:cNvPr id="540" name="Google Shape;540;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pic>
        <p:nvPicPr>
          <p:cNvPr descr="/mnt/data/title_healthcare_team.png" id="12" name="Google Shape;12;p1"/>
          <p:cNvPicPr preferRelativeResize="0"/>
          <p:nvPr/>
        </p:nvPicPr>
        <p:blipFill rotWithShape="1">
          <a:blip r:embed="rId3">
            <a:alphaModFix/>
          </a:blip>
          <a:srcRect b="780" l="0" r="0" t="780"/>
          <a:stretch/>
        </p:blipFill>
        <p:spPr>
          <a:xfrm>
            <a:off x="0" y="0"/>
            <a:ext cx="12191695" cy="6858000"/>
          </a:xfrm>
          <a:prstGeom prst="rect">
            <a:avLst/>
          </a:prstGeom>
          <a:noFill/>
          <a:ln>
            <a:noFill/>
          </a:ln>
        </p:spPr>
      </p:pic>
      <p:sp>
        <p:nvSpPr>
          <p:cNvPr id="13" name="Google Shape;13;p1"/>
          <p:cNvSpPr/>
          <p:nvPr/>
        </p:nvSpPr>
        <p:spPr>
          <a:xfrm>
            <a:off x="0" y="0"/>
            <a:ext cx="6583680" cy="6858000"/>
          </a:xfrm>
          <a:prstGeom prst="rect">
            <a:avLst/>
          </a:prstGeom>
          <a:solidFill>
            <a:srgbClr val="0B2747">
              <a:alpha val="80000"/>
            </a:srgbClr>
          </a:solidFill>
          <a:ln cap="flat" cmpd="sng" w="12700">
            <a:solidFill>
              <a:srgbClr val="0B2747">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1"/>
          <p:cNvSpPr/>
          <p:nvPr/>
        </p:nvSpPr>
        <p:spPr>
          <a:xfrm>
            <a:off x="0" y="0"/>
            <a:ext cx="182880" cy="6858000"/>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1"/>
          <p:cNvSpPr/>
          <p:nvPr/>
        </p:nvSpPr>
        <p:spPr>
          <a:xfrm>
            <a:off x="713224" y="640075"/>
            <a:ext cx="2557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CCF2"/>
              </a:buClr>
              <a:buSzPts val="1100"/>
              <a:buFont typeface="Arial"/>
              <a:buNone/>
            </a:pPr>
            <a:r>
              <a:rPr b="1" lang="en-US" sz="1100">
                <a:solidFill>
                  <a:srgbClr val="56CCF2"/>
                </a:solidFill>
              </a:rPr>
              <a:t>PEOPLE ANALYTICS</a:t>
            </a:r>
            <a:r>
              <a:rPr b="1" i="0" lang="en-US" sz="1100" u="none" cap="none" strike="noStrike">
                <a:solidFill>
                  <a:srgbClr val="56CCF2"/>
                </a:solidFill>
                <a:latin typeface="Arial"/>
                <a:ea typeface="Arial"/>
                <a:cs typeface="Arial"/>
                <a:sym typeface="Arial"/>
              </a:rPr>
              <a:t> PRESENTATION</a:t>
            </a:r>
            <a:endParaRPr b="0" i="0" sz="1100" u="none" cap="none" strike="noStrike">
              <a:solidFill>
                <a:schemeClr val="dk1"/>
              </a:solidFill>
              <a:latin typeface="Arial"/>
              <a:ea typeface="Arial"/>
              <a:cs typeface="Arial"/>
              <a:sym typeface="Arial"/>
            </a:endParaRPr>
          </a:p>
        </p:txBody>
      </p:sp>
      <p:sp>
        <p:nvSpPr>
          <p:cNvPr id="16" name="Google Shape;16;p1"/>
          <p:cNvSpPr/>
          <p:nvPr/>
        </p:nvSpPr>
        <p:spPr>
          <a:xfrm>
            <a:off x="713232" y="1078992"/>
            <a:ext cx="5303520" cy="1417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Play"/>
              <a:buNone/>
            </a:pPr>
            <a:r>
              <a:rPr b="1" i="0" lang="en-US" sz="2600" u="none" cap="none" strike="noStrike">
                <a:solidFill>
                  <a:srgbClr val="FFFFFF"/>
                </a:solidFill>
                <a:latin typeface="Play"/>
                <a:ea typeface="Play"/>
                <a:cs typeface="Play"/>
                <a:sym typeface="Play"/>
              </a:rPr>
              <a:t>Senior &amp; Leadership</a:t>
            </a:r>
            <a:endParaRPr b="0" i="0" sz="2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600"/>
              <a:buFont typeface="Play"/>
              <a:buNone/>
            </a:pPr>
            <a:r>
              <a:rPr b="1" i="0" lang="en-US" sz="2600" u="none" cap="none" strike="noStrike">
                <a:solidFill>
                  <a:srgbClr val="FFFFFF"/>
                </a:solidFill>
                <a:latin typeface="Play"/>
                <a:ea typeface="Play"/>
                <a:cs typeface="Play"/>
                <a:sym typeface="Play"/>
              </a:rPr>
              <a:t>Attrition Analysis</a:t>
            </a:r>
            <a:endParaRPr b="0" i="0" sz="2600" u="none" cap="none" strike="noStrike">
              <a:solidFill>
                <a:schemeClr val="dk1"/>
              </a:solidFill>
              <a:latin typeface="Arial"/>
              <a:ea typeface="Arial"/>
              <a:cs typeface="Arial"/>
              <a:sym typeface="Arial"/>
            </a:endParaRPr>
          </a:p>
        </p:txBody>
      </p:sp>
      <p:sp>
        <p:nvSpPr>
          <p:cNvPr id="17" name="Google Shape;17;p1"/>
          <p:cNvSpPr/>
          <p:nvPr/>
        </p:nvSpPr>
        <p:spPr>
          <a:xfrm>
            <a:off x="749808" y="2697480"/>
            <a:ext cx="42976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Arial"/>
              <a:buNone/>
            </a:pPr>
            <a:r>
              <a:rPr b="0" i="0" lang="en-US" sz="1700" u="none" cap="none" strike="noStrike">
                <a:solidFill>
                  <a:srgbClr val="FFFFFF"/>
                </a:solidFill>
                <a:latin typeface="Arial"/>
                <a:ea typeface="Arial"/>
                <a:cs typeface="Arial"/>
                <a:sym typeface="Arial"/>
              </a:rPr>
              <a:t>Identifying risk drivers and preventive actions at Pulse Diagnostics</a:t>
            </a:r>
            <a:endParaRPr b="0" i="0" sz="1700" u="none" cap="none" strike="noStrike">
              <a:solidFill>
                <a:schemeClr val="dk1"/>
              </a:solidFill>
              <a:latin typeface="Arial"/>
              <a:ea typeface="Arial"/>
              <a:cs typeface="Arial"/>
              <a:sym typeface="Arial"/>
            </a:endParaRPr>
          </a:p>
        </p:txBody>
      </p:sp>
      <p:sp>
        <p:nvSpPr>
          <p:cNvPr id="18" name="Google Shape;18;p1"/>
          <p:cNvSpPr/>
          <p:nvPr/>
        </p:nvSpPr>
        <p:spPr>
          <a:xfrm>
            <a:off x="749808" y="6053328"/>
            <a:ext cx="4755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Prepared by Leticia Mie Otani</a:t>
            </a:r>
            <a:endParaRPr b="0" i="0" sz="1100" u="none" cap="none" strike="noStrike">
              <a:solidFill>
                <a:schemeClr val="dk1"/>
              </a:solidFill>
              <a:latin typeface="Arial"/>
              <a:ea typeface="Arial"/>
              <a:cs typeface="Arial"/>
              <a:sym typeface="Arial"/>
            </a:endParaRPr>
          </a:p>
        </p:txBody>
      </p:sp>
      <p:sp>
        <p:nvSpPr>
          <p:cNvPr id="19" name="Google Shape;19;p1"/>
          <p:cNvSpPr/>
          <p:nvPr/>
        </p:nvSpPr>
        <p:spPr>
          <a:xfrm>
            <a:off x="749808" y="5742432"/>
            <a:ext cx="2286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CCF2"/>
              </a:buClr>
              <a:buSzPts val="1200"/>
              <a:buFont typeface="Arial"/>
              <a:buNone/>
            </a:pPr>
            <a:r>
              <a:rPr b="1" i="0" lang="en-US" sz="1200" u="none" cap="none" strike="noStrike">
                <a:solidFill>
                  <a:srgbClr val="56CCF2"/>
                </a:solidFill>
                <a:latin typeface="Arial"/>
                <a:ea typeface="Arial"/>
                <a:cs typeface="Arial"/>
                <a:sym typeface="Arial"/>
              </a:rPr>
              <a:t>Pulse Diagnostics</a:t>
            </a:r>
            <a:endParaRPr b="0" i="0" sz="1200" u="none" cap="none" strike="noStrike">
              <a:solidFill>
                <a:schemeClr val="dk1"/>
              </a:solidFill>
              <a:latin typeface="Arial"/>
              <a:ea typeface="Arial"/>
              <a:cs typeface="Arial"/>
              <a:sym typeface="Arial"/>
            </a:endParaRPr>
          </a:p>
        </p:txBody>
      </p:sp>
      <p:sp>
        <p:nvSpPr>
          <p:cNvPr id="20" name="Google Shape;20;p1"/>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21" name="Google Shape;21;p1"/>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2"/>
          <p:cNvSpPr/>
          <p:nvPr/>
        </p:nvSpPr>
        <p:spPr>
          <a:xfrm>
            <a:off x="0" y="120486"/>
            <a:ext cx="12191700"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 name="Google Shape;28;p2"/>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 name="Google Shape;29;p2"/>
          <p:cNvSpPr/>
          <p:nvPr/>
        </p:nvSpPr>
        <p:spPr>
          <a:xfrm>
            <a:off x="658368" y="219456"/>
            <a:ext cx="98754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lang="en-US" sz="2600">
                <a:solidFill>
                  <a:srgbClr val="123B6D"/>
                </a:solidFill>
                <a:latin typeface="Play"/>
                <a:ea typeface="Play"/>
                <a:cs typeface="Play"/>
                <a:sym typeface="Play"/>
              </a:rPr>
              <a:t>People Analytics consultant</a:t>
            </a:r>
            <a:endParaRPr b="1" sz="2600">
              <a:solidFill>
                <a:srgbClr val="123B6D"/>
              </a:solidFill>
              <a:latin typeface="Play"/>
              <a:ea typeface="Play"/>
              <a:cs typeface="Play"/>
              <a:sym typeface="Play"/>
            </a:endParaRPr>
          </a:p>
        </p:txBody>
      </p:sp>
      <p:sp>
        <p:nvSpPr>
          <p:cNvPr id="30" name="Google Shape;30;p2"/>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INTRODUCTION</a:t>
            </a:r>
            <a:endParaRPr b="0" i="0" sz="800" u="none" cap="none" strike="noStrike">
              <a:solidFill>
                <a:schemeClr val="dk1"/>
              </a:solidFill>
              <a:latin typeface="Arial"/>
              <a:ea typeface="Arial"/>
              <a:cs typeface="Arial"/>
              <a:sym typeface="Arial"/>
            </a:endParaRPr>
          </a:p>
        </p:txBody>
      </p:sp>
      <p:cxnSp>
        <p:nvCxnSpPr>
          <p:cNvPr id="31" name="Google Shape;31;p2"/>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32" name="Google Shape;32;p2"/>
          <p:cNvSpPr/>
          <p:nvPr/>
        </p:nvSpPr>
        <p:spPr>
          <a:xfrm>
            <a:off x="658368" y="960120"/>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 name="Google Shape;33;p2"/>
          <p:cNvSpPr/>
          <p:nvPr/>
        </p:nvSpPr>
        <p:spPr>
          <a:xfrm>
            <a:off x="822960" y="1920240"/>
            <a:ext cx="1700784"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800"/>
              <a:buFont typeface="Play"/>
              <a:buNone/>
            </a:pPr>
            <a:r>
              <a:t/>
            </a:r>
            <a:endParaRPr b="0" i="0" sz="1800" u="none" cap="none" strike="noStrike">
              <a:solidFill>
                <a:schemeClr val="dk1"/>
              </a:solidFill>
              <a:latin typeface="Arial"/>
              <a:ea typeface="Arial"/>
              <a:cs typeface="Arial"/>
              <a:sym typeface="Arial"/>
            </a:endParaRPr>
          </a:p>
        </p:txBody>
      </p:sp>
      <p:sp>
        <p:nvSpPr>
          <p:cNvPr id="34" name="Google Shape;34;p2"/>
          <p:cNvSpPr/>
          <p:nvPr/>
        </p:nvSpPr>
        <p:spPr>
          <a:xfrm>
            <a:off x="658374" y="1417325"/>
            <a:ext cx="6081000" cy="1326000"/>
          </a:xfrm>
          <a:prstGeom prst="roundRect">
            <a:avLst>
              <a:gd fmla="val 6897"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 name="Google Shape;35;p2"/>
          <p:cNvSpPr/>
          <p:nvPr/>
        </p:nvSpPr>
        <p:spPr>
          <a:xfrm>
            <a:off x="2523753" y="1920250"/>
            <a:ext cx="22401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Leticia Mie Otani</a:t>
            </a:r>
            <a:endParaRPr b="0" i="0" sz="1800" u="none" cap="none" strike="noStrike">
              <a:solidFill>
                <a:schemeClr val="dk1"/>
              </a:solidFill>
              <a:latin typeface="Arial"/>
              <a:ea typeface="Arial"/>
              <a:cs typeface="Arial"/>
              <a:sym typeface="Arial"/>
            </a:endParaRPr>
          </a:p>
        </p:txBody>
      </p:sp>
      <p:sp>
        <p:nvSpPr>
          <p:cNvPr id="36" name="Google Shape;36;p2"/>
          <p:cNvSpPr/>
          <p:nvPr/>
        </p:nvSpPr>
        <p:spPr>
          <a:xfrm>
            <a:off x="5303520" y="1812933"/>
            <a:ext cx="1700784" cy="53465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800"/>
              <a:buFont typeface="Play"/>
              <a:buNone/>
            </a:pPr>
            <a:r>
              <a:t/>
            </a:r>
            <a:endParaRPr b="0" i="0" sz="1800" u="none" cap="none" strike="noStrike">
              <a:solidFill>
                <a:schemeClr val="dk1"/>
              </a:solidFill>
              <a:latin typeface="Arial"/>
              <a:ea typeface="Arial"/>
              <a:cs typeface="Arial"/>
              <a:sym typeface="Arial"/>
            </a:endParaRPr>
          </a:p>
        </p:txBody>
      </p:sp>
      <p:sp>
        <p:nvSpPr>
          <p:cNvPr id="37" name="Google Shape;37;p2"/>
          <p:cNvSpPr/>
          <p:nvPr/>
        </p:nvSpPr>
        <p:spPr>
          <a:xfrm>
            <a:off x="7662672" y="1115568"/>
            <a:ext cx="3886200" cy="4389120"/>
          </a:xfrm>
          <a:prstGeom prst="roundRect">
            <a:avLst>
              <a:gd fmla="val 2824"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2"/>
          <p:cNvSpPr/>
          <p:nvPr/>
        </p:nvSpPr>
        <p:spPr>
          <a:xfrm>
            <a:off x="8289171" y="1353311"/>
            <a:ext cx="2667630" cy="457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How the project was </a:t>
            </a:r>
            <a:r>
              <a:rPr b="1" lang="en-US" sz="1800">
                <a:solidFill>
                  <a:srgbClr val="123B6D"/>
                </a:solidFill>
                <a:latin typeface="Play"/>
                <a:ea typeface="Play"/>
                <a:cs typeface="Play"/>
                <a:sym typeface="Play"/>
              </a:rPr>
              <a:t>structured</a:t>
            </a:r>
            <a:endParaRPr b="0" i="0" sz="1800" u="none" cap="none" strike="noStrike">
              <a:solidFill>
                <a:schemeClr val="dk1"/>
              </a:solidFill>
              <a:latin typeface="Arial"/>
              <a:ea typeface="Arial"/>
              <a:cs typeface="Arial"/>
              <a:sym typeface="Arial"/>
            </a:endParaRPr>
          </a:p>
        </p:txBody>
      </p:sp>
      <p:cxnSp>
        <p:nvCxnSpPr>
          <p:cNvPr id="39" name="Google Shape;39;p2"/>
          <p:cNvCxnSpPr/>
          <p:nvPr/>
        </p:nvCxnSpPr>
        <p:spPr>
          <a:xfrm>
            <a:off x="8229600" y="2011680"/>
            <a:ext cx="2697480" cy="0"/>
          </a:xfrm>
          <a:prstGeom prst="straightConnector1">
            <a:avLst/>
          </a:prstGeom>
          <a:noFill/>
          <a:ln cap="flat" cmpd="sng" w="12700">
            <a:solidFill>
              <a:srgbClr val="D9E3EE"/>
            </a:solidFill>
            <a:prstDash val="solid"/>
            <a:round/>
            <a:headEnd len="sm" w="sm" type="none"/>
            <a:tailEnd len="sm" w="sm" type="none"/>
          </a:ln>
        </p:spPr>
      </p:cxnSp>
      <p:sp>
        <p:nvSpPr>
          <p:cNvPr id="40" name="Google Shape;40;p2"/>
          <p:cNvSpPr/>
          <p:nvPr/>
        </p:nvSpPr>
        <p:spPr>
          <a:xfrm>
            <a:off x="7991856" y="2258568"/>
            <a:ext cx="201168" cy="201168"/>
          </a:xfrm>
          <a:prstGeom prst="ellipse">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 name="Google Shape;41;p2"/>
          <p:cNvSpPr/>
          <p:nvPr/>
        </p:nvSpPr>
        <p:spPr>
          <a:xfrm>
            <a:off x="8302752" y="2212848"/>
            <a:ext cx="25603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1" i="0" lang="en-US" sz="1600" u="none" cap="none" strike="noStrike">
                <a:solidFill>
                  <a:srgbClr val="243447"/>
                </a:solidFill>
                <a:latin typeface="Arial"/>
                <a:ea typeface="Arial"/>
                <a:cs typeface="Arial"/>
                <a:sym typeface="Arial"/>
              </a:rPr>
              <a:t>Business framing</a:t>
            </a:r>
            <a:endParaRPr b="0" i="0" sz="1600" u="none" cap="none" strike="noStrike">
              <a:solidFill>
                <a:schemeClr val="dk1"/>
              </a:solidFill>
              <a:latin typeface="Arial"/>
              <a:ea typeface="Arial"/>
              <a:cs typeface="Arial"/>
              <a:sym typeface="Arial"/>
            </a:endParaRPr>
          </a:p>
        </p:txBody>
      </p:sp>
      <p:sp>
        <p:nvSpPr>
          <p:cNvPr id="42" name="Google Shape;42;p2"/>
          <p:cNvSpPr/>
          <p:nvPr/>
        </p:nvSpPr>
        <p:spPr>
          <a:xfrm>
            <a:off x="8302752" y="2450592"/>
            <a:ext cx="28803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200"/>
              <a:buFont typeface="Arial"/>
              <a:buNone/>
            </a:pPr>
            <a:r>
              <a:rPr b="0" i="0" lang="en-US" sz="1200" u="none" cap="none" strike="noStrike">
                <a:solidFill>
                  <a:srgbClr val="5B6776"/>
                </a:solidFill>
                <a:latin typeface="Arial"/>
                <a:ea typeface="Arial"/>
                <a:cs typeface="Arial"/>
                <a:sym typeface="Arial"/>
              </a:rPr>
              <a:t>Defined the risk problem, business case, value realization and executive questions.</a:t>
            </a:r>
            <a:endParaRPr b="0" i="0" sz="1200" u="none" cap="none" strike="noStrike">
              <a:solidFill>
                <a:schemeClr val="dk1"/>
              </a:solidFill>
              <a:latin typeface="Arial"/>
              <a:ea typeface="Arial"/>
              <a:cs typeface="Arial"/>
              <a:sym typeface="Arial"/>
            </a:endParaRPr>
          </a:p>
        </p:txBody>
      </p:sp>
      <p:sp>
        <p:nvSpPr>
          <p:cNvPr id="43" name="Google Shape;43;p2"/>
          <p:cNvSpPr/>
          <p:nvPr/>
        </p:nvSpPr>
        <p:spPr>
          <a:xfrm>
            <a:off x="7991856" y="3246120"/>
            <a:ext cx="201168" cy="201168"/>
          </a:xfrm>
          <a:prstGeom prst="ellipse">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 name="Google Shape;44;p2"/>
          <p:cNvSpPr/>
          <p:nvPr/>
        </p:nvSpPr>
        <p:spPr>
          <a:xfrm>
            <a:off x="8302752" y="3200400"/>
            <a:ext cx="25603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1" i="0" lang="en-US" sz="1600" u="none" cap="none" strike="noStrike">
                <a:solidFill>
                  <a:srgbClr val="243447"/>
                </a:solidFill>
                <a:latin typeface="Arial"/>
                <a:ea typeface="Arial"/>
                <a:cs typeface="Arial"/>
                <a:sym typeface="Arial"/>
              </a:rPr>
              <a:t>Hypotheses &amp; research</a:t>
            </a:r>
            <a:endParaRPr b="0" i="0" sz="1600" u="none" cap="none" strike="noStrike">
              <a:solidFill>
                <a:schemeClr val="dk1"/>
              </a:solidFill>
              <a:latin typeface="Arial"/>
              <a:ea typeface="Arial"/>
              <a:cs typeface="Arial"/>
              <a:sym typeface="Arial"/>
            </a:endParaRPr>
          </a:p>
        </p:txBody>
      </p:sp>
      <p:sp>
        <p:nvSpPr>
          <p:cNvPr id="45" name="Google Shape;45;p2"/>
          <p:cNvSpPr/>
          <p:nvPr/>
        </p:nvSpPr>
        <p:spPr>
          <a:xfrm>
            <a:off x="8302752" y="3524207"/>
            <a:ext cx="28803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200"/>
              <a:buFont typeface="Arial"/>
              <a:buNone/>
            </a:pPr>
            <a:r>
              <a:rPr b="0" i="0" lang="en-US" sz="1200" u="none" cap="none" strike="noStrike">
                <a:solidFill>
                  <a:srgbClr val="5B6776"/>
                </a:solidFill>
                <a:latin typeface="Arial"/>
                <a:ea typeface="Arial"/>
                <a:cs typeface="Arial"/>
                <a:sym typeface="Arial"/>
              </a:rPr>
              <a:t>Translated stakeholder needs into testable hypotheses and grounded the work in external research.</a:t>
            </a:r>
            <a:endParaRPr b="0" i="0" sz="1200" u="none" cap="none" strike="noStrike">
              <a:solidFill>
                <a:schemeClr val="dk1"/>
              </a:solidFill>
              <a:latin typeface="Arial"/>
              <a:ea typeface="Arial"/>
              <a:cs typeface="Arial"/>
              <a:sym typeface="Arial"/>
            </a:endParaRPr>
          </a:p>
        </p:txBody>
      </p:sp>
      <p:sp>
        <p:nvSpPr>
          <p:cNvPr id="46" name="Google Shape;46;p2"/>
          <p:cNvSpPr/>
          <p:nvPr/>
        </p:nvSpPr>
        <p:spPr>
          <a:xfrm>
            <a:off x="7991856" y="4233672"/>
            <a:ext cx="201168" cy="201168"/>
          </a:xfrm>
          <a:prstGeom prst="ellipse">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 name="Google Shape;47;p2"/>
          <p:cNvSpPr/>
          <p:nvPr/>
        </p:nvSpPr>
        <p:spPr>
          <a:xfrm>
            <a:off x="8302752" y="4187952"/>
            <a:ext cx="25603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1" i="0" lang="en-US" sz="1600" u="none" cap="none" strike="noStrike">
                <a:solidFill>
                  <a:srgbClr val="243447"/>
                </a:solidFill>
                <a:latin typeface="Arial"/>
                <a:ea typeface="Arial"/>
                <a:cs typeface="Arial"/>
                <a:sym typeface="Arial"/>
              </a:rPr>
              <a:t>Data analysis &amp; insights</a:t>
            </a:r>
            <a:endParaRPr b="0" i="0" sz="1600" u="none" cap="none" strike="noStrike">
              <a:solidFill>
                <a:schemeClr val="dk1"/>
              </a:solidFill>
              <a:latin typeface="Arial"/>
              <a:ea typeface="Arial"/>
              <a:cs typeface="Arial"/>
              <a:sym typeface="Arial"/>
            </a:endParaRPr>
          </a:p>
        </p:txBody>
      </p:sp>
      <p:sp>
        <p:nvSpPr>
          <p:cNvPr id="48" name="Google Shape;48;p2"/>
          <p:cNvSpPr/>
          <p:nvPr/>
        </p:nvSpPr>
        <p:spPr>
          <a:xfrm>
            <a:off x="8302752" y="4511759"/>
            <a:ext cx="28803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200"/>
              <a:buFont typeface="Arial"/>
              <a:buNone/>
            </a:pPr>
            <a:r>
              <a:rPr b="0" i="0" lang="en-US" sz="1200" u="none" cap="none" strike="noStrike">
                <a:solidFill>
                  <a:srgbClr val="5B6776"/>
                </a:solidFill>
                <a:latin typeface="Arial"/>
                <a:ea typeface="Arial"/>
                <a:cs typeface="Arial"/>
                <a:sym typeface="Arial"/>
              </a:rPr>
              <a:t>Prepared the dataset, tested key drivers, and converted findings into executive-ready insights.</a:t>
            </a:r>
            <a:endParaRPr b="0" i="0" sz="1200" u="none" cap="none" strike="noStrike">
              <a:solidFill>
                <a:schemeClr val="dk1"/>
              </a:solidFill>
              <a:latin typeface="Arial"/>
              <a:ea typeface="Arial"/>
              <a:cs typeface="Arial"/>
              <a:sym typeface="Arial"/>
            </a:endParaRPr>
          </a:p>
        </p:txBody>
      </p:sp>
      <p:sp>
        <p:nvSpPr>
          <p:cNvPr id="49" name="Google Shape;49;p2"/>
          <p:cNvSpPr/>
          <p:nvPr/>
        </p:nvSpPr>
        <p:spPr>
          <a:xfrm>
            <a:off x="658368" y="3246120"/>
            <a:ext cx="6263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200"/>
              <a:buFont typeface="Play"/>
              <a:buNone/>
            </a:pPr>
            <a:r>
              <a:rPr b="1" i="0" lang="en-US" sz="2200" u="none" cap="none" strike="noStrike">
                <a:solidFill>
                  <a:srgbClr val="123B6D"/>
                </a:solidFill>
                <a:latin typeface="Play"/>
                <a:ea typeface="Play"/>
                <a:cs typeface="Play"/>
                <a:sym typeface="Play"/>
              </a:rPr>
              <a:t>Project theme: turn prior coursework into a decision-ready retention story for leadership.</a:t>
            </a:r>
            <a:endParaRPr b="0" i="0" sz="2200" u="none" cap="none" strike="noStrike">
              <a:solidFill>
                <a:schemeClr val="dk1"/>
              </a:solidFill>
              <a:latin typeface="Arial"/>
              <a:ea typeface="Arial"/>
              <a:cs typeface="Arial"/>
              <a:sym typeface="Arial"/>
            </a:endParaRPr>
          </a:p>
        </p:txBody>
      </p:sp>
      <p:sp>
        <p:nvSpPr>
          <p:cNvPr id="50" name="Google Shape;50;p2"/>
          <p:cNvSpPr/>
          <p:nvPr/>
        </p:nvSpPr>
        <p:spPr>
          <a:xfrm>
            <a:off x="658368" y="3910406"/>
            <a:ext cx="6309360" cy="1783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800"/>
              <a:buFont typeface="Arial"/>
              <a:buNone/>
            </a:pPr>
            <a:r>
              <a:rPr b="0" i="0" lang="en-US" sz="1800" u="none" cap="none" strike="noStrike">
                <a:solidFill>
                  <a:srgbClr val="243447"/>
                </a:solidFill>
                <a:latin typeface="Arial"/>
                <a:ea typeface="Arial"/>
                <a:cs typeface="Arial"/>
                <a:sym typeface="Arial"/>
              </a:rPr>
              <a:t>• Focused the analysis on senior and leadership roles where exits carry disproportionate business risk.</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800"/>
              <a:buFont typeface="Arial"/>
              <a:buNone/>
            </a:pPr>
            <a:r>
              <a:rPr b="0" i="0" lang="en-US" sz="1800" u="none" cap="none" strike="noStrike">
                <a:solidFill>
                  <a:srgbClr val="243447"/>
                </a:solidFill>
                <a:latin typeface="Arial"/>
                <a:ea typeface="Arial"/>
                <a:cs typeface="Arial"/>
                <a:sym typeface="Arial"/>
              </a:rPr>
              <a:t>• Combined stakeholder input, hypothesis prioritization, quantitative analysis and insight generation.</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800"/>
              <a:buFont typeface="Arial"/>
              <a:buNone/>
            </a:pPr>
            <a:r>
              <a:rPr b="0" i="0" lang="en-US" sz="1800" u="none" cap="none" strike="noStrike">
                <a:solidFill>
                  <a:srgbClr val="243447"/>
                </a:solidFill>
                <a:latin typeface="Arial"/>
                <a:ea typeface="Arial"/>
                <a:cs typeface="Arial"/>
                <a:sym typeface="Arial"/>
              </a:rPr>
              <a:t>• Designed the final output for executive decision-making rather than descriptive reporting alone.</a:t>
            </a:r>
            <a:endParaRPr b="0" i="0" sz="1800" u="none" cap="none" strike="noStrike">
              <a:solidFill>
                <a:schemeClr val="dk1"/>
              </a:solidFill>
              <a:latin typeface="Arial"/>
              <a:ea typeface="Arial"/>
              <a:cs typeface="Arial"/>
              <a:sym typeface="Arial"/>
            </a:endParaRPr>
          </a:p>
        </p:txBody>
      </p:sp>
      <p:sp>
        <p:nvSpPr>
          <p:cNvPr id="51" name="Google Shape;51;p2"/>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52" name="Google Shape;52;p2"/>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3"/>
          <p:cNvSpPr/>
          <p:nvPr/>
        </p:nvSpPr>
        <p:spPr>
          <a:xfrm>
            <a:off x="0" y="155448"/>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 name="Google Shape;59;p3"/>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 name="Google Shape;60;p3"/>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Executive Summary</a:t>
            </a:r>
            <a:endParaRPr b="0" i="0" sz="2600" u="none" cap="none" strike="noStrike">
              <a:solidFill>
                <a:schemeClr val="dk1"/>
              </a:solidFill>
              <a:latin typeface="Arial"/>
              <a:ea typeface="Arial"/>
              <a:cs typeface="Arial"/>
              <a:sym typeface="Arial"/>
            </a:endParaRPr>
          </a:p>
        </p:txBody>
      </p:sp>
      <p:sp>
        <p:nvSpPr>
          <p:cNvPr id="61" name="Google Shape;61;p3"/>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SUMMARY</a:t>
            </a:r>
            <a:endParaRPr b="0" i="0" sz="800" u="none" cap="none" strike="noStrike">
              <a:solidFill>
                <a:schemeClr val="dk1"/>
              </a:solidFill>
              <a:latin typeface="Arial"/>
              <a:ea typeface="Arial"/>
              <a:cs typeface="Arial"/>
              <a:sym typeface="Arial"/>
            </a:endParaRPr>
          </a:p>
        </p:txBody>
      </p:sp>
      <p:cxnSp>
        <p:nvCxnSpPr>
          <p:cNvPr id="62" name="Google Shape;62;p3"/>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63" name="Google Shape;63;p3"/>
          <p:cNvSpPr/>
          <p:nvPr/>
        </p:nvSpPr>
        <p:spPr>
          <a:xfrm>
            <a:off x="658368" y="1005840"/>
            <a:ext cx="5257800" cy="5166360"/>
          </a:xfrm>
          <a:prstGeom prst="roundRect">
            <a:avLst>
              <a:gd fmla="val 2124"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 name="Google Shape;64;p3"/>
          <p:cNvSpPr/>
          <p:nvPr/>
        </p:nvSpPr>
        <p:spPr>
          <a:xfrm>
            <a:off x="914400" y="1554480"/>
            <a:ext cx="4663440" cy="960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400"/>
              <a:buFont typeface="Play"/>
              <a:buNone/>
            </a:pPr>
            <a:r>
              <a:rPr b="1" i="0" lang="en-US" sz="2400" u="none" cap="none" strike="noStrike">
                <a:solidFill>
                  <a:srgbClr val="123B6D"/>
                </a:solidFill>
                <a:latin typeface="Play"/>
                <a:ea typeface="Play"/>
                <a:cs typeface="Play"/>
                <a:sym typeface="Play"/>
              </a:rPr>
              <a:t>Leadership attrition risk is concentrated in specific tenure and department segments — not broadly across every leadership driver available in the dataset.</a:t>
            </a:r>
            <a:endParaRPr b="0" i="0" sz="2400" u="none" cap="none" strike="noStrike">
              <a:solidFill>
                <a:schemeClr val="dk1"/>
              </a:solidFill>
              <a:latin typeface="Arial"/>
              <a:ea typeface="Arial"/>
              <a:cs typeface="Arial"/>
              <a:sym typeface="Arial"/>
            </a:endParaRPr>
          </a:p>
        </p:txBody>
      </p:sp>
      <p:sp>
        <p:nvSpPr>
          <p:cNvPr id="65" name="Google Shape;65;p3"/>
          <p:cNvSpPr/>
          <p:nvPr/>
        </p:nvSpPr>
        <p:spPr>
          <a:xfrm>
            <a:off x="914400" y="3165976"/>
            <a:ext cx="4572000" cy="2423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445"/>
              <a:buFont typeface="Arial"/>
              <a:buNone/>
            </a:pPr>
            <a:r>
              <a:rPr b="0" i="0" lang="en-US" sz="1445" u="none" cap="none" strike="noStrike">
                <a:solidFill>
                  <a:srgbClr val="243447"/>
                </a:solidFill>
                <a:latin typeface="Arial"/>
                <a:ea typeface="Arial"/>
                <a:cs typeface="Arial"/>
                <a:sym typeface="Arial"/>
              </a:rPr>
              <a:t>• Early-tenure leaders show the highest attrition rate, while mid-tenure leaders account for the largest recent-exit volume.</a:t>
            </a:r>
            <a:endParaRPr b="0" i="0" sz="144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45"/>
              <a:buFont typeface="Arial"/>
              <a:buNone/>
            </a:pPr>
            <a:r>
              <a:rPr b="0" i="0" lang="en-US" sz="1445" u="none" cap="none" strike="noStrike">
                <a:solidFill>
                  <a:srgbClr val="243447"/>
                </a:solidFill>
                <a:latin typeface="Arial"/>
                <a:ea typeface="Arial"/>
                <a:cs typeface="Arial"/>
                <a:sym typeface="Arial"/>
              </a:rPr>
              <a:t>• Research &amp; Development is the clearest structural hotspot; Sales shows signs of newer, emerging risk.</a:t>
            </a:r>
            <a:endParaRPr b="0" i="0" sz="144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45"/>
              <a:buFont typeface="Arial"/>
              <a:buNone/>
            </a:pPr>
            <a:r>
              <a:rPr b="0" i="0" lang="en-US" sz="1445" u="none" cap="none" strike="noStrike">
                <a:solidFill>
                  <a:srgbClr val="243447"/>
                </a:solidFill>
                <a:latin typeface="Arial"/>
                <a:ea typeface="Arial"/>
                <a:cs typeface="Arial"/>
                <a:sym typeface="Arial"/>
              </a:rPr>
              <a:t>• Years in role, work-life balance, salary increases, performance ratings and standard engagement measures did not materially separate leavers from non-leavers.</a:t>
            </a:r>
            <a:endParaRPr b="0" i="0" sz="144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45"/>
              <a:buFont typeface="Arial"/>
              <a:buNone/>
            </a:pPr>
            <a:r>
              <a:rPr b="0" i="0" lang="en-US" sz="1445" u="none" cap="none" strike="noStrike">
                <a:solidFill>
                  <a:srgbClr val="243447"/>
                </a:solidFill>
                <a:latin typeface="Arial"/>
                <a:ea typeface="Arial"/>
                <a:cs typeface="Arial"/>
                <a:sym typeface="Arial"/>
              </a:rPr>
              <a:t>• The strongest action path is targeted retention in high-risk segments plus deeper data collection on mobility, promotion and exit reasons.</a:t>
            </a:r>
            <a:endParaRPr b="0" i="0" sz="1445" u="none" cap="none" strike="noStrike">
              <a:solidFill>
                <a:schemeClr val="dk1"/>
              </a:solidFill>
              <a:latin typeface="Arial"/>
              <a:ea typeface="Arial"/>
              <a:cs typeface="Arial"/>
              <a:sym typeface="Arial"/>
            </a:endParaRPr>
          </a:p>
        </p:txBody>
      </p:sp>
      <p:sp>
        <p:nvSpPr>
          <p:cNvPr id="66" name="Google Shape;66;p3"/>
          <p:cNvSpPr/>
          <p:nvPr/>
        </p:nvSpPr>
        <p:spPr>
          <a:xfrm>
            <a:off x="6172200" y="1005840"/>
            <a:ext cx="5349240" cy="2148840"/>
          </a:xfrm>
          <a:prstGeom prst="roundRect">
            <a:avLst>
              <a:gd fmla="val 5106"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 name="Google Shape;67;p3"/>
          <p:cNvSpPr/>
          <p:nvPr/>
        </p:nvSpPr>
        <p:spPr>
          <a:xfrm>
            <a:off x="6446520" y="1298448"/>
            <a:ext cx="23774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What leaders should do next</a:t>
            </a:r>
            <a:endParaRPr b="0" i="0" sz="1300" u="none" cap="none" strike="noStrike">
              <a:solidFill>
                <a:schemeClr val="dk1"/>
              </a:solidFill>
              <a:latin typeface="Arial"/>
              <a:ea typeface="Arial"/>
              <a:cs typeface="Arial"/>
              <a:sym typeface="Arial"/>
            </a:endParaRPr>
          </a:p>
        </p:txBody>
      </p:sp>
      <p:sp>
        <p:nvSpPr>
          <p:cNvPr id="68" name="Google Shape;68;p3"/>
          <p:cNvSpPr/>
          <p:nvPr/>
        </p:nvSpPr>
        <p:spPr>
          <a:xfrm>
            <a:off x="6446520" y="1584600"/>
            <a:ext cx="49377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200"/>
              <a:buFont typeface="Play"/>
              <a:buNone/>
            </a:pPr>
            <a:r>
              <a:rPr b="1" i="0" lang="en-US" sz="2200" u="none" cap="none" strike="noStrike">
                <a:solidFill>
                  <a:srgbClr val="123B6D"/>
                </a:solidFill>
                <a:latin typeface="Play"/>
                <a:ea typeface="Play"/>
                <a:cs typeface="Play"/>
                <a:sym typeface="Play"/>
              </a:rPr>
              <a:t>Target actions where risk is concentrated</a:t>
            </a:r>
            <a:endParaRPr b="0" i="0" sz="2200" u="none" cap="none" strike="noStrike">
              <a:solidFill>
                <a:schemeClr val="dk1"/>
              </a:solidFill>
              <a:latin typeface="Arial"/>
              <a:ea typeface="Arial"/>
              <a:cs typeface="Arial"/>
              <a:sym typeface="Arial"/>
            </a:endParaRPr>
          </a:p>
        </p:txBody>
      </p:sp>
      <p:sp>
        <p:nvSpPr>
          <p:cNvPr id="69" name="Google Shape;69;p3"/>
          <p:cNvSpPr/>
          <p:nvPr/>
        </p:nvSpPr>
        <p:spPr>
          <a:xfrm>
            <a:off x="6446520" y="2029968"/>
            <a:ext cx="4572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050"/>
              <a:buFont typeface="Arial"/>
              <a:buNone/>
            </a:pPr>
            <a:r>
              <a:rPr b="0" i="0" lang="en-US" sz="1050" u="none" cap="none" strike="noStrike">
                <a:solidFill>
                  <a:srgbClr val="243447"/>
                </a:solidFill>
                <a:latin typeface="Arial"/>
                <a:ea typeface="Arial"/>
                <a:cs typeface="Arial"/>
                <a:sym typeface="Arial"/>
              </a:rPr>
              <a:t>• Prioritize R&amp;D retention diagnostics and manager-level review.</a:t>
            </a:r>
            <a:endParaRPr b="0" i="0" sz="105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050"/>
              <a:buFont typeface="Arial"/>
              <a:buNone/>
            </a:pPr>
            <a:r>
              <a:rPr b="0" i="0" lang="en-US" sz="1050" u="none" cap="none" strike="noStrike">
                <a:solidFill>
                  <a:srgbClr val="243447"/>
                </a:solidFill>
                <a:latin typeface="Arial"/>
                <a:ea typeface="Arial"/>
                <a:cs typeface="Arial"/>
                <a:sym typeface="Arial"/>
              </a:rPr>
              <a:t>• Strengthen early-leader integration and mid-tenure mobility conversations.</a:t>
            </a:r>
            <a:endParaRPr b="0" i="0" sz="105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050"/>
              <a:buFont typeface="Arial"/>
              <a:buNone/>
            </a:pPr>
            <a:r>
              <a:rPr b="0" i="0" lang="en-US" sz="1050" u="none" cap="none" strike="noStrike">
                <a:solidFill>
                  <a:srgbClr val="243447"/>
                </a:solidFill>
                <a:latin typeface="Arial"/>
                <a:ea typeface="Arial"/>
                <a:cs typeface="Arial"/>
                <a:sym typeface="Arial"/>
              </a:rPr>
              <a:t>• Avoid broad, untargeted fixes such as blanket travel or merit-budget changes.</a:t>
            </a:r>
            <a:endParaRPr b="0" i="0" sz="1050" u="none" cap="none" strike="noStrike">
              <a:solidFill>
                <a:schemeClr val="dk1"/>
              </a:solidFill>
              <a:latin typeface="Arial"/>
              <a:ea typeface="Arial"/>
              <a:cs typeface="Arial"/>
              <a:sym typeface="Arial"/>
            </a:endParaRPr>
          </a:p>
        </p:txBody>
      </p:sp>
      <p:sp>
        <p:nvSpPr>
          <p:cNvPr id="70" name="Google Shape;70;p3"/>
          <p:cNvSpPr/>
          <p:nvPr/>
        </p:nvSpPr>
        <p:spPr>
          <a:xfrm>
            <a:off x="6172200" y="3401568"/>
            <a:ext cx="5349240" cy="2770632"/>
          </a:xfrm>
          <a:prstGeom prst="roundRect">
            <a:avLst>
              <a:gd fmla="val 3960"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 name="Google Shape;71;p3"/>
          <p:cNvSpPr/>
          <p:nvPr/>
        </p:nvSpPr>
        <p:spPr>
          <a:xfrm>
            <a:off x="6446520" y="3675888"/>
            <a:ext cx="2011680"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Evidence at a glance</a:t>
            </a:r>
            <a:endParaRPr b="0" i="0" sz="1300" u="none" cap="none" strike="noStrike">
              <a:solidFill>
                <a:schemeClr val="dk1"/>
              </a:solidFill>
              <a:latin typeface="Arial"/>
              <a:ea typeface="Arial"/>
              <a:cs typeface="Arial"/>
              <a:sym typeface="Arial"/>
            </a:endParaRPr>
          </a:p>
        </p:txBody>
      </p:sp>
      <p:sp>
        <p:nvSpPr>
          <p:cNvPr id="72" name="Google Shape;72;p3"/>
          <p:cNvSpPr/>
          <p:nvPr/>
        </p:nvSpPr>
        <p:spPr>
          <a:xfrm>
            <a:off x="6446520" y="4069080"/>
            <a:ext cx="13716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800"/>
              <a:buFont typeface="Play"/>
              <a:buNone/>
            </a:pPr>
            <a:r>
              <a:rPr b="1" i="0" lang="en-US" sz="2800" u="none" cap="none" strike="noStrike">
                <a:solidFill>
                  <a:srgbClr val="123B6D"/>
                </a:solidFill>
                <a:latin typeface="Play"/>
                <a:ea typeface="Play"/>
                <a:cs typeface="Play"/>
                <a:sym typeface="Play"/>
              </a:rPr>
              <a:t>74</a:t>
            </a:r>
            <a:endParaRPr b="0" i="0" sz="2800" u="none" cap="none" strike="noStrike">
              <a:solidFill>
                <a:schemeClr val="dk1"/>
              </a:solidFill>
              <a:latin typeface="Arial"/>
              <a:ea typeface="Arial"/>
              <a:cs typeface="Arial"/>
              <a:sym typeface="Arial"/>
            </a:endParaRPr>
          </a:p>
        </p:txBody>
      </p:sp>
      <p:sp>
        <p:nvSpPr>
          <p:cNvPr id="73" name="Google Shape;73;p3"/>
          <p:cNvSpPr/>
          <p:nvPr/>
        </p:nvSpPr>
        <p:spPr>
          <a:xfrm>
            <a:off x="6446520" y="4480560"/>
            <a:ext cx="1481328"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200"/>
              <a:buFont typeface="Arial"/>
              <a:buNone/>
            </a:pPr>
            <a:r>
              <a:rPr b="0" i="0" lang="en-US" sz="1200" u="none" cap="none" strike="noStrike">
                <a:solidFill>
                  <a:srgbClr val="5B6776"/>
                </a:solidFill>
                <a:latin typeface="Arial"/>
                <a:ea typeface="Arial"/>
                <a:cs typeface="Arial"/>
                <a:sym typeface="Arial"/>
              </a:rPr>
              <a:t>recent exits in the mid-tenure group</a:t>
            </a:r>
            <a:endParaRPr b="0" i="0" sz="1200" u="none" cap="none" strike="noStrike">
              <a:solidFill>
                <a:schemeClr val="dk1"/>
              </a:solidFill>
              <a:latin typeface="Arial"/>
              <a:ea typeface="Arial"/>
              <a:cs typeface="Arial"/>
              <a:sym typeface="Arial"/>
            </a:endParaRPr>
          </a:p>
        </p:txBody>
      </p:sp>
      <p:sp>
        <p:nvSpPr>
          <p:cNvPr id="74" name="Google Shape;74;p3"/>
          <p:cNvSpPr/>
          <p:nvPr/>
        </p:nvSpPr>
        <p:spPr>
          <a:xfrm>
            <a:off x="8110728" y="4069080"/>
            <a:ext cx="13716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994A"/>
              </a:buClr>
              <a:buSzPts val="2800"/>
              <a:buFont typeface="Play"/>
              <a:buNone/>
            </a:pPr>
            <a:r>
              <a:rPr b="1" i="0" lang="en-US" sz="2800" u="none" cap="none" strike="noStrike">
                <a:solidFill>
                  <a:srgbClr val="F2994A"/>
                </a:solidFill>
                <a:latin typeface="Play"/>
                <a:ea typeface="Play"/>
                <a:cs typeface="Play"/>
                <a:sym typeface="Play"/>
              </a:rPr>
              <a:t>133</a:t>
            </a:r>
            <a:endParaRPr b="0" i="0" sz="2800" u="none" cap="none" strike="noStrike">
              <a:solidFill>
                <a:schemeClr val="dk1"/>
              </a:solidFill>
              <a:latin typeface="Arial"/>
              <a:ea typeface="Arial"/>
              <a:cs typeface="Arial"/>
              <a:sym typeface="Arial"/>
            </a:endParaRPr>
          </a:p>
        </p:txBody>
      </p:sp>
      <p:sp>
        <p:nvSpPr>
          <p:cNvPr id="75" name="Google Shape;75;p3"/>
          <p:cNvSpPr/>
          <p:nvPr/>
        </p:nvSpPr>
        <p:spPr>
          <a:xfrm>
            <a:off x="8110728" y="4480560"/>
            <a:ext cx="1481328"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200"/>
              <a:buFont typeface="Arial"/>
              <a:buNone/>
            </a:pPr>
            <a:r>
              <a:rPr b="0" i="0" lang="en-US" sz="1200" u="none" cap="none" strike="noStrike">
                <a:solidFill>
                  <a:srgbClr val="5B6776"/>
                </a:solidFill>
                <a:latin typeface="Arial"/>
                <a:ea typeface="Arial"/>
                <a:cs typeface="Arial"/>
                <a:sym typeface="Arial"/>
              </a:rPr>
              <a:t>recent exits in Research &amp; Development</a:t>
            </a:r>
            <a:endParaRPr b="0" i="0" sz="1200" u="none" cap="none" strike="noStrike">
              <a:solidFill>
                <a:schemeClr val="dk1"/>
              </a:solidFill>
              <a:latin typeface="Arial"/>
              <a:ea typeface="Arial"/>
              <a:cs typeface="Arial"/>
              <a:sym typeface="Arial"/>
            </a:endParaRPr>
          </a:p>
        </p:txBody>
      </p:sp>
      <p:sp>
        <p:nvSpPr>
          <p:cNvPr id="76" name="Google Shape;76;p3"/>
          <p:cNvSpPr/>
          <p:nvPr/>
        </p:nvSpPr>
        <p:spPr>
          <a:xfrm>
            <a:off x="9774936" y="4069080"/>
            <a:ext cx="13716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800"/>
              <a:buFont typeface="Play"/>
              <a:buNone/>
            </a:pPr>
            <a:r>
              <a:rPr b="1" i="0" lang="en-US" sz="2800" u="none" cap="none" strike="noStrike">
                <a:solidFill>
                  <a:srgbClr val="123B6D"/>
                </a:solidFill>
                <a:latin typeface="Play"/>
                <a:ea typeface="Play"/>
                <a:cs typeface="Play"/>
                <a:sym typeface="Play"/>
              </a:rPr>
              <a:t>~0</a:t>
            </a:r>
            <a:endParaRPr b="0" i="0" sz="2800" u="none" cap="none" strike="noStrike">
              <a:solidFill>
                <a:schemeClr val="dk1"/>
              </a:solidFill>
              <a:latin typeface="Arial"/>
              <a:ea typeface="Arial"/>
              <a:cs typeface="Arial"/>
              <a:sym typeface="Arial"/>
            </a:endParaRPr>
          </a:p>
        </p:txBody>
      </p:sp>
      <p:sp>
        <p:nvSpPr>
          <p:cNvPr id="77" name="Google Shape;77;p3"/>
          <p:cNvSpPr/>
          <p:nvPr/>
        </p:nvSpPr>
        <p:spPr>
          <a:xfrm>
            <a:off x="9774936" y="4480560"/>
            <a:ext cx="1481328"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200"/>
              <a:buFont typeface="Arial"/>
              <a:buNone/>
            </a:pPr>
            <a:r>
              <a:rPr b="0" i="0" lang="en-US" sz="1200" u="none" cap="none" strike="noStrike">
                <a:solidFill>
                  <a:srgbClr val="5B6776"/>
                </a:solidFill>
                <a:latin typeface="Arial"/>
                <a:ea typeface="Arial"/>
                <a:cs typeface="Arial"/>
                <a:sym typeface="Arial"/>
              </a:rPr>
              <a:t>engagement correlations with recent exits</a:t>
            </a:r>
            <a:endParaRPr b="0" i="0" sz="1200" u="none" cap="none" strike="noStrike">
              <a:solidFill>
                <a:schemeClr val="dk1"/>
              </a:solidFill>
              <a:latin typeface="Arial"/>
              <a:ea typeface="Arial"/>
              <a:cs typeface="Arial"/>
              <a:sym typeface="Arial"/>
            </a:endParaRPr>
          </a:p>
        </p:txBody>
      </p:sp>
      <p:cxnSp>
        <p:nvCxnSpPr>
          <p:cNvPr id="78" name="Google Shape;78;p3"/>
          <p:cNvCxnSpPr/>
          <p:nvPr/>
        </p:nvCxnSpPr>
        <p:spPr>
          <a:xfrm>
            <a:off x="8065008" y="3986784"/>
            <a:ext cx="0" cy="1234440"/>
          </a:xfrm>
          <a:prstGeom prst="straightConnector1">
            <a:avLst/>
          </a:prstGeom>
          <a:noFill/>
          <a:ln cap="flat" cmpd="sng" w="12700">
            <a:solidFill>
              <a:srgbClr val="D9E3EE"/>
            </a:solidFill>
            <a:prstDash val="solid"/>
            <a:round/>
            <a:headEnd len="sm" w="sm" type="none"/>
            <a:tailEnd len="sm" w="sm" type="none"/>
          </a:ln>
        </p:spPr>
      </p:cxnSp>
      <p:cxnSp>
        <p:nvCxnSpPr>
          <p:cNvPr id="79" name="Google Shape;79;p3"/>
          <p:cNvCxnSpPr/>
          <p:nvPr/>
        </p:nvCxnSpPr>
        <p:spPr>
          <a:xfrm>
            <a:off x="9729216" y="3986784"/>
            <a:ext cx="0" cy="1234440"/>
          </a:xfrm>
          <a:prstGeom prst="straightConnector1">
            <a:avLst/>
          </a:prstGeom>
          <a:noFill/>
          <a:ln cap="flat" cmpd="sng" w="12700">
            <a:solidFill>
              <a:srgbClr val="D9E3EE"/>
            </a:solidFill>
            <a:prstDash val="solid"/>
            <a:round/>
            <a:headEnd len="sm" w="sm" type="none"/>
            <a:tailEnd len="sm" w="sm" type="none"/>
          </a:ln>
        </p:spPr>
      </p:cxnSp>
      <p:sp>
        <p:nvSpPr>
          <p:cNvPr id="80" name="Google Shape;80;p3"/>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81" name="Google Shape;81;p3"/>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p:nvPr/>
        </p:nvSpPr>
        <p:spPr>
          <a:xfrm>
            <a:off x="0" y="117504"/>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 name="Google Shape;88;p4"/>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 name="Google Shape;89;p4"/>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Table of Contents</a:t>
            </a:r>
            <a:endParaRPr b="0" i="0" sz="2600" u="none" cap="none" strike="noStrike">
              <a:solidFill>
                <a:schemeClr val="dk1"/>
              </a:solidFill>
              <a:latin typeface="Arial"/>
              <a:ea typeface="Arial"/>
              <a:cs typeface="Arial"/>
              <a:sym typeface="Arial"/>
            </a:endParaRPr>
          </a:p>
        </p:txBody>
      </p:sp>
      <p:sp>
        <p:nvSpPr>
          <p:cNvPr id="90" name="Google Shape;90;p4"/>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ROADMAP</a:t>
            </a:r>
            <a:endParaRPr b="0" i="0" sz="800" u="none" cap="none" strike="noStrike">
              <a:solidFill>
                <a:schemeClr val="dk1"/>
              </a:solidFill>
              <a:latin typeface="Arial"/>
              <a:ea typeface="Arial"/>
              <a:cs typeface="Arial"/>
              <a:sym typeface="Arial"/>
            </a:endParaRPr>
          </a:p>
        </p:txBody>
      </p:sp>
      <p:cxnSp>
        <p:nvCxnSpPr>
          <p:cNvPr id="91" name="Google Shape;91;p4"/>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92" name="Google Shape;92;p4"/>
          <p:cNvSpPr/>
          <p:nvPr/>
        </p:nvSpPr>
        <p:spPr>
          <a:xfrm>
            <a:off x="658368" y="1174738"/>
            <a:ext cx="585216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rPr b="0" i="0" lang="en-US" sz="1800" u="none" cap="none" strike="noStrike">
                <a:solidFill>
                  <a:srgbClr val="5B6776"/>
                </a:solidFill>
                <a:latin typeface="Arial"/>
                <a:ea typeface="Arial"/>
                <a:cs typeface="Arial"/>
                <a:sym typeface="Arial"/>
              </a:rPr>
              <a:t>This presentation moves from business framing to evidence, then to targeted retention actions.</a:t>
            </a:r>
            <a:endParaRPr b="0" i="0" sz="1800" u="none" cap="none" strike="noStrike">
              <a:solidFill>
                <a:schemeClr val="dk1"/>
              </a:solidFill>
              <a:latin typeface="Arial"/>
              <a:ea typeface="Arial"/>
              <a:cs typeface="Arial"/>
              <a:sym typeface="Arial"/>
            </a:endParaRPr>
          </a:p>
        </p:txBody>
      </p:sp>
      <p:sp>
        <p:nvSpPr>
          <p:cNvPr id="93" name="Google Shape;93;p4"/>
          <p:cNvSpPr/>
          <p:nvPr/>
        </p:nvSpPr>
        <p:spPr>
          <a:xfrm>
            <a:off x="713232" y="1982098"/>
            <a:ext cx="502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2200"/>
              <a:buFont typeface="Play"/>
              <a:buNone/>
            </a:pPr>
            <a:r>
              <a:rPr b="1" i="0" lang="en-US" sz="2200" u="none" cap="none" strike="noStrike">
                <a:solidFill>
                  <a:srgbClr val="2F80ED"/>
                </a:solidFill>
                <a:latin typeface="Play"/>
                <a:ea typeface="Play"/>
                <a:cs typeface="Play"/>
                <a:sym typeface="Play"/>
              </a:rPr>
              <a:t>01</a:t>
            </a:r>
            <a:endParaRPr b="0" i="0" sz="2200" u="none" cap="none" strike="noStrike">
              <a:solidFill>
                <a:schemeClr val="dk1"/>
              </a:solidFill>
              <a:latin typeface="Arial"/>
              <a:ea typeface="Arial"/>
              <a:cs typeface="Arial"/>
              <a:sym typeface="Arial"/>
            </a:endParaRPr>
          </a:p>
        </p:txBody>
      </p:sp>
      <p:sp>
        <p:nvSpPr>
          <p:cNvPr id="94" name="Google Shape;94;p4"/>
          <p:cNvSpPr/>
          <p:nvPr/>
        </p:nvSpPr>
        <p:spPr>
          <a:xfrm>
            <a:off x="1298448" y="2000386"/>
            <a:ext cx="5394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900"/>
              <a:buFont typeface="Arial"/>
              <a:buNone/>
            </a:pPr>
            <a:r>
              <a:rPr b="0" i="0" lang="en-US" sz="1900" u="none" cap="none" strike="noStrike">
                <a:solidFill>
                  <a:srgbClr val="243447"/>
                </a:solidFill>
                <a:latin typeface="Arial"/>
                <a:ea typeface="Arial"/>
                <a:cs typeface="Arial"/>
                <a:sym typeface="Arial"/>
              </a:rPr>
              <a:t>1. Business context and project objectives</a:t>
            </a:r>
            <a:endParaRPr b="0" i="0" sz="1900" u="none" cap="none" strike="noStrike">
              <a:solidFill>
                <a:schemeClr val="dk1"/>
              </a:solidFill>
              <a:latin typeface="Arial"/>
              <a:ea typeface="Arial"/>
              <a:cs typeface="Arial"/>
              <a:sym typeface="Arial"/>
            </a:endParaRPr>
          </a:p>
        </p:txBody>
      </p:sp>
      <p:cxnSp>
        <p:nvCxnSpPr>
          <p:cNvPr id="95" name="Google Shape;95;p4"/>
          <p:cNvCxnSpPr/>
          <p:nvPr/>
        </p:nvCxnSpPr>
        <p:spPr>
          <a:xfrm>
            <a:off x="1298448" y="2347858"/>
            <a:ext cx="4846320" cy="0"/>
          </a:xfrm>
          <a:prstGeom prst="straightConnector1">
            <a:avLst/>
          </a:prstGeom>
          <a:noFill/>
          <a:ln cap="flat" cmpd="sng" w="12700">
            <a:solidFill>
              <a:srgbClr val="D9E3EE"/>
            </a:solidFill>
            <a:prstDash val="solid"/>
            <a:round/>
            <a:headEnd len="sm" w="sm" type="none"/>
            <a:tailEnd len="sm" w="sm" type="none"/>
          </a:ln>
        </p:spPr>
      </p:cxnSp>
      <p:sp>
        <p:nvSpPr>
          <p:cNvPr id="96" name="Google Shape;96;p4"/>
          <p:cNvSpPr/>
          <p:nvPr/>
        </p:nvSpPr>
        <p:spPr>
          <a:xfrm>
            <a:off x="713232" y="2731906"/>
            <a:ext cx="502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2200"/>
              <a:buFont typeface="Play"/>
              <a:buNone/>
            </a:pPr>
            <a:r>
              <a:rPr b="1" i="0" lang="en-US" sz="2200" u="none" cap="none" strike="noStrike">
                <a:solidFill>
                  <a:srgbClr val="2F80ED"/>
                </a:solidFill>
                <a:latin typeface="Play"/>
                <a:ea typeface="Play"/>
                <a:cs typeface="Play"/>
                <a:sym typeface="Play"/>
              </a:rPr>
              <a:t>02</a:t>
            </a:r>
            <a:endParaRPr b="0" i="0" sz="2200" u="none" cap="none" strike="noStrike">
              <a:solidFill>
                <a:schemeClr val="dk1"/>
              </a:solidFill>
              <a:latin typeface="Arial"/>
              <a:ea typeface="Arial"/>
              <a:cs typeface="Arial"/>
              <a:sym typeface="Arial"/>
            </a:endParaRPr>
          </a:p>
        </p:txBody>
      </p:sp>
      <p:sp>
        <p:nvSpPr>
          <p:cNvPr id="97" name="Google Shape;97;p4"/>
          <p:cNvSpPr/>
          <p:nvPr/>
        </p:nvSpPr>
        <p:spPr>
          <a:xfrm>
            <a:off x="1298448" y="2750194"/>
            <a:ext cx="5394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900"/>
              <a:buFont typeface="Arial"/>
              <a:buNone/>
            </a:pPr>
            <a:r>
              <a:rPr b="0" i="0" lang="en-US" sz="1900" u="none" cap="none" strike="noStrike">
                <a:solidFill>
                  <a:srgbClr val="243447"/>
                </a:solidFill>
                <a:latin typeface="Arial"/>
                <a:ea typeface="Arial"/>
                <a:cs typeface="Arial"/>
                <a:sym typeface="Arial"/>
              </a:rPr>
              <a:t>2. External research and analytical approach</a:t>
            </a:r>
            <a:endParaRPr b="0" i="0" sz="1900" u="none" cap="none" strike="noStrike">
              <a:solidFill>
                <a:schemeClr val="dk1"/>
              </a:solidFill>
              <a:latin typeface="Arial"/>
              <a:ea typeface="Arial"/>
              <a:cs typeface="Arial"/>
              <a:sym typeface="Arial"/>
            </a:endParaRPr>
          </a:p>
        </p:txBody>
      </p:sp>
      <p:cxnSp>
        <p:nvCxnSpPr>
          <p:cNvPr id="98" name="Google Shape;98;p4"/>
          <p:cNvCxnSpPr/>
          <p:nvPr/>
        </p:nvCxnSpPr>
        <p:spPr>
          <a:xfrm>
            <a:off x="1298448" y="3097666"/>
            <a:ext cx="4846320" cy="0"/>
          </a:xfrm>
          <a:prstGeom prst="straightConnector1">
            <a:avLst/>
          </a:prstGeom>
          <a:noFill/>
          <a:ln cap="flat" cmpd="sng" w="12700">
            <a:solidFill>
              <a:srgbClr val="D9E3EE"/>
            </a:solidFill>
            <a:prstDash val="solid"/>
            <a:round/>
            <a:headEnd len="sm" w="sm" type="none"/>
            <a:tailEnd len="sm" w="sm" type="none"/>
          </a:ln>
        </p:spPr>
      </p:cxnSp>
      <p:sp>
        <p:nvSpPr>
          <p:cNvPr id="99" name="Google Shape;99;p4"/>
          <p:cNvSpPr/>
          <p:nvPr/>
        </p:nvSpPr>
        <p:spPr>
          <a:xfrm>
            <a:off x="713232" y="3481714"/>
            <a:ext cx="502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200"/>
              <a:buFont typeface="Play"/>
              <a:buNone/>
            </a:pPr>
            <a:r>
              <a:rPr b="1" i="0" lang="en-US" sz="2200" u="none" cap="none" strike="noStrike">
                <a:solidFill>
                  <a:srgbClr val="123B6D"/>
                </a:solidFill>
                <a:latin typeface="Play"/>
                <a:ea typeface="Play"/>
                <a:cs typeface="Play"/>
                <a:sym typeface="Play"/>
              </a:rPr>
              <a:t>03</a:t>
            </a:r>
            <a:endParaRPr b="0" i="0" sz="2200" u="none" cap="none" strike="noStrike">
              <a:solidFill>
                <a:schemeClr val="dk1"/>
              </a:solidFill>
              <a:latin typeface="Arial"/>
              <a:ea typeface="Arial"/>
              <a:cs typeface="Arial"/>
              <a:sym typeface="Arial"/>
            </a:endParaRPr>
          </a:p>
        </p:txBody>
      </p:sp>
      <p:sp>
        <p:nvSpPr>
          <p:cNvPr id="100" name="Google Shape;100;p4"/>
          <p:cNvSpPr/>
          <p:nvPr/>
        </p:nvSpPr>
        <p:spPr>
          <a:xfrm>
            <a:off x="1298448" y="3500002"/>
            <a:ext cx="5394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900"/>
              <a:buFont typeface="Arial"/>
              <a:buNone/>
            </a:pPr>
            <a:r>
              <a:rPr b="0" i="0" lang="en-US" sz="1900" u="none" cap="none" strike="noStrike">
                <a:solidFill>
                  <a:srgbClr val="243447"/>
                </a:solidFill>
                <a:latin typeface="Arial"/>
                <a:ea typeface="Arial"/>
                <a:cs typeface="Arial"/>
                <a:sym typeface="Arial"/>
              </a:rPr>
              <a:t>3. Key findings from the leadership attrition analysis</a:t>
            </a:r>
            <a:endParaRPr b="0" i="0" sz="1900" u="none" cap="none" strike="noStrike">
              <a:solidFill>
                <a:schemeClr val="dk1"/>
              </a:solidFill>
              <a:latin typeface="Arial"/>
              <a:ea typeface="Arial"/>
              <a:cs typeface="Arial"/>
              <a:sym typeface="Arial"/>
            </a:endParaRPr>
          </a:p>
        </p:txBody>
      </p:sp>
      <p:cxnSp>
        <p:nvCxnSpPr>
          <p:cNvPr id="101" name="Google Shape;101;p4"/>
          <p:cNvCxnSpPr/>
          <p:nvPr/>
        </p:nvCxnSpPr>
        <p:spPr>
          <a:xfrm>
            <a:off x="1298448" y="3847474"/>
            <a:ext cx="4846320" cy="0"/>
          </a:xfrm>
          <a:prstGeom prst="straightConnector1">
            <a:avLst/>
          </a:prstGeom>
          <a:noFill/>
          <a:ln cap="flat" cmpd="sng" w="12700">
            <a:solidFill>
              <a:srgbClr val="D9E3EE"/>
            </a:solidFill>
            <a:prstDash val="solid"/>
            <a:round/>
            <a:headEnd len="sm" w="sm" type="none"/>
            <a:tailEnd len="sm" w="sm" type="none"/>
          </a:ln>
        </p:spPr>
      </p:cxnSp>
      <p:sp>
        <p:nvSpPr>
          <p:cNvPr id="102" name="Google Shape;102;p4"/>
          <p:cNvSpPr/>
          <p:nvPr/>
        </p:nvSpPr>
        <p:spPr>
          <a:xfrm>
            <a:off x="713232" y="4231522"/>
            <a:ext cx="502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200"/>
              <a:buFont typeface="Play"/>
              <a:buNone/>
            </a:pPr>
            <a:r>
              <a:rPr b="1" i="0" lang="en-US" sz="2200" u="none" cap="none" strike="noStrike">
                <a:solidFill>
                  <a:srgbClr val="123B6D"/>
                </a:solidFill>
                <a:latin typeface="Play"/>
                <a:ea typeface="Play"/>
                <a:cs typeface="Play"/>
                <a:sym typeface="Play"/>
              </a:rPr>
              <a:t>04</a:t>
            </a:r>
            <a:endParaRPr b="0" i="0" sz="2200" u="none" cap="none" strike="noStrike">
              <a:solidFill>
                <a:schemeClr val="dk1"/>
              </a:solidFill>
              <a:latin typeface="Arial"/>
              <a:ea typeface="Arial"/>
              <a:cs typeface="Arial"/>
              <a:sym typeface="Arial"/>
            </a:endParaRPr>
          </a:p>
        </p:txBody>
      </p:sp>
      <p:sp>
        <p:nvSpPr>
          <p:cNvPr id="103" name="Google Shape;103;p4"/>
          <p:cNvSpPr/>
          <p:nvPr/>
        </p:nvSpPr>
        <p:spPr>
          <a:xfrm>
            <a:off x="1298447" y="4249809"/>
            <a:ext cx="5629477" cy="30173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900"/>
              <a:buFont typeface="Arial"/>
              <a:buNone/>
            </a:pPr>
            <a:r>
              <a:rPr b="0" i="0" lang="en-US" sz="1900" u="none" cap="none" strike="noStrike">
                <a:solidFill>
                  <a:srgbClr val="243447"/>
                </a:solidFill>
                <a:latin typeface="Arial"/>
                <a:ea typeface="Arial"/>
                <a:cs typeface="Arial"/>
                <a:sym typeface="Arial"/>
              </a:rPr>
              <a:t>4. Deep dives on tenure, department and non-drivers</a:t>
            </a:r>
            <a:endParaRPr b="0" i="0" sz="1900" u="none" cap="none" strike="noStrike">
              <a:solidFill>
                <a:schemeClr val="dk1"/>
              </a:solidFill>
              <a:latin typeface="Arial"/>
              <a:ea typeface="Arial"/>
              <a:cs typeface="Arial"/>
              <a:sym typeface="Arial"/>
            </a:endParaRPr>
          </a:p>
        </p:txBody>
      </p:sp>
      <p:cxnSp>
        <p:nvCxnSpPr>
          <p:cNvPr id="104" name="Google Shape;104;p4"/>
          <p:cNvCxnSpPr/>
          <p:nvPr/>
        </p:nvCxnSpPr>
        <p:spPr>
          <a:xfrm>
            <a:off x="1298448" y="4597282"/>
            <a:ext cx="4846320" cy="0"/>
          </a:xfrm>
          <a:prstGeom prst="straightConnector1">
            <a:avLst/>
          </a:prstGeom>
          <a:noFill/>
          <a:ln cap="flat" cmpd="sng" w="12700">
            <a:solidFill>
              <a:srgbClr val="D9E3EE"/>
            </a:solidFill>
            <a:prstDash val="solid"/>
            <a:round/>
            <a:headEnd len="sm" w="sm" type="none"/>
            <a:tailEnd len="sm" w="sm" type="none"/>
          </a:ln>
        </p:spPr>
      </p:cxnSp>
      <p:sp>
        <p:nvSpPr>
          <p:cNvPr id="105" name="Google Shape;105;p4"/>
          <p:cNvSpPr/>
          <p:nvPr/>
        </p:nvSpPr>
        <p:spPr>
          <a:xfrm>
            <a:off x="713232" y="4981330"/>
            <a:ext cx="502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200"/>
              <a:buFont typeface="Play"/>
              <a:buNone/>
            </a:pPr>
            <a:r>
              <a:rPr b="1" i="0" lang="en-US" sz="2200" u="none" cap="none" strike="noStrike">
                <a:solidFill>
                  <a:srgbClr val="123B6D"/>
                </a:solidFill>
                <a:latin typeface="Play"/>
                <a:ea typeface="Play"/>
                <a:cs typeface="Play"/>
                <a:sym typeface="Play"/>
              </a:rPr>
              <a:t>05</a:t>
            </a:r>
            <a:endParaRPr b="0" i="0" sz="2200" u="none" cap="none" strike="noStrike">
              <a:solidFill>
                <a:schemeClr val="dk1"/>
              </a:solidFill>
              <a:latin typeface="Arial"/>
              <a:ea typeface="Arial"/>
              <a:cs typeface="Arial"/>
              <a:sym typeface="Arial"/>
            </a:endParaRPr>
          </a:p>
        </p:txBody>
      </p:sp>
      <p:sp>
        <p:nvSpPr>
          <p:cNvPr id="106" name="Google Shape;106;p4"/>
          <p:cNvSpPr/>
          <p:nvPr/>
        </p:nvSpPr>
        <p:spPr>
          <a:xfrm>
            <a:off x="1298448" y="4999618"/>
            <a:ext cx="5394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900"/>
              <a:buFont typeface="Arial"/>
              <a:buNone/>
            </a:pPr>
            <a:r>
              <a:rPr b="0" i="0" lang="en-US" sz="1900" u="none" cap="none" strike="noStrike">
                <a:solidFill>
                  <a:srgbClr val="243447"/>
                </a:solidFill>
                <a:latin typeface="Arial"/>
                <a:ea typeface="Arial"/>
                <a:cs typeface="Arial"/>
                <a:sym typeface="Arial"/>
              </a:rPr>
              <a:t>5. Recommended actions and appendix</a:t>
            </a:r>
            <a:endParaRPr b="0" i="0" sz="1900" u="none" cap="none" strike="noStrike">
              <a:solidFill>
                <a:schemeClr val="dk1"/>
              </a:solidFill>
              <a:latin typeface="Arial"/>
              <a:ea typeface="Arial"/>
              <a:cs typeface="Arial"/>
              <a:sym typeface="Arial"/>
            </a:endParaRPr>
          </a:p>
        </p:txBody>
      </p:sp>
      <p:cxnSp>
        <p:nvCxnSpPr>
          <p:cNvPr id="107" name="Google Shape;107;p4"/>
          <p:cNvCxnSpPr/>
          <p:nvPr/>
        </p:nvCxnSpPr>
        <p:spPr>
          <a:xfrm>
            <a:off x="1298448" y="5347090"/>
            <a:ext cx="4846320" cy="0"/>
          </a:xfrm>
          <a:prstGeom prst="straightConnector1">
            <a:avLst/>
          </a:prstGeom>
          <a:noFill/>
          <a:ln cap="flat" cmpd="sng" w="12700">
            <a:solidFill>
              <a:srgbClr val="D9E3EE"/>
            </a:solidFill>
            <a:prstDash val="solid"/>
            <a:round/>
            <a:headEnd len="sm" w="sm" type="none"/>
            <a:tailEnd len="sm" w="sm" type="none"/>
          </a:ln>
        </p:spPr>
      </p:cxnSp>
      <p:sp>
        <p:nvSpPr>
          <p:cNvPr id="108" name="Google Shape;108;p4"/>
          <p:cNvSpPr/>
          <p:nvPr/>
        </p:nvSpPr>
        <p:spPr>
          <a:xfrm>
            <a:off x="7315200" y="1325880"/>
            <a:ext cx="1874520" cy="1417320"/>
          </a:xfrm>
          <a:prstGeom prst="roundRect">
            <a:avLst>
              <a:gd fmla="val 516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1_chart.png" id="109" name="Google Shape;109;p4"/>
          <p:cNvPicPr preferRelativeResize="0"/>
          <p:nvPr/>
        </p:nvPicPr>
        <p:blipFill rotWithShape="1">
          <a:blip r:embed="rId3">
            <a:alphaModFix/>
          </a:blip>
          <a:srcRect b="0" l="0" r="0" t="0"/>
          <a:stretch/>
        </p:blipFill>
        <p:spPr>
          <a:xfrm>
            <a:off x="7388352" y="1542892"/>
            <a:ext cx="1728216" cy="983295"/>
          </a:xfrm>
          <a:prstGeom prst="rect">
            <a:avLst/>
          </a:prstGeom>
          <a:noFill/>
          <a:ln>
            <a:noFill/>
          </a:ln>
        </p:spPr>
      </p:pic>
      <p:sp>
        <p:nvSpPr>
          <p:cNvPr id="110" name="Google Shape;110;p4"/>
          <p:cNvSpPr/>
          <p:nvPr/>
        </p:nvSpPr>
        <p:spPr>
          <a:xfrm>
            <a:off x="9326880" y="1325880"/>
            <a:ext cx="2240280" cy="1417320"/>
          </a:xfrm>
          <a:prstGeom prst="roundRect">
            <a:avLst>
              <a:gd fmla="val 516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3_chart.png" id="111" name="Google Shape;111;p4"/>
          <p:cNvPicPr preferRelativeResize="0"/>
          <p:nvPr/>
        </p:nvPicPr>
        <p:blipFill rotWithShape="1">
          <a:blip r:embed="rId4">
            <a:alphaModFix/>
          </a:blip>
          <a:srcRect b="0" l="0" r="0" t="0"/>
          <a:stretch/>
        </p:blipFill>
        <p:spPr>
          <a:xfrm>
            <a:off x="9400032" y="1568945"/>
            <a:ext cx="2093976" cy="931189"/>
          </a:xfrm>
          <a:prstGeom prst="rect">
            <a:avLst/>
          </a:prstGeom>
          <a:noFill/>
          <a:ln>
            <a:noFill/>
          </a:ln>
        </p:spPr>
      </p:pic>
      <p:sp>
        <p:nvSpPr>
          <p:cNvPr id="112" name="Google Shape;112;p4"/>
          <p:cNvSpPr/>
          <p:nvPr/>
        </p:nvSpPr>
        <p:spPr>
          <a:xfrm>
            <a:off x="7315200" y="2971800"/>
            <a:ext cx="1874520" cy="1417320"/>
          </a:xfrm>
          <a:prstGeom prst="roundRect">
            <a:avLst>
              <a:gd fmla="val 516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8_chart.png" id="113" name="Google Shape;113;p4"/>
          <p:cNvPicPr preferRelativeResize="0"/>
          <p:nvPr/>
        </p:nvPicPr>
        <p:blipFill rotWithShape="1">
          <a:blip r:embed="rId5">
            <a:alphaModFix/>
          </a:blip>
          <a:srcRect b="0" l="0" r="0" t="0"/>
          <a:stretch/>
        </p:blipFill>
        <p:spPr>
          <a:xfrm>
            <a:off x="7388352" y="3232163"/>
            <a:ext cx="1728216" cy="896593"/>
          </a:xfrm>
          <a:prstGeom prst="rect">
            <a:avLst/>
          </a:prstGeom>
          <a:noFill/>
          <a:ln>
            <a:noFill/>
          </a:ln>
        </p:spPr>
      </p:pic>
      <p:sp>
        <p:nvSpPr>
          <p:cNvPr id="114" name="Google Shape;114;p4"/>
          <p:cNvSpPr/>
          <p:nvPr/>
        </p:nvSpPr>
        <p:spPr>
          <a:xfrm>
            <a:off x="9326880" y="2971800"/>
            <a:ext cx="2240280" cy="1417320"/>
          </a:xfrm>
          <a:prstGeom prst="roundRect">
            <a:avLst>
              <a:gd fmla="val 516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10_chart.png" id="115" name="Google Shape;115;p4"/>
          <p:cNvPicPr preferRelativeResize="0"/>
          <p:nvPr/>
        </p:nvPicPr>
        <p:blipFill rotWithShape="1">
          <a:blip r:embed="rId6">
            <a:alphaModFix/>
          </a:blip>
          <a:srcRect b="0" l="0" r="0" t="0"/>
          <a:stretch/>
        </p:blipFill>
        <p:spPr>
          <a:xfrm>
            <a:off x="9960218" y="3044952"/>
            <a:ext cx="973604" cy="1271016"/>
          </a:xfrm>
          <a:prstGeom prst="rect">
            <a:avLst/>
          </a:prstGeom>
          <a:noFill/>
          <a:ln>
            <a:noFill/>
          </a:ln>
        </p:spPr>
      </p:pic>
      <p:sp>
        <p:nvSpPr>
          <p:cNvPr id="116" name="Google Shape;116;p4"/>
          <p:cNvSpPr/>
          <p:nvPr/>
        </p:nvSpPr>
        <p:spPr>
          <a:xfrm>
            <a:off x="7315200" y="4864608"/>
            <a:ext cx="42519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500"/>
              <a:buFont typeface="Arial"/>
              <a:buNone/>
            </a:pPr>
            <a:r>
              <a:rPr b="0" i="0" lang="en-US" sz="1500" u="none" cap="none" strike="noStrike">
                <a:solidFill>
                  <a:srgbClr val="5B6776"/>
                </a:solidFill>
                <a:latin typeface="Arial"/>
                <a:ea typeface="Arial"/>
                <a:cs typeface="Arial"/>
                <a:sym typeface="Arial"/>
              </a:rPr>
              <a:t>Appendix includes project planning, hypothesis prioritization, data constraints and additional exhibits.</a:t>
            </a:r>
            <a:endParaRPr b="0" i="0" sz="1500" u="none" cap="none" strike="noStrike">
              <a:solidFill>
                <a:schemeClr val="dk1"/>
              </a:solidFill>
              <a:latin typeface="Arial"/>
              <a:ea typeface="Arial"/>
              <a:cs typeface="Arial"/>
              <a:sym typeface="Arial"/>
            </a:endParaRPr>
          </a:p>
        </p:txBody>
      </p:sp>
      <p:sp>
        <p:nvSpPr>
          <p:cNvPr id="117" name="Google Shape;117;p4"/>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118" name="Google Shape;118;p4"/>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p:nvPr/>
        </p:nvSpPr>
        <p:spPr>
          <a:xfrm>
            <a:off x="0" y="201168"/>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 name="Google Shape;125;p5"/>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5"/>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Project Background</a:t>
            </a:r>
            <a:endParaRPr b="0" i="0" sz="2600" u="none" cap="none" strike="noStrike">
              <a:solidFill>
                <a:schemeClr val="dk1"/>
              </a:solidFill>
              <a:latin typeface="Arial"/>
              <a:ea typeface="Arial"/>
              <a:cs typeface="Arial"/>
              <a:sym typeface="Arial"/>
            </a:endParaRPr>
          </a:p>
        </p:txBody>
      </p:sp>
      <p:sp>
        <p:nvSpPr>
          <p:cNvPr id="127" name="Google Shape;127;p5"/>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BUSINESS CONTEXT</a:t>
            </a:r>
            <a:endParaRPr b="0" i="0" sz="800" u="none" cap="none" strike="noStrike">
              <a:solidFill>
                <a:schemeClr val="dk1"/>
              </a:solidFill>
              <a:latin typeface="Arial"/>
              <a:ea typeface="Arial"/>
              <a:cs typeface="Arial"/>
              <a:sym typeface="Arial"/>
            </a:endParaRPr>
          </a:p>
        </p:txBody>
      </p:sp>
      <p:cxnSp>
        <p:nvCxnSpPr>
          <p:cNvPr id="128" name="Google Shape;128;p5"/>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129" name="Google Shape;129;p5"/>
          <p:cNvSpPr/>
          <p:nvPr/>
        </p:nvSpPr>
        <p:spPr>
          <a:xfrm>
            <a:off x="658368" y="1024128"/>
            <a:ext cx="5623560" cy="5440680"/>
          </a:xfrm>
          <a:prstGeom prst="roundRect">
            <a:avLst>
              <a:gd fmla="val 2017"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5"/>
          <p:cNvSpPr/>
          <p:nvPr/>
        </p:nvSpPr>
        <p:spPr>
          <a:xfrm>
            <a:off x="914400" y="1298448"/>
            <a:ext cx="25603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Why this project was needed</a:t>
            </a:r>
            <a:endParaRPr b="0" i="0" sz="1300" u="none" cap="none" strike="noStrike">
              <a:solidFill>
                <a:schemeClr val="dk1"/>
              </a:solidFill>
              <a:latin typeface="Arial"/>
              <a:ea typeface="Arial"/>
              <a:cs typeface="Arial"/>
              <a:sym typeface="Arial"/>
            </a:endParaRPr>
          </a:p>
        </p:txBody>
      </p:sp>
      <p:sp>
        <p:nvSpPr>
          <p:cNvPr id="131" name="Google Shape;131;p5"/>
          <p:cNvSpPr/>
          <p:nvPr/>
        </p:nvSpPr>
        <p:spPr>
          <a:xfrm>
            <a:off x="914400" y="1950361"/>
            <a:ext cx="493776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400"/>
              <a:buFont typeface="Play"/>
              <a:buNone/>
            </a:pPr>
            <a:r>
              <a:rPr b="1" i="0" lang="en-US" sz="2400" u="none" cap="none" strike="noStrike">
                <a:solidFill>
                  <a:srgbClr val="123B6D"/>
                </a:solidFill>
                <a:latin typeface="Play"/>
                <a:ea typeface="Play"/>
                <a:cs typeface="Play"/>
                <a:sym typeface="Play"/>
              </a:rPr>
              <a:t>Pulse Diagnostics had attrition reporting, but not decision-ready insight on where leadership risk was concentrated or what to do about it.</a:t>
            </a:r>
            <a:endParaRPr b="0" i="0" sz="2400" u="none" cap="none" strike="noStrike">
              <a:solidFill>
                <a:schemeClr val="dk1"/>
              </a:solidFill>
              <a:latin typeface="Arial"/>
              <a:ea typeface="Arial"/>
              <a:cs typeface="Arial"/>
              <a:sym typeface="Arial"/>
            </a:endParaRPr>
          </a:p>
        </p:txBody>
      </p:sp>
      <p:sp>
        <p:nvSpPr>
          <p:cNvPr id="132" name="Google Shape;132;p5"/>
          <p:cNvSpPr/>
          <p:nvPr/>
        </p:nvSpPr>
        <p:spPr>
          <a:xfrm>
            <a:off x="914400" y="3310666"/>
            <a:ext cx="4892040" cy="19202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43447"/>
              </a:buClr>
              <a:buSzPts val="1572"/>
              <a:buFont typeface="Arial"/>
              <a:buNone/>
            </a:pPr>
            <a:r>
              <a:rPr b="0" i="0" lang="en-US" sz="1573" u="none" cap="none" strike="noStrike">
                <a:solidFill>
                  <a:srgbClr val="243447"/>
                </a:solidFill>
                <a:latin typeface="Arial"/>
                <a:ea typeface="Arial"/>
                <a:cs typeface="Arial"/>
                <a:sym typeface="Arial"/>
              </a:rPr>
              <a:t>• Leadership interviews indicated elevated concern around mid-tenure exits and pressure in Sales and R&amp;D.</a:t>
            </a:r>
            <a:endParaRPr b="0" i="0" sz="1573" u="none" cap="none" strike="noStrike">
              <a:solidFill>
                <a:schemeClr val="dk1"/>
              </a:solidFill>
              <a:latin typeface="Arial"/>
              <a:ea typeface="Arial"/>
              <a:cs typeface="Arial"/>
              <a:sym typeface="Arial"/>
            </a:endParaRPr>
          </a:p>
          <a:p>
            <a:pPr indent="0" lvl="0" marL="0" marR="0" rtl="0" algn="l">
              <a:lnSpc>
                <a:spcPct val="110000"/>
              </a:lnSpc>
              <a:spcBef>
                <a:spcPts val="0"/>
              </a:spcBef>
              <a:spcAft>
                <a:spcPts val="0"/>
              </a:spcAft>
              <a:buClr>
                <a:srgbClr val="243447"/>
              </a:buClr>
              <a:buSzPts val="1572"/>
              <a:buFont typeface="Arial"/>
              <a:buNone/>
            </a:pPr>
            <a:r>
              <a:rPr b="0" i="0" lang="en-US" sz="1573" u="none" cap="none" strike="noStrike">
                <a:solidFill>
                  <a:srgbClr val="243447"/>
                </a:solidFill>
                <a:latin typeface="Arial"/>
                <a:ea typeface="Arial"/>
                <a:cs typeface="Arial"/>
                <a:sym typeface="Arial"/>
              </a:rPr>
              <a:t>• Existing reporting was largely historical and did not connect patterns to actionable retention decisions.</a:t>
            </a:r>
            <a:endParaRPr b="0" i="0" sz="1573" u="none" cap="none" strike="noStrike">
              <a:solidFill>
                <a:schemeClr val="dk1"/>
              </a:solidFill>
              <a:latin typeface="Arial"/>
              <a:ea typeface="Arial"/>
              <a:cs typeface="Arial"/>
              <a:sym typeface="Arial"/>
            </a:endParaRPr>
          </a:p>
          <a:p>
            <a:pPr indent="0" lvl="0" marL="0" marR="0" rtl="0" algn="l">
              <a:lnSpc>
                <a:spcPct val="110000"/>
              </a:lnSpc>
              <a:spcBef>
                <a:spcPts val="0"/>
              </a:spcBef>
              <a:spcAft>
                <a:spcPts val="0"/>
              </a:spcAft>
              <a:buClr>
                <a:srgbClr val="243447"/>
              </a:buClr>
              <a:buSzPts val="1572"/>
              <a:buFont typeface="Arial"/>
              <a:buNone/>
            </a:pPr>
            <a:r>
              <a:rPr b="0" i="0" lang="en-US" sz="1573" u="none" cap="none" strike="noStrike">
                <a:solidFill>
                  <a:srgbClr val="243447"/>
                </a:solidFill>
                <a:latin typeface="Arial"/>
                <a:ea typeface="Arial"/>
                <a:cs typeface="Arial"/>
                <a:sym typeface="Arial"/>
              </a:rPr>
              <a:t>• Senior and leadership roles were prioritized because exits in those roles create outsized continuity, capability and replacement-cost risk.</a:t>
            </a:r>
            <a:endParaRPr b="0" i="0" sz="1573" u="none" cap="none" strike="noStrike">
              <a:solidFill>
                <a:schemeClr val="dk1"/>
              </a:solidFill>
              <a:latin typeface="Arial"/>
              <a:ea typeface="Arial"/>
              <a:cs typeface="Arial"/>
              <a:sym typeface="Arial"/>
            </a:endParaRPr>
          </a:p>
        </p:txBody>
      </p:sp>
      <p:sp>
        <p:nvSpPr>
          <p:cNvPr id="133" name="Google Shape;133;p5"/>
          <p:cNvSpPr/>
          <p:nvPr/>
        </p:nvSpPr>
        <p:spPr>
          <a:xfrm>
            <a:off x="6537960" y="1024128"/>
            <a:ext cx="4992624" cy="2487168"/>
          </a:xfrm>
          <a:prstGeom prst="roundRect">
            <a:avLst>
              <a:gd fmla="val 4412"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4" name="Google Shape;134;p5"/>
          <p:cNvSpPr/>
          <p:nvPr/>
        </p:nvSpPr>
        <p:spPr>
          <a:xfrm>
            <a:off x="6812280" y="1298448"/>
            <a:ext cx="27432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Why focus on leadership roles</a:t>
            </a:r>
            <a:endParaRPr b="0" i="0" sz="1300" u="none" cap="none" strike="noStrike">
              <a:solidFill>
                <a:schemeClr val="dk1"/>
              </a:solidFill>
              <a:latin typeface="Arial"/>
              <a:ea typeface="Arial"/>
              <a:cs typeface="Arial"/>
              <a:sym typeface="Arial"/>
            </a:endParaRPr>
          </a:p>
        </p:txBody>
      </p:sp>
      <p:sp>
        <p:nvSpPr>
          <p:cNvPr id="135" name="Google Shape;135;p5"/>
          <p:cNvSpPr/>
          <p:nvPr/>
        </p:nvSpPr>
        <p:spPr>
          <a:xfrm>
            <a:off x="6812280" y="1664208"/>
            <a:ext cx="310896" cy="310896"/>
          </a:xfrm>
          <a:prstGeom prst="ellipse">
            <a:avLst/>
          </a:prstGeom>
          <a:solidFill>
            <a:srgbClr val="123B6D"/>
          </a:solidFill>
          <a:ln cap="flat" cmpd="sng" w="12700">
            <a:solidFill>
              <a:srgbClr val="123B6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6" name="Google Shape;136;p5"/>
          <p:cNvSpPr/>
          <p:nvPr/>
        </p:nvSpPr>
        <p:spPr>
          <a:xfrm>
            <a:off x="6812280" y="1705356"/>
            <a:ext cx="310896"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137" name="Google Shape;137;p5"/>
          <p:cNvSpPr/>
          <p:nvPr/>
        </p:nvSpPr>
        <p:spPr>
          <a:xfrm>
            <a:off x="7242048" y="1673352"/>
            <a:ext cx="39136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500"/>
              <a:buFont typeface="Arial"/>
              <a:buNone/>
            </a:pPr>
            <a:r>
              <a:rPr b="0" i="0" lang="en-US" sz="1500" u="none" cap="none" strike="noStrike">
                <a:solidFill>
                  <a:srgbClr val="243447"/>
                </a:solidFill>
                <a:latin typeface="Arial"/>
                <a:ea typeface="Arial"/>
                <a:cs typeface="Arial"/>
                <a:sym typeface="Arial"/>
              </a:rPr>
              <a:t>Leadership exits disrupt teams, projects and client continuity.</a:t>
            </a:r>
            <a:endParaRPr b="0" i="0" sz="1500" u="none" cap="none" strike="noStrike">
              <a:solidFill>
                <a:schemeClr val="dk1"/>
              </a:solidFill>
              <a:latin typeface="Arial"/>
              <a:ea typeface="Arial"/>
              <a:cs typeface="Arial"/>
              <a:sym typeface="Arial"/>
            </a:endParaRPr>
          </a:p>
        </p:txBody>
      </p:sp>
      <p:sp>
        <p:nvSpPr>
          <p:cNvPr id="138" name="Google Shape;138;p5"/>
          <p:cNvSpPr/>
          <p:nvPr/>
        </p:nvSpPr>
        <p:spPr>
          <a:xfrm>
            <a:off x="6812280" y="2194560"/>
            <a:ext cx="310896" cy="310896"/>
          </a:xfrm>
          <a:prstGeom prst="ellipse">
            <a:avLst/>
          </a:prstGeom>
          <a:solidFill>
            <a:srgbClr val="123B6D"/>
          </a:solidFill>
          <a:ln cap="flat" cmpd="sng" w="12700">
            <a:solidFill>
              <a:srgbClr val="123B6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9" name="Google Shape;139;p5"/>
          <p:cNvSpPr/>
          <p:nvPr/>
        </p:nvSpPr>
        <p:spPr>
          <a:xfrm>
            <a:off x="6812280" y="2235708"/>
            <a:ext cx="310896"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140" name="Google Shape;140;p5"/>
          <p:cNvSpPr/>
          <p:nvPr/>
        </p:nvSpPr>
        <p:spPr>
          <a:xfrm>
            <a:off x="7242048" y="2203704"/>
            <a:ext cx="39136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500"/>
              <a:buFont typeface="Arial"/>
              <a:buNone/>
            </a:pPr>
            <a:r>
              <a:rPr b="0" i="0" lang="en-US" sz="1500" u="none" cap="none" strike="noStrike">
                <a:solidFill>
                  <a:srgbClr val="243447"/>
                </a:solidFill>
                <a:latin typeface="Arial"/>
                <a:ea typeface="Arial"/>
                <a:cs typeface="Arial"/>
                <a:sym typeface="Arial"/>
              </a:rPr>
              <a:t>Replacement costs and time-to-productivity are materially higher.</a:t>
            </a:r>
            <a:endParaRPr b="0" i="0" sz="1500" u="none" cap="none" strike="noStrike">
              <a:solidFill>
                <a:schemeClr val="dk1"/>
              </a:solidFill>
              <a:latin typeface="Arial"/>
              <a:ea typeface="Arial"/>
              <a:cs typeface="Arial"/>
              <a:sym typeface="Arial"/>
            </a:endParaRPr>
          </a:p>
        </p:txBody>
      </p:sp>
      <p:sp>
        <p:nvSpPr>
          <p:cNvPr id="141" name="Google Shape;141;p5"/>
          <p:cNvSpPr/>
          <p:nvPr/>
        </p:nvSpPr>
        <p:spPr>
          <a:xfrm>
            <a:off x="6812280" y="2724912"/>
            <a:ext cx="310896" cy="310896"/>
          </a:xfrm>
          <a:prstGeom prst="ellipse">
            <a:avLst/>
          </a:prstGeom>
          <a:solidFill>
            <a:srgbClr val="123B6D"/>
          </a:solidFill>
          <a:ln cap="flat" cmpd="sng" w="12700">
            <a:solidFill>
              <a:srgbClr val="123B6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2" name="Google Shape;142;p5"/>
          <p:cNvSpPr/>
          <p:nvPr/>
        </p:nvSpPr>
        <p:spPr>
          <a:xfrm>
            <a:off x="6812280" y="2766060"/>
            <a:ext cx="310896"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sp>
        <p:nvSpPr>
          <p:cNvPr id="143" name="Google Shape;143;p5"/>
          <p:cNvSpPr/>
          <p:nvPr/>
        </p:nvSpPr>
        <p:spPr>
          <a:xfrm>
            <a:off x="7242048" y="2734056"/>
            <a:ext cx="39136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500"/>
              <a:buFont typeface="Arial"/>
              <a:buNone/>
            </a:pPr>
            <a:r>
              <a:rPr b="0" i="0" lang="en-US" sz="1500" u="none" cap="none" strike="noStrike">
                <a:solidFill>
                  <a:srgbClr val="243447"/>
                </a:solidFill>
                <a:latin typeface="Arial"/>
                <a:ea typeface="Arial"/>
                <a:cs typeface="Arial"/>
                <a:sym typeface="Arial"/>
              </a:rPr>
              <a:t>Leadership turnover can trigger downstream attrition and succession risk.</a:t>
            </a:r>
            <a:endParaRPr b="0" i="0" sz="1500" u="none" cap="none" strike="noStrike">
              <a:solidFill>
                <a:schemeClr val="dk1"/>
              </a:solidFill>
              <a:latin typeface="Arial"/>
              <a:ea typeface="Arial"/>
              <a:cs typeface="Arial"/>
              <a:sym typeface="Arial"/>
            </a:endParaRPr>
          </a:p>
        </p:txBody>
      </p:sp>
      <p:sp>
        <p:nvSpPr>
          <p:cNvPr id="144" name="Google Shape;144;p5"/>
          <p:cNvSpPr/>
          <p:nvPr/>
        </p:nvSpPr>
        <p:spPr>
          <a:xfrm>
            <a:off x="6537960" y="3767328"/>
            <a:ext cx="4992624" cy="2697480"/>
          </a:xfrm>
          <a:prstGeom prst="roundRect">
            <a:avLst>
              <a:gd fmla="val 4068"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 name="Google Shape;145;p5"/>
          <p:cNvSpPr/>
          <p:nvPr/>
        </p:nvSpPr>
        <p:spPr>
          <a:xfrm>
            <a:off x="6812280" y="4041648"/>
            <a:ext cx="2743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Current-state signal from prior work</a:t>
            </a:r>
            <a:endParaRPr b="0" i="0" sz="1300" u="none" cap="none" strike="noStrike">
              <a:solidFill>
                <a:schemeClr val="dk1"/>
              </a:solidFill>
              <a:latin typeface="Arial"/>
              <a:ea typeface="Arial"/>
              <a:cs typeface="Arial"/>
              <a:sym typeface="Arial"/>
            </a:endParaRPr>
          </a:p>
        </p:txBody>
      </p:sp>
      <p:sp>
        <p:nvSpPr>
          <p:cNvPr id="146" name="Google Shape;146;p5"/>
          <p:cNvSpPr/>
          <p:nvPr/>
        </p:nvSpPr>
        <p:spPr>
          <a:xfrm>
            <a:off x="6812280" y="4411176"/>
            <a:ext cx="38404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600"/>
              <a:buFont typeface="Arial"/>
              <a:buNone/>
            </a:pPr>
            <a:r>
              <a:rPr b="0" i="0" lang="en-US" sz="1600" u="none" cap="none" strike="noStrike">
                <a:solidFill>
                  <a:srgbClr val="5B6776"/>
                </a:solidFill>
                <a:latin typeface="Arial"/>
                <a:ea typeface="Arial"/>
                <a:cs typeface="Arial"/>
                <a:sym typeface="Arial"/>
              </a:rPr>
              <a:t>The project was designed to answer three executive questions:</a:t>
            </a:r>
            <a:endParaRPr b="0" i="0" sz="1600" u="none" cap="none" strike="noStrike">
              <a:solidFill>
                <a:schemeClr val="dk1"/>
              </a:solidFill>
              <a:latin typeface="Arial"/>
              <a:ea typeface="Arial"/>
              <a:cs typeface="Arial"/>
              <a:sym typeface="Arial"/>
            </a:endParaRPr>
          </a:p>
        </p:txBody>
      </p:sp>
      <p:sp>
        <p:nvSpPr>
          <p:cNvPr id="147" name="Google Shape;147;p5"/>
          <p:cNvSpPr/>
          <p:nvPr/>
        </p:nvSpPr>
        <p:spPr>
          <a:xfrm>
            <a:off x="6812280" y="4854390"/>
            <a:ext cx="4297680"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572"/>
              <a:buFont typeface="Arial"/>
              <a:buNone/>
            </a:pPr>
            <a:r>
              <a:rPr b="0" i="0" lang="en-US" sz="1573" u="none" cap="none" strike="noStrike">
                <a:solidFill>
                  <a:srgbClr val="243447"/>
                </a:solidFill>
                <a:latin typeface="Arial"/>
                <a:ea typeface="Arial"/>
                <a:cs typeface="Arial"/>
                <a:sym typeface="Arial"/>
              </a:rPr>
              <a:t>• Where is leadership attrition risk most concentrated?</a:t>
            </a:r>
            <a:endParaRPr b="0" i="0" sz="1573"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572"/>
              <a:buFont typeface="Arial"/>
              <a:buNone/>
            </a:pPr>
            <a:r>
              <a:rPr b="0" i="0" lang="en-US" sz="1573" u="none" cap="none" strike="noStrike">
                <a:solidFill>
                  <a:srgbClr val="243447"/>
                </a:solidFill>
                <a:latin typeface="Arial"/>
                <a:ea typeface="Arial"/>
                <a:cs typeface="Arial"/>
                <a:sym typeface="Arial"/>
              </a:rPr>
              <a:t>• Which drivers are actually associated with exits?</a:t>
            </a:r>
            <a:endParaRPr b="0" i="0" sz="1573"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572"/>
              <a:buFont typeface="Arial"/>
              <a:buNone/>
            </a:pPr>
            <a:r>
              <a:rPr b="0" i="0" lang="en-US" sz="1573" u="none" cap="none" strike="noStrike">
                <a:solidFill>
                  <a:srgbClr val="243447"/>
                </a:solidFill>
                <a:latin typeface="Arial"/>
                <a:ea typeface="Arial"/>
                <a:cs typeface="Arial"/>
                <a:sym typeface="Arial"/>
              </a:rPr>
              <a:t>• Which actions are within management control?</a:t>
            </a:r>
            <a:endParaRPr b="0" i="0" sz="1573" u="none" cap="none" strike="noStrike">
              <a:solidFill>
                <a:schemeClr val="dk1"/>
              </a:solidFill>
              <a:latin typeface="Arial"/>
              <a:ea typeface="Arial"/>
              <a:cs typeface="Arial"/>
              <a:sym typeface="Arial"/>
            </a:endParaRPr>
          </a:p>
        </p:txBody>
      </p:sp>
      <p:sp>
        <p:nvSpPr>
          <p:cNvPr id="148" name="Google Shape;148;p5"/>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149" name="Google Shape;149;p5"/>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p:nvPr/>
        </p:nvSpPr>
        <p:spPr>
          <a:xfrm>
            <a:off x="0" y="151683"/>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6" name="Google Shape;156;p6"/>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7" name="Google Shape;157;p6"/>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Project Objectives &amp; Scope</a:t>
            </a:r>
            <a:endParaRPr b="0" i="0" sz="2600" u="none" cap="none" strike="noStrike">
              <a:solidFill>
                <a:schemeClr val="dk1"/>
              </a:solidFill>
              <a:latin typeface="Arial"/>
              <a:ea typeface="Arial"/>
              <a:cs typeface="Arial"/>
              <a:sym typeface="Arial"/>
            </a:endParaRPr>
          </a:p>
        </p:txBody>
      </p:sp>
      <p:sp>
        <p:nvSpPr>
          <p:cNvPr id="158" name="Google Shape;158;p6"/>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FRAMING</a:t>
            </a:r>
            <a:endParaRPr b="0" i="0" sz="800" u="none" cap="none" strike="noStrike">
              <a:solidFill>
                <a:schemeClr val="dk1"/>
              </a:solidFill>
              <a:latin typeface="Arial"/>
              <a:ea typeface="Arial"/>
              <a:cs typeface="Arial"/>
              <a:sym typeface="Arial"/>
            </a:endParaRPr>
          </a:p>
        </p:txBody>
      </p:sp>
      <p:cxnSp>
        <p:nvCxnSpPr>
          <p:cNvPr id="159" name="Google Shape;159;p6"/>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160" name="Google Shape;160;p6"/>
          <p:cNvSpPr/>
          <p:nvPr/>
        </p:nvSpPr>
        <p:spPr>
          <a:xfrm>
            <a:off x="658368" y="1051560"/>
            <a:ext cx="1828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Primary objectives</a:t>
            </a:r>
            <a:endParaRPr b="0" i="0" sz="1300" u="none" cap="none" strike="noStrike">
              <a:solidFill>
                <a:schemeClr val="dk1"/>
              </a:solidFill>
              <a:latin typeface="Arial"/>
              <a:ea typeface="Arial"/>
              <a:cs typeface="Arial"/>
              <a:sym typeface="Arial"/>
            </a:endParaRPr>
          </a:p>
        </p:txBody>
      </p:sp>
      <p:sp>
        <p:nvSpPr>
          <p:cNvPr id="161" name="Google Shape;161;p6"/>
          <p:cNvSpPr/>
          <p:nvPr/>
        </p:nvSpPr>
        <p:spPr>
          <a:xfrm>
            <a:off x="658368" y="1335024"/>
            <a:ext cx="10725912" cy="192024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43447"/>
              </a:buClr>
              <a:buSzPts val="1800"/>
              <a:buFont typeface="Arial"/>
              <a:buNone/>
            </a:pPr>
            <a:r>
              <a:rPr b="0" i="0" lang="en-US" sz="1800" u="none" cap="none" strike="noStrike">
                <a:solidFill>
                  <a:srgbClr val="243447"/>
                </a:solidFill>
                <a:latin typeface="Arial"/>
                <a:ea typeface="Arial"/>
                <a:cs typeface="Arial"/>
                <a:sym typeface="Arial"/>
              </a:rPr>
              <a:t>• Identify leadership segments with elevated attrition risk.</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243447"/>
              </a:buClr>
              <a:buSzPts val="1800"/>
              <a:buFont typeface="Arial"/>
              <a:buNone/>
            </a:pPr>
            <a:r>
              <a:rPr b="0" i="0" lang="en-US" sz="1800" u="none" cap="none" strike="noStrike">
                <a:solidFill>
                  <a:srgbClr val="243447"/>
                </a:solidFill>
                <a:latin typeface="Arial"/>
                <a:ea typeface="Arial"/>
                <a:cs typeface="Arial"/>
                <a:sym typeface="Arial"/>
              </a:rPr>
              <a:t>• Test how tenure, role characteristics, workload, engagement and organizational context relate to exits.</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243447"/>
              </a:buClr>
              <a:buSzPts val="1800"/>
              <a:buFont typeface="Arial"/>
              <a:buNone/>
            </a:pPr>
            <a:r>
              <a:rPr b="0" i="0" lang="en-US" sz="1800" u="none" cap="none" strike="noStrike">
                <a:solidFill>
                  <a:srgbClr val="243447"/>
                </a:solidFill>
                <a:latin typeface="Arial"/>
                <a:ea typeface="Arial"/>
                <a:cs typeface="Arial"/>
                <a:sym typeface="Arial"/>
              </a:rPr>
              <a:t>• Differentiate systemic drivers from localized or role-specific issues.</a:t>
            </a:r>
            <a:endParaRPr b="0" i="0" sz="1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243447"/>
              </a:buClr>
              <a:buSzPts val="1800"/>
              <a:buFont typeface="Arial"/>
              <a:buNone/>
            </a:pPr>
            <a:r>
              <a:rPr b="0" i="0" lang="en-US" sz="1800" u="none" cap="none" strike="noStrike">
                <a:solidFill>
                  <a:srgbClr val="243447"/>
                </a:solidFill>
                <a:latin typeface="Arial"/>
                <a:ea typeface="Arial"/>
                <a:cs typeface="Arial"/>
                <a:sym typeface="Arial"/>
              </a:rPr>
              <a:t>• Focus on insights that can inform strategic retention action rather than descriptive reporting alone.</a:t>
            </a:r>
            <a:endParaRPr b="0" i="0" sz="1800" u="none" cap="none" strike="noStrike">
              <a:solidFill>
                <a:schemeClr val="dk1"/>
              </a:solidFill>
              <a:latin typeface="Arial"/>
              <a:ea typeface="Arial"/>
              <a:cs typeface="Arial"/>
              <a:sym typeface="Arial"/>
            </a:endParaRPr>
          </a:p>
        </p:txBody>
      </p:sp>
      <p:sp>
        <p:nvSpPr>
          <p:cNvPr id="162" name="Google Shape;162;p6"/>
          <p:cNvSpPr/>
          <p:nvPr/>
        </p:nvSpPr>
        <p:spPr>
          <a:xfrm>
            <a:off x="658368" y="3749040"/>
            <a:ext cx="2743200" cy="2148840"/>
          </a:xfrm>
          <a:prstGeom prst="roundRect">
            <a:avLst>
              <a:gd fmla="val 5106"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3" name="Google Shape;163;p6"/>
          <p:cNvSpPr/>
          <p:nvPr/>
        </p:nvSpPr>
        <p:spPr>
          <a:xfrm>
            <a:off x="3703320" y="3749040"/>
            <a:ext cx="2743200" cy="2148840"/>
          </a:xfrm>
          <a:prstGeom prst="roundRect">
            <a:avLst>
              <a:gd fmla="val 5106"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4" name="Google Shape;164;p6"/>
          <p:cNvSpPr/>
          <p:nvPr/>
        </p:nvSpPr>
        <p:spPr>
          <a:xfrm>
            <a:off x="6748272" y="3749040"/>
            <a:ext cx="4782312" cy="2148840"/>
          </a:xfrm>
          <a:prstGeom prst="roundRect">
            <a:avLst>
              <a:gd fmla="val 5106"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5" name="Google Shape;165;p6"/>
          <p:cNvSpPr/>
          <p:nvPr/>
        </p:nvSpPr>
        <p:spPr>
          <a:xfrm>
            <a:off x="914400" y="4041648"/>
            <a:ext cx="10058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900"/>
              <a:buFont typeface="Play"/>
              <a:buNone/>
            </a:pPr>
            <a:r>
              <a:rPr b="1" i="0" lang="en-US" sz="1900" u="none" cap="none" strike="noStrike">
                <a:solidFill>
                  <a:srgbClr val="123B6D"/>
                </a:solidFill>
                <a:latin typeface="Play"/>
                <a:ea typeface="Play"/>
                <a:cs typeface="Play"/>
                <a:sym typeface="Play"/>
              </a:rPr>
              <a:t>In scope</a:t>
            </a:r>
            <a:endParaRPr b="0" i="0" sz="1900" u="none" cap="none" strike="noStrike">
              <a:solidFill>
                <a:schemeClr val="dk1"/>
              </a:solidFill>
              <a:latin typeface="Arial"/>
              <a:ea typeface="Arial"/>
              <a:cs typeface="Arial"/>
              <a:sym typeface="Arial"/>
            </a:endParaRPr>
          </a:p>
        </p:txBody>
      </p:sp>
      <p:sp>
        <p:nvSpPr>
          <p:cNvPr id="166" name="Google Shape;166;p6"/>
          <p:cNvSpPr/>
          <p:nvPr/>
        </p:nvSpPr>
        <p:spPr>
          <a:xfrm>
            <a:off x="914400" y="4407408"/>
            <a:ext cx="21488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Senior and leadership roles</a:t>
            </a:r>
            <a:endParaRPr b="0" i="0" sz="129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Voluntary attrition patterns and risk indicators</a:t>
            </a:r>
            <a:endParaRPr b="0" i="0" sz="129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Drivers that can inform action</a:t>
            </a:r>
            <a:endParaRPr b="0" i="0" sz="1295" u="none" cap="none" strike="noStrike">
              <a:solidFill>
                <a:schemeClr val="dk1"/>
              </a:solidFill>
              <a:latin typeface="Arial"/>
              <a:ea typeface="Arial"/>
              <a:cs typeface="Arial"/>
              <a:sym typeface="Arial"/>
            </a:endParaRPr>
          </a:p>
        </p:txBody>
      </p:sp>
      <p:sp>
        <p:nvSpPr>
          <p:cNvPr id="167" name="Google Shape;167;p6"/>
          <p:cNvSpPr/>
          <p:nvPr/>
        </p:nvSpPr>
        <p:spPr>
          <a:xfrm>
            <a:off x="3959352" y="4041648"/>
            <a:ext cx="1371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900"/>
              <a:buFont typeface="Play"/>
              <a:buNone/>
            </a:pPr>
            <a:r>
              <a:rPr b="1" i="0" lang="en-US" sz="1900" u="none" cap="none" strike="noStrike">
                <a:solidFill>
                  <a:srgbClr val="123B6D"/>
                </a:solidFill>
                <a:latin typeface="Play"/>
                <a:ea typeface="Play"/>
                <a:cs typeface="Play"/>
                <a:sym typeface="Play"/>
              </a:rPr>
              <a:t>Out of scope</a:t>
            </a:r>
            <a:endParaRPr b="0" i="0" sz="1900" u="none" cap="none" strike="noStrike">
              <a:solidFill>
                <a:schemeClr val="dk1"/>
              </a:solidFill>
              <a:latin typeface="Arial"/>
              <a:ea typeface="Arial"/>
              <a:cs typeface="Arial"/>
              <a:sym typeface="Arial"/>
            </a:endParaRPr>
          </a:p>
        </p:txBody>
      </p:sp>
      <p:sp>
        <p:nvSpPr>
          <p:cNvPr id="168" name="Google Shape;168;p6"/>
          <p:cNvSpPr/>
          <p:nvPr/>
        </p:nvSpPr>
        <p:spPr>
          <a:xfrm>
            <a:off x="3959352" y="4407408"/>
            <a:ext cx="2368296"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Broad engagement diagnostics</a:t>
            </a:r>
            <a:endParaRPr b="0" i="0" sz="129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Individual performance evaluation</a:t>
            </a:r>
            <a:endParaRPr b="0" i="0" sz="129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Design of full retention programs</a:t>
            </a:r>
            <a:endParaRPr b="0" i="0" sz="1295" u="none" cap="none" strike="noStrike">
              <a:solidFill>
                <a:schemeClr val="dk1"/>
              </a:solidFill>
              <a:latin typeface="Arial"/>
              <a:ea typeface="Arial"/>
              <a:cs typeface="Arial"/>
              <a:sym typeface="Arial"/>
            </a:endParaRPr>
          </a:p>
        </p:txBody>
      </p:sp>
      <p:sp>
        <p:nvSpPr>
          <p:cNvPr id="169" name="Google Shape;169;p6"/>
          <p:cNvSpPr/>
          <p:nvPr/>
        </p:nvSpPr>
        <p:spPr>
          <a:xfrm>
            <a:off x="7040880" y="4041648"/>
            <a:ext cx="1984786" cy="14307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900"/>
              <a:buFont typeface="Play"/>
              <a:buNone/>
            </a:pPr>
            <a:r>
              <a:rPr b="1" i="0" lang="en-US" sz="1900" u="none" cap="none" strike="noStrike">
                <a:solidFill>
                  <a:srgbClr val="123B6D"/>
                </a:solidFill>
                <a:latin typeface="Play"/>
                <a:ea typeface="Play"/>
                <a:cs typeface="Play"/>
                <a:sym typeface="Play"/>
              </a:rPr>
              <a:t>Success criteria</a:t>
            </a:r>
            <a:endParaRPr b="0" i="0" sz="1900" u="none" cap="none" strike="noStrike">
              <a:solidFill>
                <a:schemeClr val="dk1"/>
              </a:solidFill>
              <a:latin typeface="Arial"/>
              <a:ea typeface="Arial"/>
              <a:cs typeface="Arial"/>
              <a:sym typeface="Arial"/>
            </a:endParaRPr>
          </a:p>
        </p:txBody>
      </p:sp>
      <p:sp>
        <p:nvSpPr>
          <p:cNvPr id="170" name="Google Shape;170;p6"/>
          <p:cNvSpPr/>
          <p:nvPr/>
        </p:nvSpPr>
        <p:spPr>
          <a:xfrm>
            <a:off x="7040880" y="4407408"/>
            <a:ext cx="406908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387"/>
              <a:buFont typeface="Arial"/>
              <a:buNone/>
            </a:pPr>
            <a:r>
              <a:rPr b="0" i="0" lang="en-US" sz="1388" u="none" cap="none" strike="noStrike">
                <a:solidFill>
                  <a:srgbClr val="243447"/>
                </a:solidFill>
                <a:latin typeface="Arial"/>
                <a:ea typeface="Arial"/>
                <a:cs typeface="Arial"/>
                <a:sym typeface="Arial"/>
              </a:rPr>
              <a:t>• Clear prioritization of at-risk leadership segments</a:t>
            </a:r>
            <a:endParaRPr b="0" i="0" sz="1388"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387"/>
              <a:buFont typeface="Arial"/>
              <a:buNone/>
            </a:pPr>
            <a:r>
              <a:rPr b="0" i="0" lang="en-US" sz="1388" u="none" cap="none" strike="noStrike">
                <a:solidFill>
                  <a:srgbClr val="243447"/>
                </a:solidFill>
                <a:latin typeface="Arial"/>
                <a:ea typeface="Arial"/>
                <a:cs typeface="Arial"/>
                <a:sym typeface="Arial"/>
              </a:rPr>
              <a:t>• Evidence-based view of what is and is not driving attrition</a:t>
            </a:r>
            <a:endParaRPr b="0" i="0" sz="1388"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387"/>
              <a:buFont typeface="Arial"/>
              <a:buNone/>
            </a:pPr>
            <a:r>
              <a:rPr b="0" i="0" lang="en-US" sz="1388" u="none" cap="none" strike="noStrike">
                <a:solidFill>
                  <a:srgbClr val="243447"/>
                </a:solidFill>
                <a:latin typeface="Arial"/>
                <a:ea typeface="Arial"/>
                <a:cs typeface="Arial"/>
                <a:sym typeface="Arial"/>
              </a:rPr>
              <a:t>• A practical agenda for targeted retention decisions</a:t>
            </a:r>
            <a:endParaRPr b="0" i="0" sz="1388" u="none" cap="none" strike="noStrike">
              <a:solidFill>
                <a:schemeClr val="dk1"/>
              </a:solidFill>
              <a:latin typeface="Arial"/>
              <a:ea typeface="Arial"/>
              <a:cs typeface="Arial"/>
              <a:sym typeface="Arial"/>
            </a:endParaRPr>
          </a:p>
        </p:txBody>
      </p:sp>
      <p:sp>
        <p:nvSpPr>
          <p:cNvPr id="171" name="Google Shape;171;p6"/>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172" name="Google Shape;172;p6"/>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6</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7"/>
          <p:cNvSpPr/>
          <p:nvPr/>
        </p:nvSpPr>
        <p:spPr>
          <a:xfrm>
            <a:off x="0" y="176963"/>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9" name="Google Shape;179;p7"/>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0" name="Google Shape;180;p7"/>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External Research &amp; Industry Insights</a:t>
            </a:r>
            <a:endParaRPr b="0" i="0" sz="2600" u="none" cap="none" strike="noStrike">
              <a:solidFill>
                <a:schemeClr val="dk1"/>
              </a:solidFill>
              <a:latin typeface="Arial"/>
              <a:ea typeface="Arial"/>
              <a:cs typeface="Arial"/>
              <a:sym typeface="Arial"/>
            </a:endParaRPr>
          </a:p>
        </p:txBody>
      </p:sp>
      <p:sp>
        <p:nvSpPr>
          <p:cNvPr id="181" name="Google Shape;181;p7"/>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RESEARCH</a:t>
            </a:r>
            <a:endParaRPr b="0" i="0" sz="800" u="none" cap="none" strike="noStrike">
              <a:solidFill>
                <a:schemeClr val="dk1"/>
              </a:solidFill>
              <a:latin typeface="Arial"/>
              <a:ea typeface="Arial"/>
              <a:cs typeface="Arial"/>
              <a:sym typeface="Arial"/>
            </a:endParaRPr>
          </a:p>
        </p:txBody>
      </p:sp>
      <p:cxnSp>
        <p:nvCxnSpPr>
          <p:cNvPr id="182" name="Google Shape;182;p7"/>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183" name="Google Shape;183;p7"/>
          <p:cNvSpPr/>
          <p:nvPr/>
        </p:nvSpPr>
        <p:spPr>
          <a:xfrm>
            <a:off x="658367" y="1005840"/>
            <a:ext cx="10594131"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rPr b="0" i="0" lang="en-US" sz="1800" u="none" cap="none" strike="noStrike">
                <a:solidFill>
                  <a:srgbClr val="5B6776"/>
                </a:solidFill>
                <a:latin typeface="Arial"/>
                <a:ea typeface="Arial"/>
                <a:cs typeface="Arial"/>
                <a:sym typeface="Arial"/>
              </a:rPr>
              <a:t>External research validated why leadership attrition should be treated as a focused business-risk problem.</a:t>
            </a:r>
            <a:endParaRPr b="0" i="0" sz="1800" u="none" cap="none" strike="noStrike">
              <a:solidFill>
                <a:schemeClr val="dk1"/>
              </a:solidFill>
              <a:latin typeface="Arial"/>
              <a:ea typeface="Arial"/>
              <a:cs typeface="Arial"/>
              <a:sym typeface="Arial"/>
            </a:endParaRPr>
          </a:p>
        </p:txBody>
      </p:sp>
      <p:sp>
        <p:nvSpPr>
          <p:cNvPr id="184" name="Google Shape;184;p7"/>
          <p:cNvSpPr/>
          <p:nvPr/>
        </p:nvSpPr>
        <p:spPr>
          <a:xfrm>
            <a:off x="658368" y="1600200"/>
            <a:ext cx="2834640" cy="3566160"/>
          </a:xfrm>
          <a:prstGeom prst="roundRect">
            <a:avLst>
              <a:gd fmla="val 387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5" name="Google Shape;185;p7"/>
          <p:cNvSpPr/>
          <p:nvPr/>
        </p:nvSpPr>
        <p:spPr>
          <a:xfrm>
            <a:off x="859536" y="1901952"/>
            <a:ext cx="2194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3000"/>
              <a:buFont typeface="Play"/>
              <a:buNone/>
            </a:pPr>
            <a:r>
              <a:rPr b="1" i="0" lang="en-US" sz="3000" u="none" cap="none" strike="noStrike">
                <a:solidFill>
                  <a:srgbClr val="123B6D"/>
                </a:solidFill>
                <a:latin typeface="Play"/>
                <a:ea typeface="Play"/>
                <a:cs typeface="Play"/>
                <a:sym typeface="Play"/>
              </a:rPr>
              <a:t>70%</a:t>
            </a:r>
            <a:endParaRPr b="0" i="0" sz="3000" u="none" cap="none" strike="noStrike">
              <a:solidFill>
                <a:schemeClr val="dk1"/>
              </a:solidFill>
              <a:latin typeface="Arial"/>
              <a:ea typeface="Arial"/>
              <a:cs typeface="Arial"/>
              <a:sym typeface="Arial"/>
            </a:endParaRPr>
          </a:p>
        </p:txBody>
      </p:sp>
      <p:sp>
        <p:nvSpPr>
          <p:cNvPr id="186" name="Google Shape;186;p7"/>
          <p:cNvSpPr/>
          <p:nvPr/>
        </p:nvSpPr>
        <p:spPr>
          <a:xfrm>
            <a:off x="859536" y="2415630"/>
            <a:ext cx="23317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1" i="0" lang="en-US" sz="1600" u="none" cap="none" strike="noStrike">
                <a:solidFill>
                  <a:srgbClr val="243447"/>
                </a:solidFill>
                <a:latin typeface="Arial"/>
                <a:ea typeface="Arial"/>
                <a:cs typeface="Arial"/>
                <a:sym typeface="Arial"/>
              </a:rPr>
              <a:t>Managers shape engagement</a:t>
            </a:r>
            <a:endParaRPr b="0" i="0" sz="1600" u="none" cap="none" strike="noStrike">
              <a:solidFill>
                <a:schemeClr val="dk1"/>
              </a:solidFill>
              <a:latin typeface="Arial"/>
              <a:ea typeface="Arial"/>
              <a:cs typeface="Arial"/>
              <a:sym typeface="Arial"/>
            </a:endParaRPr>
          </a:p>
        </p:txBody>
      </p:sp>
      <p:sp>
        <p:nvSpPr>
          <p:cNvPr id="187" name="Google Shape;187;p7"/>
          <p:cNvSpPr/>
          <p:nvPr/>
        </p:nvSpPr>
        <p:spPr>
          <a:xfrm>
            <a:off x="859536" y="3084217"/>
            <a:ext cx="2395728" cy="1417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776"/>
              </a:buClr>
              <a:buSzPts val="1400"/>
              <a:buFont typeface="Arial"/>
              <a:buNone/>
            </a:pPr>
            <a:r>
              <a:rPr b="0" i="0" lang="en-US" sz="1400" u="none" cap="none" strike="noStrike">
                <a:solidFill>
                  <a:srgbClr val="5B6776"/>
                </a:solidFill>
                <a:latin typeface="Arial"/>
                <a:ea typeface="Arial"/>
                <a:cs typeface="Arial"/>
                <a:sym typeface="Arial"/>
              </a:rPr>
              <a:t>Gallup estimates managers account for at least 70% of the variance in team engagement, reinforcing why leader quality matters for downstream retention.</a:t>
            </a:r>
            <a:endParaRPr b="0" i="0" sz="1400" u="none" cap="none" strike="noStrike">
              <a:solidFill>
                <a:schemeClr val="dk1"/>
              </a:solidFill>
              <a:latin typeface="Arial"/>
              <a:ea typeface="Arial"/>
              <a:cs typeface="Arial"/>
              <a:sym typeface="Arial"/>
            </a:endParaRPr>
          </a:p>
        </p:txBody>
      </p:sp>
      <p:sp>
        <p:nvSpPr>
          <p:cNvPr id="188" name="Google Shape;188;p7"/>
          <p:cNvSpPr/>
          <p:nvPr/>
        </p:nvSpPr>
        <p:spPr>
          <a:xfrm>
            <a:off x="4023360" y="1600200"/>
            <a:ext cx="2834640" cy="3566160"/>
          </a:xfrm>
          <a:prstGeom prst="roundRect">
            <a:avLst>
              <a:gd fmla="val 3871"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9" name="Google Shape;189;p7"/>
          <p:cNvSpPr/>
          <p:nvPr/>
        </p:nvSpPr>
        <p:spPr>
          <a:xfrm>
            <a:off x="4224528" y="1901952"/>
            <a:ext cx="2194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994A"/>
              </a:buClr>
              <a:buSzPts val="3000"/>
              <a:buFont typeface="Play"/>
              <a:buNone/>
            </a:pPr>
            <a:r>
              <a:rPr b="1" i="0" lang="en-US" sz="3000" u="none" cap="none" strike="noStrike">
                <a:solidFill>
                  <a:srgbClr val="F2994A"/>
                </a:solidFill>
                <a:latin typeface="Play"/>
                <a:ea typeface="Play"/>
                <a:cs typeface="Play"/>
                <a:sym typeface="Play"/>
              </a:rPr>
              <a:t>0.5–2×</a:t>
            </a:r>
            <a:endParaRPr b="0" i="0" sz="3000" u="none" cap="none" strike="noStrike">
              <a:solidFill>
                <a:schemeClr val="dk1"/>
              </a:solidFill>
              <a:latin typeface="Arial"/>
              <a:ea typeface="Arial"/>
              <a:cs typeface="Arial"/>
              <a:sym typeface="Arial"/>
            </a:endParaRPr>
          </a:p>
        </p:txBody>
      </p:sp>
      <p:sp>
        <p:nvSpPr>
          <p:cNvPr id="190" name="Google Shape;190;p7"/>
          <p:cNvSpPr/>
          <p:nvPr/>
        </p:nvSpPr>
        <p:spPr>
          <a:xfrm>
            <a:off x="4224528" y="2415630"/>
            <a:ext cx="23317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1" i="0" lang="en-US" sz="1600" u="none" cap="none" strike="noStrike">
                <a:solidFill>
                  <a:srgbClr val="243447"/>
                </a:solidFill>
                <a:latin typeface="Arial"/>
                <a:ea typeface="Arial"/>
                <a:cs typeface="Arial"/>
                <a:sym typeface="Arial"/>
              </a:rPr>
              <a:t>Turnover is expensive</a:t>
            </a:r>
            <a:endParaRPr b="0" i="0" sz="1600" u="none" cap="none" strike="noStrike">
              <a:solidFill>
                <a:schemeClr val="dk1"/>
              </a:solidFill>
              <a:latin typeface="Arial"/>
              <a:ea typeface="Arial"/>
              <a:cs typeface="Arial"/>
              <a:sym typeface="Arial"/>
            </a:endParaRPr>
          </a:p>
        </p:txBody>
      </p:sp>
      <p:sp>
        <p:nvSpPr>
          <p:cNvPr id="191" name="Google Shape;191;p7"/>
          <p:cNvSpPr/>
          <p:nvPr/>
        </p:nvSpPr>
        <p:spPr>
          <a:xfrm>
            <a:off x="4224528" y="3084217"/>
            <a:ext cx="2395728" cy="1417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776"/>
              </a:buClr>
              <a:buSzPts val="1400"/>
              <a:buFont typeface="Arial"/>
              <a:buNone/>
            </a:pPr>
            <a:r>
              <a:rPr b="0" i="0" lang="en-US" sz="1400" u="none" cap="none" strike="noStrike">
                <a:solidFill>
                  <a:srgbClr val="5B6776"/>
                </a:solidFill>
                <a:latin typeface="Arial"/>
                <a:ea typeface="Arial"/>
                <a:cs typeface="Arial"/>
                <a:sym typeface="Arial"/>
              </a:rPr>
              <a:t>Gallup and Bersin-cited turnover research place replacement cost at roughly one-half to two times salary, with senior roles often higher.</a:t>
            </a:r>
            <a:endParaRPr b="0" i="0" sz="1400" u="none" cap="none" strike="noStrike">
              <a:solidFill>
                <a:schemeClr val="dk1"/>
              </a:solidFill>
              <a:latin typeface="Arial"/>
              <a:ea typeface="Arial"/>
              <a:cs typeface="Arial"/>
              <a:sym typeface="Arial"/>
            </a:endParaRPr>
          </a:p>
        </p:txBody>
      </p:sp>
      <p:sp>
        <p:nvSpPr>
          <p:cNvPr id="192" name="Google Shape;192;p7"/>
          <p:cNvSpPr/>
          <p:nvPr/>
        </p:nvSpPr>
        <p:spPr>
          <a:xfrm>
            <a:off x="7388352" y="1600200"/>
            <a:ext cx="2834640" cy="3566160"/>
          </a:xfrm>
          <a:prstGeom prst="roundRect">
            <a:avLst>
              <a:gd fmla="val 387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3" name="Google Shape;193;p7"/>
          <p:cNvSpPr/>
          <p:nvPr/>
        </p:nvSpPr>
        <p:spPr>
          <a:xfrm>
            <a:off x="7589520" y="1901952"/>
            <a:ext cx="2194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Contagion</a:t>
            </a:r>
            <a:endParaRPr b="0" i="0" sz="2600" u="none" cap="none" strike="noStrike">
              <a:solidFill>
                <a:schemeClr val="dk1"/>
              </a:solidFill>
              <a:latin typeface="Arial"/>
              <a:ea typeface="Arial"/>
              <a:cs typeface="Arial"/>
              <a:sym typeface="Arial"/>
            </a:endParaRPr>
          </a:p>
        </p:txBody>
      </p:sp>
      <p:sp>
        <p:nvSpPr>
          <p:cNvPr id="194" name="Google Shape;194;p7"/>
          <p:cNvSpPr/>
          <p:nvPr/>
        </p:nvSpPr>
        <p:spPr>
          <a:xfrm>
            <a:off x="7589520" y="2415630"/>
            <a:ext cx="23317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1" i="0" lang="en-US" sz="1600" u="none" cap="none" strike="noStrike">
                <a:solidFill>
                  <a:srgbClr val="243447"/>
                </a:solidFill>
                <a:latin typeface="Arial"/>
                <a:ea typeface="Arial"/>
                <a:cs typeface="Arial"/>
                <a:sym typeface="Arial"/>
              </a:rPr>
              <a:t>Exits can spread</a:t>
            </a:r>
            <a:endParaRPr b="0" i="0" sz="1600" u="none" cap="none" strike="noStrike">
              <a:solidFill>
                <a:schemeClr val="dk1"/>
              </a:solidFill>
              <a:latin typeface="Arial"/>
              <a:ea typeface="Arial"/>
              <a:cs typeface="Arial"/>
              <a:sym typeface="Arial"/>
            </a:endParaRPr>
          </a:p>
        </p:txBody>
      </p:sp>
      <p:sp>
        <p:nvSpPr>
          <p:cNvPr id="195" name="Google Shape;195;p7"/>
          <p:cNvSpPr/>
          <p:nvPr/>
        </p:nvSpPr>
        <p:spPr>
          <a:xfrm>
            <a:off x="7589520" y="3084217"/>
            <a:ext cx="2395728" cy="1417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776"/>
              </a:buClr>
              <a:buSzPts val="1400"/>
              <a:buFont typeface="Arial"/>
              <a:buNone/>
            </a:pPr>
            <a:r>
              <a:rPr b="0" i="0" lang="en-US" sz="1400" u="none" cap="none" strike="noStrike">
                <a:solidFill>
                  <a:srgbClr val="5B6776"/>
                </a:solidFill>
                <a:latin typeface="Arial"/>
                <a:ea typeface="Arial"/>
                <a:cs typeface="Arial"/>
                <a:sym typeface="Arial"/>
              </a:rPr>
              <a:t>Turnover-contagion research shows employees can imitate turnover-related attitudes and behaviors of coworkers, meaning one exit can trigger more loss.</a:t>
            </a:r>
            <a:endParaRPr b="0" i="0" sz="1400" u="none" cap="none" strike="noStrike">
              <a:solidFill>
                <a:schemeClr val="dk1"/>
              </a:solidFill>
              <a:latin typeface="Arial"/>
              <a:ea typeface="Arial"/>
              <a:cs typeface="Arial"/>
              <a:sym typeface="Arial"/>
            </a:endParaRPr>
          </a:p>
        </p:txBody>
      </p:sp>
      <p:sp>
        <p:nvSpPr>
          <p:cNvPr id="196" name="Google Shape;196;p7"/>
          <p:cNvSpPr/>
          <p:nvPr/>
        </p:nvSpPr>
        <p:spPr>
          <a:xfrm>
            <a:off x="658368" y="5340096"/>
            <a:ext cx="9564624" cy="841248"/>
          </a:xfrm>
          <a:prstGeom prst="roundRect">
            <a:avLst>
              <a:gd fmla="val 8696" name="adj"/>
            </a:avLst>
          </a:prstGeom>
          <a:solidFill>
            <a:srgbClr val="123B6D"/>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7" name="Google Shape;197;p7"/>
          <p:cNvSpPr/>
          <p:nvPr/>
        </p:nvSpPr>
        <p:spPr>
          <a:xfrm>
            <a:off x="914400" y="5573538"/>
            <a:ext cx="9098280" cy="384048"/>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Clr>
                <a:srgbClr val="FFFFFF"/>
              </a:buClr>
              <a:buSzPts val="1480"/>
              <a:buFont typeface="Arial"/>
              <a:buNone/>
            </a:pPr>
            <a:r>
              <a:rPr b="1" i="0" lang="en-US" sz="1480" u="none" cap="none" strike="noStrike">
                <a:solidFill>
                  <a:srgbClr val="FFFFFF"/>
                </a:solidFill>
                <a:latin typeface="Arial"/>
                <a:ea typeface="Arial"/>
                <a:cs typeface="Arial"/>
                <a:sym typeface="Arial"/>
              </a:rPr>
              <a:t>Implication for Pulse Diagnostics: senior-leader exits create disproportionate cost, continuity and cultural risk, so targeted retention analysis is strategically justified.</a:t>
            </a:r>
            <a:endParaRPr b="0" i="0" sz="1480" u="none" cap="none" strike="noStrike">
              <a:solidFill>
                <a:schemeClr val="dk1"/>
              </a:solidFill>
              <a:latin typeface="Arial"/>
              <a:ea typeface="Arial"/>
              <a:cs typeface="Arial"/>
              <a:sym typeface="Arial"/>
            </a:endParaRPr>
          </a:p>
        </p:txBody>
      </p:sp>
      <p:sp>
        <p:nvSpPr>
          <p:cNvPr id="198" name="Google Shape;198;p7"/>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199" name="Google Shape;199;p7"/>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7</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8"/>
          <p:cNvSpPr/>
          <p:nvPr/>
        </p:nvSpPr>
        <p:spPr>
          <a:xfrm>
            <a:off x="0" y="155448"/>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8"/>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7" name="Google Shape;207;p8"/>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Overview of the Data Analysis Approach</a:t>
            </a:r>
            <a:endParaRPr b="0" i="0" sz="2600" u="none" cap="none" strike="noStrike">
              <a:solidFill>
                <a:schemeClr val="dk1"/>
              </a:solidFill>
              <a:latin typeface="Arial"/>
              <a:ea typeface="Arial"/>
              <a:cs typeface="Arial"/>
              <a:sym typeface="Arial"/>
            </a:endParaRPr>
          </a:p>
        </p:txBody>
      </p:sp>
      <p:sp>
        <p:nvSpPr>
          <p:cNvPr id="208" name="Google Shape;208;p8"/>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METHOD</a:t>
            </a:r>
            <a:endParaRPr b="0" i="0" sz="800" u="none" cap="none" strike="noStrike">
              <a:solidFill>
                <a:schemeClr val="dk1"/>
              </a:solidFill>
              <a:latin typeface="Arial"/>
              <a:ea typeface="Arial"/>
              <a:cs typeface="Arial"/>
              <a:sym typeface="Arial"/>
            </a:endParaRPr>
          </a:p>
        </p:txBody>
      </p:sp>
      <p:cxnSp>
        <p:nvCxnSpPr>
          <p:cNvPr id="209" name="Google Shape;209;p8"/>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210" name="Google Shape;210;p8"/>
          <p:cNvSpPr/>
          <p:nvPr/>
        </p:nvSpPr>
        <p:spPr>
          <a:xfrm>
            <a:off x="658368" y="987552"/>
            <a:ext cx="10725912"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rPr b="0" i="0" lang="en-US" sz="1800" u="none" cap="none" strike="noStrike">
                <a:solidFill>
                  <a:srgbClr val="5B6776"/>
                </a:solidFill>
                <a:latin typeface="Arial"/>
                <a:ea typeface="Arial"/>
                <a:cs typeface="Arial"/>
                <a:sym typeface="Arial"/>
              </a:rPr>
              <a:t>The analysis combined HRIS and engagement data, then tested prioritized hypotheses using transparent Excel-based methods.</a:t>
            </a:r>
            <a:endParaRPr b="0" i="0" sz="1800" u="none" cap="none" strike="noStrike">
              <a:solidFill>
                <a:schemeClr val="dk1"/>
              </a:solidFill>
              <a:latin typeface="Arial"/>
              <a:ea typeface="Arial"/>
              <a:cs typeface="Arial"/>
              <a:sym typeface="Arial"/>
            </a:endParaRPr>
          </a:p>
        </p:txBody>
      </p:sp>
      <p:sp>
        <p:nvSpPr>
          <p:cNvPr id="211" name="Google Shape;211;p8"/>
          <p:cNvSpPr/>
          <p:nvPr/>
        </p:nvSpPr>
        <p:spPr>
          <a:xfrm>
            <a:off x="658368" y="1600200"/>
            <a:ext cx="2487168" cy="2148840"/>
          </a:xfrm>
          <a:prstGeom prst="roundRect">
            <a:avLst>
              <a:gd fmla="val 4255"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2" name="Google Shape;212;p8"/>
          <p:cNvSpPr/>
          <p:nvPr/>
        </p:nvSpPr>
        <p:spPr>
          <a:xfrm>
            <a:off x="822960" y="1847088"/>
            <a:ext cx="2103120"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1. Define the cohort</a:t>
            </a:r>
            <a:endParaRPr b="0" i="0" sz="1800" u="none" cap="none" strike="noStrike">
              <a:solidFill>
                <a:schemeClr val="dk1"/>
              </a:solidFill>
              <a:latin typeface="Arial"/>
              <a:ea typeface="Arial"/>
              <a:cs typeface="Arial"/>
              <a:sym typeface="Arial"/>
            </a:endParaRPr>
          </a:p>
        </p:txBody>
      </p:sp>
      <p:sp>
        <p:nvSpPr>
          <p:cNvPr id="213" name="Google Shape;213;p8"/>
          <p:cNvSpPr/>
          <p:nvPr/>
        </p:nvSpPr>
        <p:spPr>
          <a:xfrm>
            <a:off x="822960" y="2499004"/>
            <a:ext cx="2121408"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776"/>
              </a:buClr>
              <a:buSzPts val="1300"/>
              <a:buFont typeface="Arial"/>
              <a:buNone/>
            </a:pPr>
            <a:r>
              <a:rPr b="0" i="0" lang="en-US" sz="1300" u="none" cap="none" strike="noStrike">
                <a:solidFill>
                  <a:srgbClr val="5B6776"/>
                </a:solidFill>
                <a:latin typeface="Arial"/>
                <a:ea typeface="Arial"/>
                <a:cs typeface="Arial"/>
                <a:sym typeface="Arial"/>
              </a:rPr>
              <a:t>Filtered the dataset to senior and leadership roles and created a recent-exit indicator for 2024–2025.</a:t>
            </a:r>
            <a:endParaRPr b="0" i="0" sz="1300" u="none" cap="none" strike="noStrike">
              <a:solidFill>
                <a:schemeClr val="dk1"/>
              </a:solidFill>
              <a:latin typeface="Arial"/>
              <a:ea typeface="Arial"/>
              <a:cs typeface="Arial"/>
              <a:sym typeface="Arial"/>
            </a:endParaRPr>
          </a:p>
        </p:txBody>
      </p:sp>
      <p:sp>
        <p:nvSpPr>
          <p:cNvPr id="214" name="Google Shape;214;p8"/>
          <p:cNvSpPr/>
          <p:nvPr/>
        </p:nvSpPr>
        <p:spPr>
          <a:xfrm>
            <a:off x="3209544" y="2340864"/>
            <a:ext cx="256032" cy="292608"/>
          </a:xfrm>
          <a:prstGeom prst="chevron">
            <a:avLst>
              <a:gd fmla="val 50000" name="adj"/>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5" name="Google Shape;215;p8"/>
          <p:cNvSpPr/>
          <p:nvPr/>
        </p:nvSpPr>
        <p:spPr>
          <a:xfrm>
            <a:off x="3493008" y="1600200"/>
            <a:ext cx="2487168" cy="2148840"/>
          </a:xfrm>
          <a:prstGeom prst="roundRect">
            <a:avLst>
              <a:gd fmla="val 4255"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6" name="Google Shape;216;p8"/>
          <p:cNvSpPr/>
          <p:nvPr/>
        </p:nvSpPr>
        <p:spPr>
          <a:xfrm>
            <a:off x="3657600" y="1847088"/>
            <a:ext cx="2103120"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2. Prepare the dataset</a:t>
            </a:r>
            <a:endParaRPr b="0" i="0" sz="1800" u="none" cap="none" strike="noStrike">
              <a:solidFill>
                <a:schemeClr val="dk1"/>
              </a:solidFill>
              <a:latin typeface="Arial"/>
              <a:ea typeface="Arial"/>
              <a:cs typeface="Arial"/>
              <a:sym typeface="Arial"/>
            </a:endParaRPr>
          </a:p>
        </p:txBody>
      </p:sp>
      <p:sp>
        <p:nvSpPr>
          <p:cNvPr id="217" name="Google Shape;217;p8"/>
          <p:cNvSpPr/>
          <p:nvPr/>
        </p:nvSpPr>
        <p:spPr>
          <a:xfrm>
            <a:off x="3657600" y="2499004"/>
            <a:ext cx="2121408"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776"/>
              </a:buClr>
              <a:buSzPts val="1300"/>
              <a:buFont typeface="Arial"/>
              <a:buNone/>
            </a:pPr>
            <a:r>
              <a:rPr b="0" i="0" lang="en-US" sz="1300" u="none" cap="none" strike="noStrike">
                <a:solidFill>
                  <a:srgbClr val="5B6776"/>
                </a:solidFill>
                <a:latin typeface="Arial"/>
                <a:ea typeface="Arial"/>
                <a:cs typeface="Arial"/>
                <a:sym typeface="Arial"/>
              </a:rPr>
              <a:t>Cleaned fields, standardized scales, grouped tenure and requested missing exit and job-title information.</a:t>
            </a:r>
            <a:endParaRPr b="0" i="0" sz="1300" u="none" cap="none" strike="noStrike">
              <a:solidFill>
                <a:schemeClr val="dk1"/>
              </a:solidFill>
              <a:latin typeface="Arial"/>
              <a:ea typeface="Arial"/>
              <a:cs typeface="Arial"/>
              <a:sym typeface="Arial"/>
            </a:endParaRPr>
          </a:p>
        </p:txBody>
      </p:sp>
      <p:sp>
        <p:nvSpPr>
          <p:cNvPr id="218" name="Google Shape;218;p8"/>
          <p:cNvSpPr/>
          <p:nvPr/>
        </p:nvSpPr>
        <p:spPr>
          <a:xfrm>
            <a:off x="6044184" y="2340864"/>
            <a:ext cx="256032" cy="292608"/>
          </a:xfrm>
          <a:prstGeom prst="chevron">
            <a:avLst>
              <a:gd fmla="val 50000" name="adj"/>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8"/>
          <p:cNvSpPr/>
          <p:nvPr/>
        </p:nvSpPr>
        <p:spPr>
          <a:xfrm>
            <a:off x="6327648" y="1600200"/>
            <a:ext cx="2487168" cy="2148840"/>
          </a:xfrm>
          <a:prstGeom prst="roundRect">
            <a:avLst>
              <a:gd fmla="val 4255"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8"/>
          <p:cNvSpPr/>
          <p:nvPr/>
        </p:nvSpPr>
        <p:spPr>
          <a:xfrm>
            <a:off x="6492240" y="1847088"/>
            <a:ext cx="2103120"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3. Segment and test</a:t>
            </a:r>
            <a:endParaRPr b="0" i="0" sz="1800" u="none" cap="none" strike="noStrike">
              <a:solidFill>
                <a:schemeClr val="dk1"/>
              </a:solidFill>
              <a:latin typeface="Arial"/>
              <a:ea typeface="Arial"/>
              <a:cs typeface="Arial"/>
              <a:sym typeface="Arial"/>
            </a:endParaRPr>
          </a:p>
        </p:txBody>
      </p:sp>
      <p:sp>
        <p:nvSpPr>
          <p:cNvPr id="221" name="Google Shape;221;p8"/>
          <p:cNvSpPr/>
          <p:nvPr/>
        </p:nvSpPr>
        <p:spPr>
          <a:xfrm>
            <a:off x="6492240" y="2499004"/>
            <a:ext cx="2121408"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776"/>
              </a:buClr>
              <a:buSzPts val="1300"/>
              <a:buFont typeface="Arial"/>
              <a:buNone/>
            </a:pPr>
            <a:r>
              <a:rPr b="0" i="0" lang="en-US" sz="1300" u="none" cap="none" strike="noStrike">
                <a:solidFill>
                  <a:srgbClr val="5B6776"/>
                </a:solidFill>
                <a:latin typeface="Arial"/>
                <a:ea typeface="Arial"/>
                <a:cs typeface="Arial"/>
                <a:sym typeface="Arial"/>
              </a:rPr>
              <a:t>Used pivot tables, descriptive comparisons, chi-square tests, t-tests and correlations.</a:t>
            </a:r>
            <a:endParaRPr b="0" i="0" sz="1300" u="none" cap="none" strike="noStrike">
              <a:solidFill>
                <a:schemeClr val="dk1"/>
              </a:solidFill>
              <a:latin typeface="Arial"/>
              <a:ea typeface="Arial"/>
              <a:cs typeface="Arial"/>
              <a:sym typeface="Arial"/>
            </a:endParaRPr>
          </a:p>
        </p:txBody>
      </p:sp>
      <p:sp>
        <p:nvSpPr>
          <p:cNvPr id="222" name="Google Shape;222;p8"/>
          <p:cNvSpPr/>
          <p:nvPr/>
        </p:nvSpPr>
        <p:spPr>
          <a:xfrm>
            <a:off x="8878824" y="2340864"/>
            <a:ext cx="256032" cy="292608"/>
          </a:xfrm>
          <a:prstGeom prst="chevron">
            <a:avLst>
              <a:gd fmla="val 50000" name="adj"/>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3" name="Google Shape;223;p8"/>
          <p:cNvSpPr/>
          <p:nvPr/>
        </p:nvSpPr>
        <p:spPr>
          <a:xfrm>
            <a:off x="9162288" y="1600200"/>
            <a:ext cx="2487168" cy="2148840"/>
          </a:xfrm>
          <a:prstGeom prst="roundRect">
            <a:avLst>
              <a:gd fmla="val 4255"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 name="Google Shape;224;p8"/>
          <p:cNvSpPr/>
          <p:nvPr/>
        </p:nvSpPr>
        <p:spPr>
          <a:xfrm>
            <a:off x="9326880" y="1847088"/>
            <a:ext cx="2103120"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4. Interpret and validate</a:t>
            </a:r>
            <a:endParaRPr b="0" i="0" sz="1800" u="none" cap="none" strike="noStrike">
              <a:solidFill>
                <a:schemeClr val="dk1"/>
              </a:solidFill>
              <a:latin typeface="Arial"/>
              <a:ea typeface="Arial"/>
              <a:cs typeface="Arial"/>
              <a:sym typeface="Arial"/>
            </a:endParaRPr>
          </a:p>
        </p:txBody>
      </p:sp>
      <p:sp>
        <p:nvSpPr>
          <p:cNvPr id="225" name="Google Shape;225;p8"/>
          <p:cNvSpPr/>
          <p:nvPr/>
        </p:nvSpPr>
        <p:spPr>
          <a:xfrm>
            <a:off x="9326880" y="2499004"/>
            <a:ext cx="2121408"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776"/>
              </a:buClr>
              <a:buSzPts val="1300"/>
              <a:buFont typeface="Arial"/>
              <a:buNone/>
            </a:pPr>
            <a:r>
              <a:rPr b="0" i="0" lang="en-US" sz="1300" u="none" cap="none" strike="noStrike">
                <a:solidFill>
                  <a:srgbClr val="5B6776"/>
                </a:solidFill>
                <a:latin typeface="Arial"/>
                <a:ea typeface="Arial"/>
                <a:cs typeface="Arial"/>
                <a:sym typeface="Arial"/>
              </a:rPr>
              <a:t>Compared patterns across tenure, department and engagement variables, then translated results for decision-makers.</a:t>
            </a:r>
            <a:endParaRPr b="0" i="0" sz="1300" u="none" cap="none" strike="noStrike">
              <a:solidFill>
                <a:schemeClr val="dk1"/>
              </a:solidFill>
              <a:latin typeface="Arial"/>
              <a:ea typeface="Arial"/>
              <a:cs typeface="Arial"/>
              <a:sym typeface="Arial"/>
            </a:endParaRPr>
          </a:p>
        </p:txBody>
      </p:sp>
      <p:sp>
        <p:nvSpPr>
          <p:cNvPr id="226" name="Google Shape;226;p8"/>
          <p:cNvSpPr/>
          <p:nvPr/>
        </p:nvSpPr>
        <p:spPr>
          <a:xfrm>
            <a:off x="658368" y="4160520"/>
            <a:ext cx="5349240" cy="1783080"/>
          </a:xfrm>
          <a:prstGeom prst="roundRect">
            <a:avLst>
              <a:gd fmla="val 6154"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7" name="Google Shape;227;p8"/>
          <p:cNvSpPr/>
          <p:nvPr/>
        </p:nvSpPr>
        <p:spPr>
          <a:xfrm>
            <a:off x="914400" y="4462272"/>
            <a:ext cx="25603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Key inputs and derived fields</a:t>
            </a:r>
            <a:endParaRPr b="0" i="0" sz="1300" u="none" cap="none" strike="noStrike">
              <a:solidFill>
                <a:schemeClr val="dk1"/>
              </a:solidFill>
              <a:latin typeface="Arial"/>
              <a:ea typeface="Arial"/>
              <a:cs typeface="Arial"/>
              <a:sym typeface="Arial"/>
            </a:endParaRPr>
          </a:p>
        </p:txBody>
      </p:sp>
      <p:sp>
        <p:nvSpPr>
          <p:cNvPr id="228" name="Google Shape;228;p8"/>
          <p:cNvSpPr/>
          <p:nvPr/>
        </p:nvSpPr>
        <p:spPr>
          <a:xfrm>
            <a:off x="914400" y="4779624"/>
            <a:ext cx="4709160" cy="841248"/>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Core variables: tenure, years in role, department, leadership level, travel, work-life balance, job satisfaction, performance and salary increase.</a:t>
            </a:r>
            <a:endParaRPr b="0" i="0" sz="1295" u="none" cap="none" strike="noStrike">
              <a:solidFill>
                <a:schemeClr val="dk1"/>
              </a:solidFill>
              <a:latin typeface="Arial"/>
              <a:ea typeface="Arial"/>
              <a:cs typeface="Arial"/>
              <a:sym typeface="Arial"/>
            </a:endParaRPr>
          </a:p>
          <a:p>
            <a:pPr indent="0" lvl="0" marL="0" marR="0" rtl="0" algn="l">
              <a:lnSpc>
                <a:spcPct val="8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Derived variables: tenure stage, attrition indicator, leadership filter, recent-exit flag and overall engagement score.</a:t>
            </a:r>
            <a:endParaRPr b="0" i="0" sz="1295" u="none" cap="none" strike="noStrike">
              <a:solidFill>
                <a:schemeClr val="dk1"/>
              </a:solidFill>
              <a:latin typeface="Arial"/>
              <a:ea typeface="Arial"/>
              <a:cs typeface="Arial"/>
              <a:sym typeface="Arial"/>
            </a:endParaRPr>
          </a:p>
        </p:txBody>
      </p:sp>
      <p:sp>
        <p:nvSpPr>
          <p:cNvPr id="229" name="Google Shape;229;p8"/>
          <p:cNvSpPr/>
          <p:nvPr/>
        </p:nvSpPr>
        <p:spPr>
          <a:xfrm>
            <a:off x="6263640" y="4160520"/>
            <a:ext cx="5257800" cy="1783080"/>
          </a:xfrm>
          <a:prstGeom prst="roundRect">
            <a:avLst>
              <a:gd fmla="val 6154"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8"/>
          <p:cNvSpPr/>
          <p:nvPr/>
        </p:nvSpPr>
        <p:spPr>
          <a:xfrm>
            <a:off x="6519672" y="4462272"/>
            <a:ext cx="19202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Important constraints</a:t>
            </a:r>
            <a:endParaRPr b="0" i="0" sz="1300" u="none" cap="none" strike="noStrike">
              <a:solidFill>
                <a:schemeClr val="dk1"/>
              </a:solidFill>
              <a:latin typeface="Arial"/>
              <a:ea typeface="Arial"/>
              <a:cs typeface="Arial"/>
              <a:sym typeface="Arial"/>
            </a:endParaRPr>
          </a:p>
        </p:txBody>
      </p:sp>
      <p:sp>
        <p:nvSpPr>
          <p:cNvPr id="231" name="Google Shape;231;p8"/>
          <p:cNvSpPr/>
          <p:nvPr/>
        </p:nvSpPr>
        <p:spPr>
          <a:xfrm>
            <a:off x="6519672" y="4779624"/>
            <a:ext cx="4526280"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The initial dataset lacked exit dates and reasons; these had to be requested and enriched.</a:t>
            </a:r>
            <a:endParaRPr b="0" i="0" sz="1295"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295"/>
              <a:buFont typeface="Arial"/>
              <a:buNone/>
            </a:pPr>
            <a:r>
              <a:rPr b="0" i="0" lang="en-US" sz="1295" u="none" cap="none" strike="noStrike">
                <a:solidFill>
                  <a:srgbClr val="243447"/>
                </a:solidFill>
                <a:latin typeface="Arial"/>
                <a:ea typeface="Arial"/>
                <a:cs typeface="Arial"/>
                <a:sym typeface="Arial"/>
              </a:rPr>
              <a:t>• Available HR variables explain where risk sits, but likely do not capture mobility, promotion or external labor-market pull.</a:t>
            </a:r>
            <a:endParaRPr b="0" i="0" sz="1295" u="none" cap="none" strike="noStrike">
              <a:solidFill>
                <a:schemeClr val="dk1"/>
              </a:solidFill>
              <a:latin typeface="Arial"/>
              <a:ea typeface="Arial"/>
              <a:cs typeface="Arial"/>
              <a:sym typeface="Arial"/>
            </a:endParaRPr>
          </a:p>
        </p:txBody>
      </p:sp>
      <p:sp>
        <p:nvSpPr>
          <p:cNvPr id="232" name="Google Shape;232;p8"/>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233" name="Google Shape;233;p8"/>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8</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9"/>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0" name="Google Shape;240;p9"/>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1" name="Google Shape;241;p9"/>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Summary of Key Insights</a:t>
            </a:r>
            <a:endParaRPr b="0" i="0" sz="2600" u="none" cap="none" strike="noStrike">
              <a:solidFill>
                <a:schemeClr val="dk1"/>
              </a:solidFill>
              <a:latin typeface="Arial"/>
              <a:ea typeface="Arial"/>
              <a:cs typeface="Arial"/>
              <a:sym typeface="Arial"/>
            </a:endParaRPr>
          </a:p>
        </p:txBody>
      </p:sp>
      <p:sp>
        <p:nvSpPr>
          <p:cNvPr id="242" name="Google Shape;242;p9"/>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FINDINGS</a:t>
            </a:r>
            <a:endParaRPr b="0" i="0" sz="800" u="none" cap="none" strike="noStrike">
              <a:solidFill>
                <a:schemeClr val="dk1"/>
              </a:solidFill>
              <a:latin typeface="Arial"/>
              <a:ea typeface="Arial"/>
              <a:cs typeface="Arial"/>
              <a:sym typeface="Arial"/>
            </a:endParaRPr>
          </a:p>
        </p:txBody>
      </p:sp>
      <p:cxnSp>
        <p:nvCxnSpPr>
          <p:cNvPr id="243" name="Google Shape;243;p9"/>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244" name="Google Shape;244;p9"/>
          <p:cNvSpPr/>
          <p:nvPr/>
        </p:nvSpPr>
        <p:spPr>
          <a:xfrm>
            <a:off x="658368" y="987552"/>
            <a:ext cx="10543032"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rPr b="0" i="0" lang="en-US" sz="1800" u="none" cap="none" strike="noStrike">
                <a:solidFill>
                  <a:srgbClr val="5B6776"/>
                </a:solidFill>
                <a:latin typeface="Arial"/>
                <a:ea typeface="Arial"/>
                <a:cs typeface="Arial"/>
                <a:sym typeface="Arial"/>
              </a:rPr>
              <a:t>Across the analysis, risk clustered around tenure stage and department more clearly than around standard engagement, pay or performance variables.</a:t>
            </a:r>
            <a:endParaRPr b="0" i="0" sz="1800" u="none" cap="none" strike="noStrike">
              <a:solidFill>
                <a:schemeClr val="dk1"/>
              </a:solidFill>
              <a:latin typeface="Arial"/>
              <a:ea typeface="Arial"/>
              <a:cs typeface="Arial"/>
              <a:sym typeface="Arial"/>
            </a:endParaRPr>
          </a:p>
        </p:txBody>
      </p:sp>
      <p:sp>
        <p:nvSpPr>
          <p:cNvPr id="245" name="Google Shape;245;p9"/>
          <p:cNvSpPr/>
          <p:nvPr/>
        </p:nvSpPr>
        <p:spPr>
          <a:xfrm>
            <a:off x="658368" y="1572768"/>
            <a:ext cx="6263640" cy="4526280"/>
          </a:xfrm>
          <a:prstGeom prst="roundRect">
            <a:avLst>
              <a:gd fmla="val 2424"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6" name="Google Shape;246;p9"/>
          <p:cNvSpPr/>
          <p:nvPr/>
        </p:nvSpPr>
        <p:spPr>
          <a:xfrm>
            <a:off x="914400" y="1920240"/>
            <a:ext cx="5486400" cy="365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700"/>
              <a:buFont typeface="Arial"/>
              <a:buNone/>
            </a:pPr>
            <a:r>
              <a:rPr b="0" i="0" lang="en-US" sz="1700" u="none" cap="none" strike="noStrike">
                <a:solidFill>
                  <a:srgbClr val="243447"/>
                </a:solidFill>
                <a:latin typeface="Arial"/>
                <a:ea typeface="Arial"/>
                <a:cs typeface="Arial"/>
                <a:sym typeface="Arial"/>
              </a:rPr>
              <a:t>• Tenure matters, but in two different ways: early tenure shows the highest attrition rate, while mid-tenure holds the largest exit volume.</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700"/>
              <a:buFont typeface="Arial"/>
              <a:buNone/>
            </a:pPr>
            <a:r>
              <a:rPr b="0" i="0" lang="en-US" sz="1700" u="none" cap="none" strike="noStrike">
                <a:solidFill>
                  <a:srgbClr val="243447"/>
                </a:solidFill>
                <a:latin typeface="Arial"/>
                <a:ea typeface="Arial"/>
                <a:cs typeface="Arial"/>
                <a:sym typeface="Arial"/>
              </a:rPr>
              <a:t>• Research &amp; Development is the main structural hotspot for recent leadership exits.</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700"/>
              <a:buFont typeface="Arial"/>
              <a:buNone/>
            </a:pPr>
            <a:r>
              <a:rPr b="0" i="0" lang="en-US" sz="1700" u="none" cap="none" strike="noStrike">
                <a:solidFill>
                  <a:srgbClr val="243447"/>
                </a:solidFill>
                <a:latin typeface="Arial"/>
                <a:ea typeface="Arial"/>
                <a:cs typeface="Arial"/>
                <a:sym typeface="Arial"/>
              </a:rPr>
              <a:t>• Sales appears to be a smaller but newer risk pocket that should be monitored before it grows.</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700"/>
              <a:buFont typeface="Arial"/>
              <a:buNone/>
            </a:pPr>
            <a:r>
              <a:rPr b="0" i="0" lang="en-US" sz="1700" u="none" cap="none" strike="noStrike">
                <a:solidFill>
                  <a:srgbClr val="243447"/>
                </a:solidFill>
                <a:latin typeface="Arial"/>
                <a:ea typeface="Arial"/>
                <a:cs typeface="Arial"/>
                <a:sym typeface="Arial"/>
              </a:rPr>
              <a:t>• Years in role, work-life balance, salary increases and performance ratings show only minimal differences between leavers and non-leavers.</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700"/>
              <a:buFont typeface="Arial"/>
              <a:buNone/>
            </a:pPr>
            <a:r>
              <a:rPr b="0" i="0" lang="en-US" sz="1700" u="none" cap="none" strike="noStrike">
                <a:solidFill>
                  <a:srgbClr val="243447"/>
                </a:solidFill>
                <a:latin typeface="Arial"/>
                <a:ea typeface="Arial"/>
                <a:cs typeface="Arial"/>
                <a:sym typeface="Arial"/>
              </a:rPr>
              <a:t>• The current dataset points to likely missing drivers such as promotion timing, internal mobility, exit reasons and external market pull.</a:t>
            </a:r>
            <a:endParaRPr b="0" i="0" sz="1700" u="none" cap="none" strike="noStrike">
              <a:solidFill>
                <a:schemeClr val="dk1"/>
              </a:solidFill>
              <a:latin typeface="Arial"/>
              <a:ea typeface="Arial"/>
              <a:cs typeface="Arial"/>
              <a:sym typeface="Arial"/>
            </a:endParaRPr>
          </a:p>
        </p:txBody>
      </p:sp>
      <p:sp>
        <p:nvSpPr>
          <p:cNvPr id="247" name="Google Shape;247;p9"/>
          <p:cNvSpPr/>
          <p:nvPr/>
        </p:nvSpPr>
        <p:spPr>
          <a:xfrm>
            <a:off x="7360920" y="1755648"/>
            <a:ext cx="3840480" cy="1207008"/>
          </a:xfrm>
          <a:prstGeom prst="roundRect">
            <a:avLst>
              <a:gd fmla="val 606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1_chart.png" id="248" name="Google Shape;248;p9"/>
          <p:cNvPicPr preferRelativeResize="0"/>
          <p:nvPr/>
        </p:nvPicPr>
        <p:blipFill rotWithShape="1">
          <a:blip r:embed="rId3">
            <a:alphaModFix/>
          </a:blip>
          <a:srcRect b="0" l="0" r="0" t="0"/>
          <a:stretch/>
        </p:blipFill>
        <p:spPr>
          <a:xfrm>
            <a:off x="8349026" y="1828800"/>
            <a:ext cx="1864268" cy="1060704"/>
          </a:xfrm>
          <a:prstGeom prst="rect">
            <a:avLst/>
          </a:prstGeom>
          <a:noFill/>
          <a:ln>
            <a:noFill/>
          </a:ln>
        </p:spPr>
      </p:pic>
      <p:sp>
        <p:nvSpPr>
          <p:cNvPr id="249" name="Google Shape;249;p9"/>
          <p:cNvSpPr/>
          <p:nvPr/>
        </p:nvSpPr>
        <p:spPr>
          <a:xfrm>
            <a:off x="7360920" y="3182112"/>
            <a:ext cx="3840480" cy="1207008"/>
          </a:xfrm>
          <a:prstGeom prst="roundRect">
            <a:avLst>
              <a:gd fmla="val 606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3_chart.png" id="250" name="Google Shape;250;p9"/>
          <p:cNvPicPr preferRelativeResize="0"/>
          <p:nvPr/>
        </p:nvPicPr>
        <p:blipFill rotWithShape="1">
          <a:blip r:embed="rId4">
            <a:alphaModFix/>
          </a:blip>
          <a:srcRect b="0" l="0" r="0" t="0"/>
          <a:stretch/>
        </p:blipFill>
        <p:spPr>
          <a:xfrm>
            <a:off x="8088551" y="3255264"/>
            <a:ext cx="2385217" cy="1060704"/>
          </a:xfrm>
          <a:prstGeom prst="rect">
            <a:avLst/>
          </a:prstGeom>
          <a:noFill/>
          <a:ln>
            <a:noFill/>
          </a:ln>
        </p:spPr>
      </p:pic>
      <p:sp>
        <p:nvSpPr>
          <p:cNvPr id="251" name="Google Shape;251;p9"/>
          <p:cNvSpPr/>
          <p:nvPr/>
        </p:nvSpPr>
        <p:spPr>
          <a:xfrm>
            <a:off x="7360920" y="4608576"/>
            <a:ext cx="3840480" cy="1207008"/>
          </a:xfrm>
          <a:prstGeom prst="roundRect">
            <a:avLst>
              <a:gd fmla="val 606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8_chart.png" id="252" name="Google Shape;252;p9"/>
          <p:cNvPicPr preferRelativeResize="0"/>
          <p:nvPr/>
        </p:nvPicPr>
        <p:blipFill rotWithShape="1">
          <a:blip r:embed="rId5">
            <a:alphaModFix/>
          </a:blip>
          <a:srcRect b="0" l="0" r="0" t="0"/>
          <a:stretch/>
        </p:blipFill>
        <p:spPr>
          <a:xfrm>
            <a:off x="8258887" y="4681728"/>
            <a:ext cx="2044545" cy="1060704"/>
          </a:xfrm>
          <a:prstGeom prst="rect">
            <a:avLst/>
          </a:prstGeom>
          <a:noFill/>
          <a:ln>
            <a:noFill/>
          </a:ln>
        </p:spPr>
      </p:pic>
      <p:sp>
        <p:nvSpPr>
          <p:cNvPr id="253" name="Google Shape;253;p9"/>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254" name="Google Shape;254;p9"/>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9</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0"/>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1" name="Google Shape;261;p10"/>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2" name="Google Shape;262;p10"/>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Deep Dive: Tenure Dynamics</a:t>
            </a:r>
            <a:endParaRPr b="0" i="0" sz="2600" u="none" cap="none" strike="noStrike">
              <a:solidFill>
                <a:schemeClr val="dk1"/>
              </a:solidFill>
              <a:latin typeface="Arial"/>
              <a:ea typeface="Arial"/>
              <a:cs typeface="Arial"/>
              <a:sym typeface="Arial"/>
            </a:endParaRPr>
          </a:p>
        </p:txBody>
      </p:sp>
      <p:sp>
        <p:nvSpPr>
          <p:cNvPr id="263" name="Google Shape;263;p10"/>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INSIGHT 1</a:t>
            </a:r>
            <a:endParaRPr b="0" i="0" sz="800" u="none" cap="none" strike="noStrike">
              <a:solidFill>
                <a:schemeClr val="dk1"/>
              </a:solidFill>
              <a:latin typeface="Arial"/>
              <a:ea typeface="Arial"/>
              <a:cs typeface="Arial"/>
              <a:sym typeface="Arial"/>
            </a:endParaRPr>
          </a:p>
        </p:txBody>
      </p:sp>
      <p:cxnSp>
        <p:nvCxnSpPr>
          <p:cNvPr id="264" name="Google Shape;264;p10"/>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265" name="Google Shape;265;p10"/>
          <p:cNvSpPr/>
          <p:nvPr/>
        </p:nvSpPr>
        <p:spPr>
          <a:xfrm>
            <a:off x="658368" y="987552"/>
            <a:ext cx="10863072"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rPr b="0" i="0" lang="en-US" sz="1800" u="none" cap="none" strike="noStrike">
                <a:solidFill>
                  <a:srgbClr val="5B6776"/>
                </a:solidFill>
                <a:latin typeface="Arial"/>
                <a:ea typeface="Arial"/>
                <a:cs typeface="Arial"/>
                <a:sym typeface="Arial"/>
              </a:rPr>
              <a:t>Tenure patterns suggest two different retention needs: leader integration at the start, and career-path support in the middle of the leadership journey.</a:t>
            </a:r>
            <a:endParaRPr b="0" i="0" sz="1800" u="none" cap="none" strike="noStrike">
              <a:solidFill>
                <a:schemeClr val="dk1"/>
              </a:solidFill>
              <a:latin typeface="Arial"/>
              <a:ea typeface="Arial"/>
              <a:cs typeface="Arial"/>
              <a:sym typeface="Arial"/>
            </a:endParaRPr>
          </a:p>
        </p:txBody>
      </p:sp>
      <p:sp>
        <p:nvSpPr>
          <p:cNvPr id="266" name="Google Shape;266;p10"/>
          <p:cNvSpPr/>
          <p:nvPr/>
        </p:nvSpPr>
        <p:spPr>
          <a:xfrm>
            <a:off x="658368" y="1572768"/>
            <a:ext cx="5440680" cy="3429000"/>
          </a:xfrm>
          <a:prstGeom prst="roundRect">
            <a:avLst>
              <a:gd fmla="val 2133"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1_chart.png" id="267" name="Google Shape;267;p10"/>
          <p:cNvPicPr preferRelativeResize="0"/>
          <p:nvPr/>
        </p:nvPicPr>
        <p:blipFill rotWithShape="1">
          <a:blip r:embed="rId3">
            <a:alphaModFix/>
          </a:blip>
          <a:srcRect b="0" l="0" r="0" t="0"/>
          <a:stretch/>
        </p:blipFill>
        <p:spPr>
          <a:xfrm>
            <a:off x="731520" y="1781109"/>
            <a:ext cx="5294376" cy="3012317"/>
          </a:xfrm>
          <a:prstGeom prst="rect">
            <a:avLst/>
          </a:prstGeom>
          <a:noFill/>
          <a:ln>
            <a:noFill/>
          </a:ln>
        </p:spPr>
      </p:pic>
      <p:sp>
        <p:nvSpPr>
          <p:cNvPr id="268" name="Google Shape;268;p10"/>
          <p:cNvSpPr/>
          <p:nvPr/>
        </p:nvSpPr>
        <p:spPr>
          <a:xfrm>
            <a:off x="6355080" y="1572768"/>
            <a:ext cx="5166360" cy="3429000"/>
          </a:xfrm>
          <a:prstGeom prst="roundRect">
            <a:avLst>
              <a:gd fmla="val 2133"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2_chart.png" id="269" name="Google Shape;269;p10"/>
          <p:cNvPicPr preferRelativeResize="0"/>
          <p:nvPr/>
        </p:nvPicPr>
        <p:blipFill rotWithShape="1">
          <a:blip r:embed="rId4">
            <a:alphaModFix/>
          </a:blip>
          <a:srcRect b="0" l="0" r="0" t="0"/>
          <a:stretch/>
        </p:blipFill>
        <p:spPr>
          <a:xfrm>
            <a:off x="7077834" y="1645920"/>
            <a:ext cx="3720852" cy="3282696"/>
          </a:xfrm>
          <a:prstGeom prst="rect">
            <a:avLst/>
          </a:prstGeom>
          <a:noFill/>
          <a:ln>
            <a:noFill/>
          </a:ln>
        </p:spPr>
      </p:pic>
      <p:sp>
        <p:nvSpPr>
          <p:cNvPr id="270" name="Google Shape;270;p10"/>
          <p:cNvSpPr/>
          <p:nvPr/>
        </p:nvSpPr>
        <p:spPr>
          <a:xfrm>
            <a:off x="658368" y="5257800"/>
            <a:ext cx="10863072" cy="731520"/>
          </a:xfrm>
          <a:prstGeom prst="roundRect">
            <a:avLst>
              <a:gd fmla="val 10000" name="adj"/>
            </a:avLst>
          </a:prstGeom>
          <a:solidFill>
            <a:srgbClr val="123B6D"/>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1" name="Google Shape;271;p10"/>
          <p:cNvSpPr/>
          <p:nvPr/>
        </p:nvSpPr>
        <p:spPr>
          <a:xfrm>
            <a:off x="914400" y="5468112"/>
            <a:ext cx="103327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Interpretation: retention action should not focus on a single tenure trigger. Early-tenure leaders need stronger integration and support, while mid-tenure leaders need clear mobility, recognition and growth pathways.</a:t>
            </a:r>
            <a:endParaRPr b="0" i="0" sz="1600" u="none" cap="none" strike="noStrike">
              <a:solidFill>
                <a:schemeClr val="dk1"/>
              </a:solidFill>
              <a:latin typeface="Arial"/>
              <a:ea typeface="Arial"/>
              <a:cs typeface="Arial"/>
              <a:sym typeface="Arial"/>
            </a:endParaRPr>
          </a:p>
        </p:txBody>
      </p:sp>
      <p:sp>
        <p:nvSpPr>
          <p:cNvPr id="272" name="Google Shape;272;p10"/>
          <p:cNvSpPr/>
          <p:nvPr/>
        </p:nvSpPr>
        <p:spPr>
          <a:xfrm>
            <a:off x="694944" y="6153912"/>
            <a:ext cx="8741664"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100"/>
              <a:buFont typeface="Arial"/>
              <a:buNone/>
            </a:pPr>
            <a:r>
              <a:rPr b="0" i="0" lang="en-US" sz="1100" u="none" cap="none" strike="noStrike">
                <a:solidFill>
                  <a:srgbClr val="5B6776"/>
                </a:solidFill>
                <a:latin typeface="Arial"/>
                <a:ea typeface="Arial"/>
                <a:cs typeface="Arial"/>
                <a:sym typeface="Arial"/>
              </a:rPr>
              <a:t>Key evidence: mid-tenure recorded 74 recent exits; long tenure recorded 141 exits versus 187 across all other tenure stages combined.</a:t>
            </a:r>
            <a:endParaRPr b="0" i="0" sz="1100" u="none" cap="none" strike="noStrike">
              <a:solidFill>
                <a:schemeClr val="dk1"/>
              </a:solidFill>
              <a:latin typeface="Arial"/>
              <a:ea typeface="Arial"/>
              <a:cs typeface="Arial"/>
              <a:sym typeface="Arial"/>
            </a:endParaRPr>
          </a:p>
        </p:txBody>
      </p:sp>
      <p:sp>
        <p:nvSpPr>
          <p:cNvPr id="273" name="Google Shape;273;p10"/>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274" name="Google Shape;274;p10"/>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10</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1"/>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1" name="Google Shape;281;p11"/>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2" name="Google Shape;282;p11"/>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Deep Dive: Department Concentration</a:t>
            </a:r>
            <a:endParaRPr b="0" i="0" sz="2600" u="none" cap="none" strike="noStrike">
              <a:solidFill>
                <a:schemeClr val="dk1"/>
              </a:solidFill>
              <a:latin typeface="Arial"/>
              <a:ea typeface="Arial"/>
              <a:cs typeface="Arial"/>
              <a:sym typeface="Arial"/>
            </a:endParaRPr>
          </a:p>
        </p:txBody>
      </p:sp>
      <p:sp>
        <p:nvSpPr>
          <p:cNvPr id="283" name="Google Shape;283;p11"/>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INSIGHT 2</a:t>
            </a:r>
            <a:endParaRPr b="0" i="0" sz="800" u="none" cap="none" strike="noStrike">
              <a:solidFill>
                <a:schemeClr val="dk1"/>
              </a:solidFill>
              <a:latin typeface="Arial"/>
              <a:ea typeface="Arial"/>
              <a:cs typeface="Arial"/>
              <a:sym typeface="Arial"/>
            </a:endParaRPr>
          </a:p>
        </p:txBody>
      </p:sp>
      <p:cxnSp>
        <p:nvCxnSpPr>
          <p:cNvPr id="284" name="Google Shape;284;p11"/>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285" name="Google Shape;285;p11"/>
          <p:cNvSpPr/>
          <p:nvPr/>
        </p:nvSpPr>
        <p:spPr>
          <a:xfrm>
            <a:off x="658368" y="987552"/>
            <a:ext cx="10863072"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rPr b="0" i="0" lang="en-US" sz="1800" u="none" cap="none" strike="noStrike">
                <a:solidFill>
                  <a:srgbClr val="5B6776"/>
                </a:solidFill>
                <a:latin typeface="Arial"/>
                <a:ea typeface="Arial"/>
                <a:cs typeface="Arial"/>
                <a:sym typeface="Arial"/>
              </a:rPr>
              <a:t>Department risk is not evenly distributed. The evidence points to one chronic hotspot and one smaller emerging one.</a:t>
            </a:r>
            <a:endParaRPr b="0" i="0" sz="1800" u="none" cap="none" strike="noStrike">
              <a:solidFill>
                <a:schemeClr val="dk1"/>
              </a:solidFill>
              <a:latin typeface="Arial"/>
              <a:ea typeface="Arial"/>
              <a:cs typeface="Arial"/>
              <a:sym typeface="Arial"/>
            </a:endParaRPr>
          </a:p>
        </p:txBody>
      </p:sp>
      <p:sp>
        <p:nvSpPr>
          <p:cNvPr id="286" name="Google Shape;286;p11"/>
          <p:cNvSpPr/>
          <p:nvPr/>
        </p:nvSpPr>
        <p:spPr>
          <a:xfrm>
            <a:off x="658368" y="1572768"/>
            <a:ext cx="5687568" cy="3566160"/>
          </a:xfrm>
          <a:prstGeom prst="roundRect">
            <a:avLst>
              <a:gd fmla="val 205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3_chart.png" id="287" name="Google Shape;287;p11"/>
          <p:cNvPicPr preferRelativeResize="0"/>
          <p:nvPr/>
        </p:nvPicPr>
        <p:blipFill rotWithShape="1">
          <a:blip r:embed="rId3">
            <a:alphaModFix/>
          </a:blip>
          <a:srcRect b="0" l="0" r="0" t="0"/>
          <a:stretch/>
        </p:blipFill>
        <p:spPr>
          <a:xfrm>
            <a:off x="731520" y="2123750"/>
            <a:ext cx="5541264" cy="2464195"/>
          </a:xfrm>
          <a:prstGeom prst="rect">
            <a:avLst/>
          </a:prstGeom>
          <a:noFill/>
          <a:ln>
            <a:noFill/>
          </a:ln>
        </p:spPr>
      </p:pic>
      <p:sp>
        <p:nvSpPr>
          <p:cNvPr id="288" name="Google Shape;288;p11"/>
          <p:cNvSpPr/>
          <p:nvPr/>
        </p:nvSpPr>
        <p:spPr>
          <a:xfrm>
            <a:off x="6556248" y="1572768"/>
            <a:ext cx="4965192" cy="3566160"/>
          </a:xfrm>
          <a:prstGeom prst="roundRect">
            <a:avLst>
              <a:gd fmla="val 205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5_chart.png" id="289" name="Google Shape;289;p11"/>
          <p:cNvPicPr preferRelativeResize="0"/>
          <p:nvPr/>
        </p:nvPicPr>
        <p:blipFill rotWithShape="1">
          <a:blip r:embed="rId4">
            <a:alphaModFix/>
          </a:blip>
          <a:srcRect b="0" l="0" r="0" t="0"/>
          <a:stretch/>
        </p:blipFill>
        <p:spPr>
          <a:xfrm>
            <a:off x="6629400" y="1887593"/>
            <a:ext cx="4818888" cy="2936510"/>
          </a:xfrm>
          <a:prstGeom prst="rect">
            <a:avLst/>
          </a:prstGeom>
          <a:noFill/>
          <a:ln>
            <a:noFill/>
          </a:ln>
        </p:spPr>
      </p:pic>
      <p:sp>
        <p:nvSpPr>
          <p:cNvPr id="290" name="Google Shape;290;p11"/>
          <p:cNvSpPr/>
          <p:nvPr/>
        </p:nvSpPr>
        <p:spPr>
          <a:xfrm>
            <a:off x="868680" y="5440680"/>
            <a:ext cx="3401568" cy="713232"/>
          </a:xfrm>
          <a:prstGeom prst="roundRect">
            <a:avLst>
              <a:gd fmla="val 10256"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1" name="Google Shape;291;p11"/>
          <p:cNvSpPr/>
          <p:nvPr/>
        </p:nvSpPr>
        <p:spPr>
          <a:xfrm>
            <a:off x="1143000" y="5694024"/>
            <a:ext cx="283464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800"/>
              <a:buFont typeface="Arial"/>
              <a:buNone/>
            </a:pPr>
            <a:r>
              <a:rPr b="1" i="0" lang="en-US" sz="1800" u="none" cap="none" strike="noStrike">
                <a:solidFill>
                  <a:srgbClr val="123B6D"/>
                </a:solidFill>
                <a:latin typeface="Arial"/>
                <a:ea typeface="Arial"/>
                <a:cs typeface="Arial"/>
                <a:sym typeface="Arial"/>
              </a:rPr>
              <a:t>R&amp;D is the chronic hotspot</a:t>
            </a:r>
            <a:endParaRPr b="0" i="0" sz="1800" u="none" cap="none" strike="noStrike">
              <a:solidFill>
                <a:schemeClr val="dk1"/>
              </a:solidFill>
              <a:latin typeface="Arial"/>
              <a:ea typeface="Arial"/>
              <a:cs typeface="Arial"/>
              <a:sym typeface="Arial"/>
            </a:endParaRPr>
          </a:p>
        </p:txBody>
      </p:sp>
      <p:sp>
        <p:nvSpPr>
          <p:cNvPr id="292" name="Google Shape;292;p11"/>
          <p:cNvSpPr/>
          <p:nvPr/>
        </p:nvSpPr>
        <p:spPr>
          <a:xfrm>
            <a:off x="4462272" y="5440680"/>
            <a:ext cx="3401568" cy="713232"/>
          </a:xfrm>
          <a:prstGeom prst="roundRect">
            <a:avLst>
              <a:gd fmla="val 10256"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3" name="Google Shape;293;p11"/>
          <p:cNvSpPr/>
          <p:nvPr/>
        </p:nvSpPr>
        <p:spPr>
          <a:xfrm>
            <a:off x="4736592" y="5694024"/>
            <a:ext cx="283464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800"/>
              <a:buFont typeface="Arial"/>
              <a:buNone/>
            </a:pPr>
            <a:r>
              <a:rPr b="1" i="0" lang="en-US" sz="1800" u="none" cap="none" strike="noStrike">
                <a:solidFill>
                  <a:srgbClr val="123B6D"/>
                </a:solidFill>
                <a:latin typeface="Arial"/>
                <a:ea typeface="Arial"/>
                <a:cs typeface="Arial"/>
                <a:sym typeface="Arial"/>
              </a:rPr>
              <a:t>Sales shows newer risk</a:t>
            </a:r>
            <a:endParaRPr b="0" i="0" sz="1800" u="none" cap="none" strike="noStrike">
              <a:solidFill>
                <a:schemeClr val="dk1"/>
              </a:solidFill>
              <a:latin typeface="Arial"/>
              <a:ea typeface="Arial"/>
              <a:cs typeface="Arial"/>
              <a:sym typeface="Arial"/>
            </a:endParaRPr>
          </a:p>
        </p:txBody>
      </p:sp>
      <p:sp>
        <p:nvSpPr>
          <p:cNvPr id="294" name="Google Shape;294;p11"/>
          <p:cNvSpPr/>
          <p:nvPr/>
        </p:nvSpPr>
        <p:spPr>
          <a:xfrm>
            <a:off x="8055864" y="5440680"/>
            <a:ext cx="3465576" cy="713232"/>
          </a:xfrm>
          <a:prstGeom prst="roundRect">
            <a:avLst>
              <a:gd fmla="val 10256"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5" name="Google Shape;295;p11"/>
          <p:cNvSpPr/>
          <p:nvPr/>
        </p:nvSpPr>
        <p:spPr>
          <a:xfrm>
            <a:off x="8339328" y="5694024"/>
            <a:ext cx="2926080" cy="2103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700"/>
              <a:buFont typeface="Arial"/>
              <a:buNone/>
            </a:pPr>
            <a:r>
              <a:rPr b="1" i="0" lang="en-US" sz="1700" u="none" cap="none" strike="noStrike">
                <a:solidFill>
                  <a:srgbClr val="123B6D"/>
                </a:solidFill>
                <a:latin typeface="Arial"/>
                <a:ea typeface="Arial"/>
                <a:cs typeface="Arial"/>
                <a:sym typeface="Arial"/>
              </a:rPr>
              <a:t>HR remains low-risk in this dataset</a:t>
            </a:r>
            <a:endParaRPr b="0" i="0" sz="1700" u="none" cap="none" strike="noStrike">
              <a:solidFill>
                <a:schemeClr val="dk1"/>
              </a:solidFill>
              <a:latin typeface="Arial"/>
              <a:ea typeface="Arial"/>
              <a:cs typeface="Arial"/>
              <a:sym typeface="Arial"/>
            </a:endParaRPr>
          </a:p>
        </p:txBody>
      </p:sp>
      <p:sp>
        <p:nvSpPr>
          <p:cNvPr id="296" name="Google Shape;296;p11"/>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297" name="Google Shape;297;p11"/>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11</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2"/>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4" name="Google Shape;304;p12"/>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5" name="Google Shape;305;p12"/>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Deep Dive: What Is Not Driving Exits</a:t>
            </a:r>
            <a:endParaRPr b="0" i="0" sz="2600" u="none" cap="none" strike="noStrike">
              <a:solidFill>
                <a:schemeClr val="dk1"/>
              </a:solidFill>
              <a:latin typeface="Arial"/>
              <a:ea typeface="Arial"/>
              <a:cs typeface="Arial"/>
              <a:sym typeface="Arial"/>
            </a:endParaRPr>
          </a:p>
        </p:txBody>
      </p:sp>
      <p:sp>
        <p:nvSpPr>
          <p:cNvPr id="306" name="Google Shape;306;p12"/>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INSIGHT 3</a:t>
            </a:r>
            <a:endParaRPr b="0" i="0" sz="800" u="none" cap="none" strike="noStrike">
              <a:solidFill>
                <a:schemeClr val="dk1"/>
              </a:solidFill>
              <a:latin typeface="Arial"/>
              <a:ea typeface="Arial"/>
              <a:cs typeface="Arial"/>
              <a:sym typeface="Arial"/>
            </a:endParaRPr>
          </a:p>
        </p:txBody>
      </p:sp>
      <p:cxnSp>
        <p:nvCxnSpPr>
          <p:cNvPr id="307" name="Google Shape;307;p12"/>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308" name="Google Shape;308;p12"/>
          <p:cNvSpPr/>
          <p:nvPr/>
        </p:nvSpPr>
        <p:spPr>
          <a:xfrm>
            <a:off x="658368" y="987552"/>
            <a:ext cx="10616184"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rPr b="0" i="0" lang="en-US" sz="1800" u="none" cap="none" strike="noStrike">
                <a:solidFill>
                  <a:srgbClr val="5B6776"/>
                </a:solidFill>
                <a:latin typeface="Arial"/>
                <a:ea typeface="Arial"/>
                <a:cs typeface="Arial"/>
                <a:sym typeface="Arial"/>
              </a:rPr>
              <a:t>Several commonly assumed drivers show almost no separation between leaders who exited recently and those who did not.</a:t>
            </a:r>
            <a:endParaRPr b="0" i="0" sz="1800" u="none" cap="none" strike="noStrike">
              <a:solidFill>
                <a:schemeClr val="dk1"/>
              </a:solidFill>
              <a:latin typeface="Arial"/>
              <a:ea typeface="Arial"/>
              <a:cs typeface="Arial"/>
              <a:sym typeface="Arial"/>
            </a:endParaRPr>
          </a:p>
        </p:txBody>
      </p:sp>
      <p:sp>
        <p:nvSpPr>
          <p:cNvPr id="309" name="Google Shape;309;p12"/>
          <p:cNvSpPr/>
          <p:nvPr/>
        </p:nvSpPr>
        <p:spPr>
          <a:xfrm>
            <a:off x="658368" y="1572768"/>
            <a:ext cx="2560320" cy="1965960"/>
          </a:xfrm>
          <a:prstGeom prst="roundRect">
            <a:avLst>
              <a:gd fmla="val 372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4_chart.png" id="310" name="Google Shape;310;p12"/>
          <p:cNvPicPr preferRelativeResize="0"/>
          <p:nvPr/>
        </p:nvPicPr>
        <p:blipFill rotWithShape="1">
          <a:blip r:embed="rId3">
            <a:alphaModFix/>
          </a:blip>
          <a:srcRect b="0" l="0" r="0" t="0"/>
          <a:stretch/>
        </p:blipFill>
        <p:spPr>
          <a:xfrm>
            <a:off x="731520" y="1675342"/>
            <a:ext cx="2414016" cy="1760812"/>
          </a:xfrm>
          <a:prstGeom prst="rect">
            <a:avLst/>
          </a:prstGeom>
          <a:noFill/>
          <a:ln>
            <a:noFill/>
          </a:ln>
        </p:spPr>
      </p:pic>
      <p:sp>
        <p:nvSpPr>
          <p:cNvPr id="311" name="Google Shape;311;p12"/>
          <p:cNvSpPr/>
          <p:nvPr/>
        </p:nvSpPr>
        <p:spPr>
          <a:xfrm>
            <a:off x="3319272" y="1572768"/>
            <a:ext cx="2743200" cy="1965960"/>
          </a:xfrm>
          <a:prstGeom prst="roundRect">
            <a:avLst>
              <a:gd fmla="val 372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7_chart.png" id="312" name="Google Shape;312;p12"/>
          <p:cNvPicPr preferRelativeResize="0"/>
          <p:nvPr/>
        </p:nvPicPr>
        <p:blipFill rotWithShape="1">
          <a:blip r:embed="rId4">
            <a:alphaModFix/>
          </a:blip>
          <a:srcRect b="0" l="0" r="0" t="0"/>
          <a:stretch/>
        </p:blipFill>
        <p:spPr>
          <a:xfrm>
            <a:off x="3392424" y="1767864"/>
            <a:ext cx="2596896" cy="1575769"/>
          </a:xfrm>
          <a:prstGeom prst="rect">
            <a:avLst/>
          </a:prstGeom>
          <a:noFill/>
          <a:ln>
            <a:noFill/>
          </a:ln>
        </p:spPr>
      </p:pic>
      <p:sp>
        <p:nvSpPr>
          <p:cNvPr id="313" name="Google Shape;313;p12"/>
          <p:cNvSpPr/>
          <p:nvPr/>
        </p:nvSpPr>
        <p:spPr>
          <a:xfrm>
            <a:off x="6163056" y="1572768"/>
            <a:ext cx="2560320" cy="1965960"/>
          </a:xfrm>
          <a:prstGeom prst="roundRect">
            <a:avLst>
              <a:gd fmla="val 372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9_chart.png" id="314" name="Google Shape;314;p12"/>
          <p:cNvPicPr preferRelativeResize="0"/>
          <p:nvPr/>
        </p:nvPicPr>
        <p:blipFill rotWithShape="1">
          <a:blip r:embed="rId5">
            <a:alphaModFix/>
          </a:blip>
          <a:srcRect b="0" l="0" r="0" t="0"/>
          <a:stretch/>
        </p:blipFill>
        <p:spPr>
          <a:xfrm>
            <a:off x="6252210" y="1645920"/>
            <a:ext cx="2382012" cy="1819656"/>
          </a:xfrm>
          <a:prstGeom prst="rect">
            <a:avLst/>
          </a:prstGeom>
          <a:noFill/>
          <a:ln>
            <a:noFill/>
          </a:ln>
        </p:spPr>
      </p:pic>
      <p:sp>
        <p:nvSpPr>
          <p:cNvPr id="315" name="Google Shape;315;p12"/>
          <p:cNvSpPr/>
          <p:nvPr/>
        </p:nvSpPr>
        <p:spPr>
          <a:xfrm>
            <a:off x="8823960" y="1572768"/>
            <a:ext cx="2450592" cy="1965960"/>
          </a:xfrm>
          <a:prstGeom prst="roundRect">
            <a:avLst>
              <a:gd fmla="val 372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10_chart.png" id="316" name="Google Shape;316;p12"/>
          <p:cNvPicPr preferRelativeResize="0"/>
          <p:nvPr/>
        </p:nvPicPr>
        <p:blipFill rotWithShape="1">
          <a:blip r:embed="rId6">
            <a:alphaModFix/>
          </a:blip>
          <a:srcRect b="0" l="0" r="0" t="0"/>
          <a:stretch/>
        </p:blipFill>
        <p:spPr>
          <a:xfrm>
            <a:off x="9352324" y="1645920"/>
            <a:ext cx="1393865" cy="1819656"/>
          </a:xfrm>
          <a:prstGeom prst="rect">
            <a:avLst/>
          </a:prstGeom>
          <a:noFill/>
          <a:ln>
            <a:noFill/>
          </a:ln>
        </p:spPr>
      </p:pic>
      <p:sp>
        <p:nvSpPr>
          <p:cNvPr id="317" name="Google Shape;317;p12"/>
          <p:cNvSpPr/>
          <p:nvPr/>
        </p:nvSpPr>
        <p:spPr>
          <a:xfrm>
            <a:off x="658368" y="3840480"/>
            <a:ext cx="4892040" cy="2011680"/>
          </a:xfrm>
          <a:prstGeom prst="roundRect">
            <a:avLst>
              <a:gd fmla="val 5455"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8" name="Google Shape;318;p12"/>
          <p:cNvSpPr/>
          <p:nvPr/>
        </p:nvSpPr>
        <p:spPr>
          <a:xfrm>
            <a:off x="914400" y="4096512"/>
            <a:ext cx="2286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What the numbers suggest</a:t>
            </a:r>
            <a:endParaRPr b="0" i="0" sz="1300" u="none" cap="none" strike="noStrike">
              <a:solidFill>
                <a:schemeClr val="dk1"/>
              </a:solidFill>
              <a:latin typeface="Arial"/>
              <a:ea typeface="Arial"/>
              <a:cs typeface="Arial"/>
              <a:sym typeface="Arial"/>
            </a:endParaRPr>
          </a:p>
        </p:txBody>
      </p:sp>
      <p:sp>
        <p:nvSpPr>
          <p:cNvPr id="319" name="Google Shape;319;p12"/>
          <p:cNvSpPr/>
          <p:nvPr/>
        </p:nvSpPr>
        <p:spPr>
          <a:xfrm>
            <a:off x="914400" y="4407408"/>
            <a:ext cx="4389120" cy="1208084"/>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243447"/>
              </a:buClr>
              <a:buSzPts val="1275"/>
              <a:buFont typeface="Arial"/>
              <a:buNone/>
            </a:pPr>
            <a:r>
              <a:rPr b="0" i="0" lang="en-US" sz="1275" u="none" cap="none" strike="noStrike">
                <a:solidFill>
                  <a:srgbClr val="243447"/>
                </a:solidFill>
                <a:latin typeface="Arial"/>
                <a:ea typeface="Arial"/>
                <a:cs typeface="Arial"/>
                <a:sym typeface="Arial"/>
              </a:rPr>
              <a:t>• Average years in role are nearly identical: 5.56 vs. 5.49 years.</a:t>
            </a:r>
            <a:endParaRPr b="0" i="0" sz="1275"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243447"/>
              </a:buClr>
              <a:buSzPts val="1275"/>
              <a:buFont typeface="Arial"/>
              <a:buNone/>
            </a:pPr>
            <a:r>
              <a:rPr b="0" i="0" lang="en-US" sz="1275" u="none" cap="none" strike="noStrike">
                <a:solidFill>
                  <a:srgbClr val="243447"/>
                </a:solidFill>
                <a:latin typeface="Arial"/>
                <a:ea typeface="Arial"/>
                <a:cs typeface="Arial"/>
                <a:sym typeface="Arial"/>
              </a:rPr>
              <a:t>• Work-life balance is also nearly unchanged: 2.74 vs. 2.85.</a:t>
            </a:r>
            <a:endParaRPr b="0" i="0" sz="1275"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243447"/>
              </a:buClr>
              <a:buSzPts val="1275"/>
              <a:buFont typeface="Arial"/>
              <a:buNone/>
            </a:pPr>
            <a:r>
              <a:rPr b="0" i="0" lang="en-US" sz="1275" u="none" cap="none" strike="noStrike">
                <a:solidFill>
                  <a:srgbClr val="243447"/>
                </a:solidFill>
                <a:latin typeface="Arial"/>
                <a:ea typeface="Arial"/>
                <a:cs typeface="Arial"/>
                <a:sym typeface="Arial"/>
              </a:rPr>
              <a:t>• Salary increase percentages are almost the same: 15.47% vs. 15.30%.</a:t>
            </a:r>
            <a:endParaRPr b="0" i="0" sz="1275"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243447"/>
              </a:buClr>
              <a:buSzPts val="1275"/>
              <a:buFont typeface="Arial"/>
              <a:buNone/>
            </a:pPr>
            <a:r>
              <a:rPr b="0" i="0" lang="en-US" sz="1275" u="none" cap="none" strike="noStrike">
                <a:solidFill>
                  <a:srgbClr val="243447"/>
                </a:solidFill>
                <a:latin typeface="Arial"/>
                <a:ea typeface="Arial"/>
                <a:cs typeface="Arial"/>
                <a:sym typeface="Arial"/>
              </a:rPr>
              <a:t>• Performance ratings differ by only 0.02 points: 3.16 vs. 3.18.</a:t>
            </a:r>
            <a:endParaRPr b="0" i="0" sz="1275" u="none" cap="none" strike="noStrike">
              <a:solidFill>
                <a:schemeClr val="dk1"/>
              </a:solidFill>
              <a:latin typeface="Arial"/>
              <a:ea typeface="Arial"/>
              <a:cs typeface="Arial"/>
              <a:sym typeface="Arial"/>
            </a:endParaRPr>
          </a:p>
        </p:txBody>
      </p:sp>
      <p:sp>
        <p:nvSpPr>
          <p:cNvPr id="320" name="Google Shape;320;p12"/>
          <p:cNvSpPr/>
          <p:nvPr/>
        </p:nvSpPr>
        <p:spPr>
          <a:xfrm>
            <a:off x="5806440" y="3840480"/>
            <a:ext cx="5715000" cy="2011680"/>
          </a:xfrm>
          <a:prstGeom prst="roundRect">
            <a:avLst>
              <a:gd fmla="val 5455"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1" name="Google Shape;321;p12"/>
          <p:cNvSpPr/>
          <p:nvPr/>
        </p:nvSpPr>
        <p:spPr>
          <a:xfrm>
            <a:off x="6080760" y="4096512"/>
            <a:ext cx="10972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300"/>
              <a:buFont typeface="Arial"/>
              <a:buNone/>
            </a:pPr>
            <a:r>
              <a:rPr b="1" i="0" lang="en-US" sz="1300" u="none" cap="none" strike="noStrike">
                <a:solidFill>
                  <a:srgbClr val="2F80ED"/>
                </a:solidFill>
                <a:latin typeface="Arial"/>
                <a:ea typeface="Arial"/>
                <a:cs typeface="Arial"/>
                <a:sym typeface="Arial"/>
              </a:rPr>
              <a:t>Implication</a:t>
            </a:r>
            <a:endParaRPr b="0" i="0" sz="1300" u="none" cap="none" strike="noStrike">
              <a:solidFill>
                <a:schemeClr val="dk1"/>
              </a:solidFill>
              <a:latin typeface="Arial"/>
              <a:ea typeface="Arial"/>
              <a:cs typeface="Arial"/>
              <a:sym typeface="Arial"/>
            </a:endParaRPr>
          </a:p>
        </p:txBody>
      </p:sp>
      <p:sp>
        <p:nvSpPr>
          <p:cNvPr id="322" name="Google Shape;322;p12"/>
          <p:cNvSpPr/>
          <p:nvPr/>
        </p:nvSpPr>
        <p:spPr>
          <a:xfrm>
            <a:off x="6080760" y="4425696"/>
            <a:ext cx="4937760" cy="105156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123B6D"/>
              </a:buClr>
              <a:buSzPts val="1615"/>
              <a:buFont typeface="Play"/>
              <a:buNone/>
            </a:pPr>
            <a:r>
              <a:rPr b="1" i="0" lang="en-US" sz="1615" u="none" cap="none" strike="noStrike">
                <a:solidFill>
                  <a:srgbClr val="123B6D"/>
                </a:solidFill>
                <a:latin typeface="Play"/>
                <a:ea typeface="Play"/>
                <a:cs typeface="Play"/>
                <a:sym typeface="Play"/>
              </a:rPr>
              <a:t>The current HR variables help rule out some default explanations, but they do not reveal the true mechanism behind exits. The next layer of analysis should focus on promotion velocity, internal mobility, manager context, exit reasons and external market pull.</a:t>
            </a:r>
            <a:endParaRPr b="0" i="0" sz="1615" u="none" cap="none" strike="noStrike">
              <a:solidFill>
                <a:schemeClr val="dk1"/>
              </a:solidFill>
              <a:latin typeface="Arial"/>
              <a:ea typeface="Arial"/>
              <a:cs typeface="Arial"/>
              <a:sym typeface="Arial"/>
            </a:endParaRPr>
          </a:p>
        </p:txBody>
      </p:sp>
      <p:sp>
        <p:nvSpPr>
          <p:cNvPr id="323" name="Google Shape;323;p12"/>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324" name="Google Shape;324;p12"/>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12</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3"/>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1" name="Google Shape;331;p13"/>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2" name="Google Shape;332;p13"/>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Recommended Actions &amp; Next Steps</a:t>
            </a:r>
            <a:endParaRPr b="0" i="0" sz="2600" u="none" cap="none" strike="noStrike">
              <a:solidFill>
                <a:schemeClr val="dk1"/>
              </a:solidFill>
              <a:latin typeface="Arial"/>
              <a:ea typeface="Arial"/>
              <a:cs typeface="Arial"/>
              <a:sym typeface="Arial"/>
            </a:endParaRPr>
          </a:p>
        </p:txBody>
      </p:sp>
      <p:sp>
        <p:nvSpPr>
          <p:cNvPr id="333" name="Google Shape;333;p13"/>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ACTION</a:t>
            </a:r>
            <a:endParaRPr b="0" i="0" sz="800" u="none" cap="none" strike="noStrike">
              <a:solidFill>
                <a:schemeClr val="dk1"/>
              </a:solidFill>
              <a:latin typeface="Arial"/>
              <a:ea typeface="Arial"/>
              <a:cs typeface="Arial"/>
              <a:sym typeface="Arial"/>
            </a:endParaRPr>
          </a:p>
        </p:txBody>
      </p:sp>
      <p:cxnSp>
        <p:nvCxnSpPr>
          <p:cNvPr id="334" name="Google Shape;334;p13"/>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335" name="Google Shape;335;p13"/>
          <p:cNvSpPr/>
          <p:nvPr/>
        </p:nvSpPr>
        <p:spPr>
          <a:xfrm>
            <a:off x="658368" y="987552"/>
            <a:ext cx="10991088"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800"/>
              <a:buFont typeface="Arial"/>
              <a:buNone/>
            </a:pPr>
            <a:r>
              <a:rPr b="0" i="0" lang="en-US" sz="1800" u="none" cap="none" strike="noStrike">
                <a:solidFill>
                  <a:srgbClr val="5B6776"/>
                </a:solidFill>
                <a:latin typeface="Arial"/>
                <a:ea typeface="Arial"/>
                <a:cs typeface="Arial"/>
                <a:sym typeface="Arial"/>
              </a:rPr>
              <a:t>The evidence supports targeted interventions now, paired with sharper data collection for the next decision cycle.</a:t>
            </a:r>
            <a:endParaRPr b="0" i="0" sz="1800" u="none" cap="none" strike="noStrike">
              <a:solidFill>
                <a:schemeClr val="dk1"/>
              </a:solidFill>
              <a:latin typeface="Arial"/>
              <a:ea typeface="Arial"/>
              <a:cs typeface="Arial"/>
              <a:sym typeface="Arial"/>
            </a:endParaRPr>
          </a:p>
        </p:txBody>
      </p:sp>
      <p:sp>
        <p:nvSpPr>
          <p:cNvPr id="336" name="Google Shape;336;p13"/>
          <p:cNvSpPr/>
          <p:nvPr/>
        </p:nvSpPr>
        <p:spPr>
          <a:xfrm>
            <a:off x="658368" y="1600200"/>
            <a:ext cx="3456432" cy="4526280"/>
          </a:xfrm>
          <a:prstGeom prst="roundRect">
            <a:avLst>
              <a:gd fmla="val 3175"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7" name="Google Shape;337;p13"/>
          <p:cNvSpPr/>
          <p:nvPr/>
        </p:nvSpPr>
        <p:spPr>
          <a:xfrm>
            <a:off x="886968" y="1874520"/>
            <a:ext cx="274320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23B6D"/>
              </a:buClr>
              <a:buSzPts val="2000"/>
              <a:buFont typeface="Play"/>
              <a:buNone/>
            </a:pPr>
            <a:r>
              <a:rPr b="1" i="0" lang="en-US" sz="2000" u="none" cap="none" strike="noStrike">
                <a:solidFill>
                  <a:srgbClr val="123B6D"/>
                </a:solidFill>
                <a:latin typeface="Play"/>
                <a:ea typeface="Play"/>
                <a:cs typeface="Play"/>
                <a:sym typeface="Play"/>
              </a:rPr>
              <a:t>Act now</a:t>
            </a:r>
            <a:endParaRPr b="0" i="0" sz="2000" u="none" cap="none" strike="noStrike">
              <a:solidFill>
                <a:schemeClr val="dk1"/>
              </a:solidFill>
              <a:latin typeface="Arial"/>
              <a:ea typeface="Arial"/>
              <a:cs typeface="Arial"/>
              <a:sym typeface="Arial"/>
            </a:endParaRPr>
          </a:p>
        </p:txBody>
      </p:sp>
      <p:sp>
        <p:nvSpPr>
          <p:cNvPr id="338" name="Google Shape;338;p13"/>
          <p:cNvSpPr/>
          <p:nvPr/>
        </p:nvSpPr>
        <p:spPr>
          <a:xfrm>
            <a:off x="886968" y="2686726"/>
            <a:ext cx="2880360" cy="3154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Launch an R&amp;D leadership retention diagnostic with HRBPs and functional leaders.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Add structured 6-, 12- and 24-month checkpoints for early-tenure leaders.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Review mid-tenure leader movement, recognition and development opportunities.</a:t>
            </a:r>
            <a:endParaRPr b="0" i="0" sz="1600" u="none" cap="none" strike="noStrike">
              <a:solidFill>
                <a:schemeClr val="dk1"/>
              </a:solidFill>
              <a:latin typeface="Arial"/>
              <a:ea typeface="Arial"/>
              <a:cs typeface="Arial"/>
              <a:sym typeface="Arial"/>
            </a:endParaRPr>
          </a:p>
        </p:txBody>
      </p:sp>
      <p:sp>
        <p:nvSpPr>
          <p:cNvPr id="339" name="Google Shape;339;p13"/>
          <p:cNvSpPr/>
          <p:nvPr/>
        </p:nvSpPr>
        <p:spPr>
          <a:xfrm>
            <a:off x="4425696" y="1600200"/>
            <a:ext cx="3456432" cy="4526280"/>
          </a:xfrm>
          <a:prstGeom prst="roundRect">
            <a:avLst>
              <a:gd fmla="val 3175"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0" name="Google Shape;340;p13"/>
          <p:cNvSpPr/>
          <p:nvPr/>
        </p:nvSpPr>
        <p:spPr>
          <a:xfrm>
            <a:off x="4654296" y="1874520"/>
            <a:ext cx="274320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994A"/>
              </a:buClr>
              <a:buSzPts val="2000"/>
              <a:buFont typeface="Play"/>
              <a:buNone/>
            </a:pPr>
            <a:r>
              <a:rPr b="1" i="0" lang="en-US" sz="2000" u="none" cap="none" strike="noStrike">
                <a:solidFill>
                  <a:srgbClr val="F2994A"/>
                </a:solidFill>
                <a:latin typeface="Play"/>
                <a:ea typeface="Play"/>
                <a:cs typeface="Play"/>
                <a:sym typeface="Play"/>
              </a:rPr>
              <a:t>Do not overreact to weak signals</a:t>
            </a:r>
            <a:endParaRPr b="0" i="0" sz="2000" u="none" cap="none" strike="noStrike">
              <a:solidFill>
                <a:schemeClr val="dk1"/>
              </a:solidFill>
              <a:latin typeface="Arial"/>
              <a:ea typeface="Arial"/>
              <a:cs typeface="Arial"/>
              <a:sym typeface="Arial"/>
            </a:endParaRPr>
          </a:p>
        </p:txBody>
      </p:sp>
      <p:sp>
        <p:nvSpPr>
          <p:cNvPr id="341" name="Google Shape;341;p13"/>
          <p:cNvSpPr/>
          <p:nvPr/>
        </p:nvSpPr>
        <p:spPr>
          <a:xfrm>
            <a:off x="4654296" y="2686726"/>
            <a:ext cx="2880360" cy="3154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Do not treat travel policy as the primary fix.</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Do not assume generic work-life initiatives will solve the leadership issue.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Do not deploy broad merit-budget increases without stronger evidence of pay-driven risk.</a:t>
            </a:r>
            <a:endParaRPr b="0" i="0" sz="1600" u="none" cap="none" strike="noStrike">
              <a:solidFill>
                <a:schemeClr val="dk1"/>
              </a:solidFill>
              <a:latin typeface="Arial"/>
              <a:ea typeface="Arial"/>
              <a:cs typeface="Arial"/>
              <a:sym typeface="Arial"/>
            </a:endParaRPr>
          </a:p>
        </p:txBody>
      </p:sp>
      <p:sp>
        <p:nvSpPr>
          <p:cNvPr id="342" name="Google Shape;342;p13"/>
          <p:cNvSpPr/>
          <p:nvPr/>
        </p:nvSpPr>
        <p:spPr>
          <a:xfrm>
            <a:off x="8193024" y="1600200"/>
            <a:ext cx="3456432" cy="4526280"/>
          </a:xfrm>
          <a:prstGeom prst="roundRect">
            <a:avLst>
              <a:gd fmla="val 3175"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3" name="Google Shape;343;p13"/>
          <p:cNvSpPr/>
          <p:nvPr/>
        </p:nvSpPr>
        <p:spPr>
          <a:xfrm>
            <a:off x="8421624" y="1874520"/>
            <a:ext cx="274320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F80ED"/>
              </a:buClr>
              <a:buSzPts val="2000"/>
              <a:buFont typeface="Play"/>
              <a:buNone/>
            </a:pPr>
            <a:r>
              <a:rPr b="1" i="0" lang="en-US" sz="2000" u="none" cap="none" strike="noStrike">
                <a:solidFill>
                  <a:srgbClr val="2F80ED"/>
                </a:solidFill>
                <a:latin typeface="Play"/>
                <a:ea typeface="Play"/>
                <a:cs typeface="Play"/>
                <a:sym typeface="Play"/>
              </a:rPr>
              <a:t>Build the next evidence layer</a:t>
            </a:r>
            <a:endParaRPr b="0" i="0" sz="2000" u="none" cap="none" strike="noStrike">
              <a:solidFill>
                <a:schemeClr val="dk1"/>
              </a:solidFill>
              <a:latin typeface="Arial"/>
              <a:ea typeface="Arial"/>
              <a:cs typeface="Arial"/>
              <a:sym typeface="Arial"/>
            </a:endParaRPr>
          </a:p>
        </p:txBody>
      </p:sp>
      <p:sp>
        <p:nvSpPr>
          <p:cNvPr id="344" name="Google Shape;344;p13"/>
          <p:cNvSpPr/>
          <p:nvPr/>
        </p:nvSpPr>
        <p:spPr>
          <a:xfrm>
            <a:off x="8421624" y="2686726"/>
            <a:ext cx="2880360" cy="3154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Separate voluntary and involuntary exits consistently.</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Track promotion timing, internal moves and succession readiness.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600"/>
              <a:buFont typeface="Arial"/>
              <a:buNone/>
            </a:pPr>
            <a:r>
              <a:rPr b="0" i="0" lang="en-US" sz="1600" u="none" cap="none" strike="noStrike">
                <a:solidFill>
                  <a:srgbClr val="243447"/>
                </a:solidFill>
                <a:latin typeface="Arial"/>
                <a:ea typeface="Arial"/>
                <a:cs typeface="Arial"/>
                <a:sym typeface="Arial"/>
              </a:rPr>
              <a:t>• Integrate exit-interview themes and external labor-market indicators.</a:t>
            </a:r>
            <a:endParaRPr b="0" i="0" sz="1600" u="none" cap="none" strike="noStrike">
              <a:solidFill>
                <a:schemeClr val="dk1"/>
              </a:solidFill>
              <a:latin typeface="Arial"/>
              <a:ea typeface="Arial"/>
              <a:cs typeface="Arial"/>
              <a:sym typeface="Arial"/>
            </a:endParaRPr>
          </a:p>
        </p:txBody>
      </p:sp>
      <p:sp>
        <p:nvSpPr>
          <p:cNvPr id="345" name="Google Shape;345;p13"/>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346" name="Google Shape;346;p13"/>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13</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3B6D"/>
        </a:solidFill>
      </p:bgPr>
    </p:bg>
    <p:spTree>
      <p:nvGrpSpPr>
        <p:cNvPr id="351" name="Shape 351"/>
        <p:cNvGrpSpPr/>
        <p:nvPr/>
      </p:nvGrpSpPr>
      <p:grpSpPr>
        <a:xfrm>
          <a:off x="0" y="0"/>
          <a:ext cx="0" cy="0"/>
          <a:chOff x="0" y="0"/>
          <a:chExt cx="0" cy="0"/>
        </a:xfrm>
      </p:grpSpPr>
      <p:sp>
        <p:nvSpPr>
          <p:cNvPr id="352" name="Google Shape;352;p14"/>
          <p:cNvSpPr/>
          <p:nvPr/>
        </p:nvSpPr>
        <p:spPr>
          <a:xfrm>
            <a:off x="0" y="0"/>
            <a:ext cx="12191695" cy="6858000"/>
          </a:xfrm>
          <a:prstGeom prst="rect">
            <a:avLst/>
          </a:prstGeom>
          <a:solidFill>
            <a:srgbClr val="123B6D"/>
          </a:solidFill>
          <a:ln cap="flat" cmpd="sng" w="12700">
            <a:solidFill>
              <a:srgbClr val="123B6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3" name="Google Shape;353;p14"/>
          <p:cNvSpPr/>
          <p:nvPr/>
        </p:nvSpPr>
        <p:spPr>
          <a:xfrm>
            <a:off x="804672" y="2148840"/>
            <a:ext cx="3657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Play"/>
              <a:buNone/>
            </a:pPr>
            <a:r>
              <a:rPr b="1" i="0" lang="en-US" sz="3000" u="none" cap="none" strike="noStrike">
                <a:solidFill>
                  <a:srgbClr val="FFFFFF"/>
                </a:solidFill>
                <a:latin typeface="Play"/>
                <a:ea typeface="Play"/>
                <a:cs typeface="Play"/>
                <a:sym typeface="Play"/>
              </a:rPr>
              <a:t>Appendix</a:t>
            </a:r>
            <a:endParaRPr b="0" i="0" sz="3000" u="none" cap="none" strike="noStrike">
              <a:solidFill>
                <a:schemeClr val="dk1"/>
              </a:solidFill>
              <a:latin typeface="Arial"/>
              <a:ea typeface="Arial"/>
              <a:cs typeface="Arial"/>
              <a:sym typeface="Arial"/>
            </a:endParaRPr>
          </a:p>
        </p:txBody>
      </p:sp>
      <p:sp>
        <p:nvSpPr>
          <p:cNvPr id="354" name="Google Shape;354;p14"/>
          <p:cNvSpPr/>
          <p:nvPr/>
        </p:nvSpPr>
        <p:spPr>
          <a:xfrm>
            <a:off x="841247" y="2834640"/>
            <a:ext cx="637713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CCF2"/>
              </a:buClr>
              <a:buSzPts val="1800"/>
              <a:buFont typeface="Arial"/>
              <a:buNone/>
            </a:pPr>
            <a:r>
              <a:rPr b="0" i="0" lang="en-US" sz="1800" u="none" cap="none" strike="noStrike">
                <a:solidFill>
                  <a:srgbClr val="56CCF2"/>
                </a:solidFill>
                <a:latin typeface="Arial"/>
                <a:ea typeface="Arial"/>
                <a:cs typeface="Arial"/>
                <a:sym typeface="Arial"/>
              </a:rPr>
              <a:t>Additional planning, methodology and supporting exhibits</a:t>
            </a:r>
            <a:endParaRPr b="0" i="0" sz="1800" u="none" cap="none" strike="noStrike">
              <a:solidFill>
                <a:schemeClr val="dk1"/>
              </a:solidFill>
              <a:latin typeface="Arial"/>
              <a:ea typeface="Arial"/>
              <a:cs typeface="Arial"/>
              <a:sym typeface="Arial"/>
            </a:endParaRPr>
          </a:p>
        </p:txBody>
      </p:sp>
      <p:sp>
        <p:nvSpPr>
          <p:cNvPr id="355" name="Google Shape;355;p14"/>
          <p:cNvSpPr/>
          <p:nvPr/>
        </p:nvSpPr>
        <p:spPr>
          <a:xfrm>
            <a:off x="822960" y="3794760"/>
            <a:ext cx="914400" cy="73152"/>
          </a:xfrm>
          <a:prstGeom prst="rect">
            <a:avLst/>
          </a:prstGeom>
          <a:solidFill>
            <a:srgbClr val="56CCF2"/>
          </a:solidFill>
          <a:ln cap="flat" cmpd="sng" w="12700">
            <a:solidFill>
              <a:srgbClr val="56CC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6" name="Google Shape;356;p14"/>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357" name="Google Shape;357;p14"/>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14</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5"/>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4" name="Google Shape;364;p15"/>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5" name="Google Shape;365;p15"/>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Appendix: Project Timeline &amp; Governance</a:t>
            </a:r>
            <a:endParaRPr b="0" i="0" sz="2600" u="none" cap="none" strike="noStrike">
              <a:solidFill>
                <a:schemeClr val="dk1"/>
              </a:solidFill>
              <a:latin typeface="Arial"/>
              <a:ea typeface="Arial"/>
              <a:cs typeface="Arial"/>
              <a:sym typeface="Arial"/>
            </a:endParaRPr>
          </a:p>
        </p:txBody>
      </p:sp>
      <p:sp>
        <p:nvSpPr>
          <p:cNvPr id="366" name="Google Shape;366;p15"/>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APPENDIX</a:t>
            </a:r>
            <a:endParaRPr b="0" i="0" sz="800" u="none" cap="none" strike="noStrike">
              <a:solidFill>
                <a:schemeClr val="dk1"/>
              </a:solidFill>
              <a:latin typeface="Arial"/>
              <a:ea typeface="Arial"/>
              <a:cs typeface="Arial"/>
              <a:sym typeface="Arial"/>
            </a:endParaRPr>
          </a:p>
        </p:txBody>
      </p:sp>
      <p:cxnSp>
        <p:nvCxnSpPr>
          <p:cNvPr id="367" name="Google Shape;367;p15"/>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368" name="Google Shape;368;p15"/>
          <p:cNvSpPr/>
          <p:nvPr/>
        </p:nvSpPr>
        <p:spPr>
          <a:xfrm>
            <a:off x="658367" y="987552"/>
            <a:ext cx="10863067"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700"/>
              <a:buFont typeface="Arial"/>
              <a:buNone/>
            </a:pPr>
            <a:r>
              <a:rPr b="0" i="0" lang="en-US" sz="1700" u="none" cap="none" strike="noStrike">
                <a:solidFill>
                  <a:srgbClr val="5B6776"/>
                </a:solidFill>
                <a:latin typeface="Arial"/>
                <a:ea typeface="Arial"/>
                <a:cs typeface="Arial"/>
                <a:sym typeface="Arial"/>
              </a:rPr>
              <a:t>Original project plan was designed as an 8-week people-analytics engagement with milestone reviews at the end of Weeks 1, 5 and 8.</a:t>
            </a:r>
            <a:endParaRPr b="0" i="0" sz="1700" u="none" cap="none" strike="noStrike">
              <a:solidFill>
                <a:schemeClr val="dk1"/>
              </a:solidFill>
              <a:latin typeface="Arial"/>
              <a:ea typeface="Arial"/>
              <a:cs typeface="Arial"/>
              <a:sym typeface="Arial"/>
            </a:endParaRPr>
          </a:p>
        </p:txBody>
      </p:sp>
      <p:sp>
        <p:nvSpPr>
          <p:cNvPr id="369" name="Google Shape;369;p15"/>
          <p:cNvSpPr/>
          <p:nvPr/>
        </p:nvSpPr>
        <p:spPr>
          <a:xfrm>
            <a:off x="868680" y="1737360"/>
            <a:ext cx="20116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200"/>
              <a:buFont typeface="Arial"/>
              <a:buNone/>
            </a:pPr>
            <a:r>
              <a:rPr b="1" i="0" lang="en-US" sz="1200" u="none" cap="none" strike="noStrike">
                <a:solidFill>
                  <a:srgbClr val="123B6D"/>
                </a:solidFill>
                <a:latin typeface="Arial"/>
                <a:ea typeface="Arial"/>
                <a:cs typeface="Arial"/>
                <a:sym typeface="Arial"/>
              </a:rPr>
              <a:t>Phase</a:t>
            </a:r>
            <a:endParaRPr b="0" i="0" sz="1200" u="none" cap="none" strike="noStrike">
              <a:solidFill>
                <a:schemeClr val="dk1"/>
              </a:solidFill>
              <a:latin typeface="Arial"/>
              <a:ea typeface="Arial"/>
              <a:cs typeface="Arial"/>
              <a:sym typeface="Arial"/>
            </a:endParaRPr>
          </a:p>
        </p:txBody>
      </p:sp>
      <p:sp>
        <p:nvSpPr>
          <p:cNvPr id="370" name="Google Shape;370;p15"/>
          <p:cNvSpPr/>
          <p:nvPr/>
        </p:nvSpPr>
        <p:spPr>
          <a:xfrm>
            <a:off x="2971800" y="1664208"/>
            <a:ext cx="841248" cy="310896"/>
          </a:xfrm>
          <a:prstGeom prst="rect">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1" name="Google Shape;371;p15"/>
          <p:cNvSpPr/>
          <p:nvPr/>
        </p:nvSpPr>
        <p:spPr>
          <a:xfrm>
            <a:off x="2971800" y="1737360"/>
            <a:ext cx="841248" cy="1280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100"/>
              <a:buFont typeface="Arial"/>
              <a:buNone/>
            </a:pPr>
            <a:r>
              <a:rPr b="1" i="0" lang="en-US" sz="1100" u="none" cap="none" strike="noStrike">
                <a:solidFill>
                  <a:srgbClr val="123B6D"/>
                </a:solidFill>
                <a:latin typeface="Arial"/>
                <a:ea typeface="Arial"/>
                <a:cs typeface="Arial"/>
                <a:sym typeface="Arial"/>
              </a:rPr>
              <a:t>W1</a:t>
            </a:r>
            <a:endParaRPr b="0" i="0" sz="1100" u="none" cap="none" strike="noStrike">
              <a:solidFill>
                <a:schemeClr val="dk1"/>
              </a:solidFill>
              <a:latin typeface="Arial"/>
              <a:ea typeface="Arial"/>
              <a:cs typeface="Arial"/>
              <a:sym typeface="Arial"/>
            </a:endParaRPr>
          </a:p>
        </p:txBody>
      </p:sp>
      <p:sp>
        <p:nvSpPr>
          <p:cNvPr id="372" name="Google Shape;372;p15"/>
          <p:cNvSpPr/>
          <p:nvPr/>
        </p:nvSpPr>
        <p:spPr>
          <a:xfrm>
            <a:off x="3886200" y="1664208"/>
            <a:ext cx="841248" cy="310896"/>
          </a:xfrm>
          <a:prstGeom prst="rect">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3" name="Google Shape;373;p15"/>
          <p:cNvSpPr/>
          <p:nvPr/>
        </p:nvSpPr>
        <p:spPr>
          <a:xfrm>
            <a:off x="3886200" y="1737360"/>
            <a:ext cx="841248" cy="1280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100"/>
              <a:buFont typeface="Arial"/>
              <a:buNone/>
            </a:pPr>
            <a:r>
              <a:rPr b="1" i="0" lang="en-US" sz="1100" u="none" cap="none" strike="noStrike">
                <a:solidFill>
                  <a:srgbClr val="123B6D"/>
                </a:solidFill>
                <a:latin typeface="Arial"/>
                <a:ea typeface="Arial"/>
                <a:cs typeface="Arial"/>
                <a:sym typeface="Arial"/>
              </a:rPr>
              <a:t>W2</a:t>
            </a:r>
            <a:endParaRPr b="0" i="0" sz="1100" u="none" cap="none" strike="noStrike">
              <a:solidFill>
                <a:schemeClr val="dk1"/>
              </a:solidFill>
              <a:latin typeface="Arial"/>
              <a:ea typeface="Arial"/>
              <a:cs typeface="Arial"/>
              <a:sym typeface="Arial"/>
            </a:endParaRPr>
          </a:p>
        </p:txBody>
      </p:sp>
      <p:sp>
        <p:nvSpPr>
          <p:cNvPr id="374" name="Google Shape;374;p15"/>
          <p:cNvSpPr/>
          <p:nvPr/>
        </p:nvSpPr>
        <p:spPr>
          <a:xfrm>
            <a:off x="4800600" y="1664208"/>
            <a:ext cx="841248" cy="310896"/>
          </a:xfrm>
          <a:prstGeom prst="rect">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5" name="Google Shape;375;p15"/>
          <p:cNvSpPr/>
          <p:nvPr/>
        </p:nvSpPr>
        <p:spPr>
          <a:xfrm>
            <a:off x="4800600" y="1737360"/>
            <a:ext cx="841248" cy="1280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100"/>
              <a:buFont typeface="Arial"/>
              <a:buNone/>
            </a:pPr>
            <a:r>
              <a:rPr b="1" i="0" lang="en-US" sz="1100" u="none" cap="none" strike="noStrike">
                <a:solidFill>
                  <a:srgbClr val="123B6D"/>
                </a:solidFill>
                <a:latin typeface="Arial"/>
                <a:ea typeface="Arial"/>
                <a:cs typeface="Arial"/>
                <a:sym typeface="Arial"/>
              </a:rPr>
              <a:t>W3</a:t>
            </a:r>
            <a:endParaRPr b="0" i="0" sz="1100" u="none" cap="none" strike="noStrike">
              <a:solidFill>
                <a:schemeClr val="dk1"/>
              </a:solidFill>
              <a:latin typeface="Arial"/>
              <a:ea typeface="Arial"/>
              <a:cs typeface="Arial"/>
              <a:sym typeface="Arial"/>
            </a:endParaRPr>
          </a:p>
        </p:txBody>
      </p:sp>
      <p:sp>
        <p:nvSpPr>
          <p:cNvPr id="376" name="Google Shape;376;p15"/>
          <p:cNvSpPr/>
          <p:nvPr/>
        </p:nvSpPr>
        <p:spPr>
          <a:xfrm>
            <a:off x="5715000" y="1664208"/>
            <a:ext cx="841248" cy="310896"/>
          </a:xfrm>
          <a:prstGeom prst="rect">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7" name="Google Shape;377;p15"/>
          <p:cNvSpPr/>
          <p:nvPr/>
        </p:nvSpPr>
        <p:spPr>
          <a:xfrm>
            <a:off x="5715000" y="1737360"/>
            <a:ext cx="841248" cy="1280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100"/>
              <a:buFont typeface="Arial"/>
              <a:buNone/>
            </a:pPr>
            <a:r>
              <a:rPr b="1" i="0" lang="en-US" sz="1100" u="none" cap="none" strike="noStrike">
                <a:solidFill>
                  <a:srgbClr val="123B6D"/>
                </a:solidFill>
                <a:latin typeface="Arial"/>
                <a:ea typeface="Arial"/>
                <a:cs typeface="Arial"/>
                <a:sym typeface="Arial"/>
              </a:rPr>
              <a:t>W4</a:t>
            </a:r>
            <a:endParaRPr b="0" i="0" sz="1100" u="none" cap="none" strike="noStrike">
              <a:solidFill>
                <a:schemeClr val="dk1"/>
              </a:solidFill>
              <a:latin typeface="Arial"/>
              <a:ea typeface="Arial"/>
              <a:cs typeface="Arial"/>
              <a:sym typeface="Arial"/>
            </a:endParaRPr>
          </a:p>
        </p:txBody>
      </p:sp>
      <p:sp>
        <p:nvSpPr>
          <p:cNvPr id="378" name="Google Shape;378;p15"/>
          <p:cNvSpPr/>
          <p:nvPr/>
        </p:nvSpPr>
        <p:spPr>
          <a:xfrm>
            <a:off x="6629400" y="1664208"/>
            <a:ext cx="841248" cy="310896"/>
          </a:xfrm>
          <a:prstGeom prst="rect">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9" name="Google Shape;379;p15"/>
          <p:cNvSpPr/>
          <p:nvPr/>
        </p:nvSpPr>
        <p:spPr>
          <a:xfrm>
            <a:off x="6629400" y="1737360"/>
            <a:ext cx="841248" cy="1280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100"/>
              <a:buFont typeface="Arial"/>
              <a:buNone/>
            </a:pPr>
            <a:r>
              <a:rPr b="1" i="0" lang="en-US" sz="1100" u="none" cap="none" strike="noStrike">
                <a:solidFill>
                  <a:srgbClr val="123B6D"/>
                </a:solidFill>
                <a:latin typeface="Arial"/>
                <a:ea typeface="Arial"/>
                <a:cs typeface="Arial"/>
                <a:sym typeface="Arial"/>
              </a:rPr>
              <a:t>W5</a:t>
            </a:r>
            <a:endParaRPr b="0" i="0" sz="1100" u="none" cap="none" strike="noStrike">
              <a:solidFill>
                <a:schemeClr val="dk1"/>
              </a:solidFill>
              <a:latin typeface="Arial"/>
              <a:ea typeface="Arial"/>
              <a:cs typeface="Arial"/>
              <a:sym typeface="Arial"/>
            </a:endParaRPr>
          </a:p>
        </p:txBody>
      </p:sp>
      <p:sp>
        <p:nvSpPr>
          <p:cNvPr id="380" name="Google Shape;380;p15"/>
          <p:cNvSpPr/>
          <p:nvPr/>
        </p:nvSpPr>
        <p:spPr>
          <a:xfrm>
            <a:off x="7543800" y="1664208"/>
            <a:ext cx="841248" cy="310896"/>
          </a:xfrm>
          <a:prstGeom prst="rect">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1" name="Google Shape;381;p15"/>
          <p:cNvSpPr/>
          <p:nvPr/>
        </p:nvSpPr>
        <p:spPr>
          <a:xfrm>
            <a:off x="7543800" y="1737360"/>
            <a:ext cx="841248" cy="1280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100"/>
              <a:buFont typeface="Arial"/>
              <a:buNone/>
            </a:pPr>
            <a:r>
              <a:rPr b="1" i="0" lang="en-US" sz="1100" u="none" cap="none" strike="noStrike">
                <a:solidFill>
                  <a:srgbClr val="123B6D"/>
                </a:solidFill>
                <a:latin typeface="Arial"/>
                <a:ea typeface="Arial"/>
                <a:cs typeface="Arial"/>
                <a:sym typeface="Arial"/>
              </a:rPr>
              <a:t>W6</a:t>
            </a:r>
            <a:endParaRPr b="0" i="0" sz="1100" u="none" cap="none" strike="noStrike">
              <a:solidFill>
                <a:schemeClr val="dk1"/>
              </a:solidFill>
              <a:latin typeface="Arial"/>
              <a:ea typeface="Arial"/>
              <a:cs typeface="Arial"/>
              <a:sym typeface="Arial"/>
            </a:endParaRPr>
          </a:p>
        </p:txBody>
      </p:sp>
      <p:sp>
        <p:nvSpPr>
          <p:cNvPr id="382" name="Google Shape;382;p15"/>
          <p:cNvSpPr/>
          <p:nvPr/>
        </p:nvSpPr>
        <p:spPr>
          <a:xfrm>
            <a:off x="8458200" y="1664208"/>
            <a:ext cx="841248" cy="310896"/>
          </a:xfrm>
          <a:prstGeom prst="rect">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3" name="Google Shape;383;p15"/>
          <p:cNvSpPr/>
          <p:nvPr/>
        </p:nvSpPr>
        <p:spPr>
          <a:xfrm>
            <a:off x="8458200" y="1737360"/>
            <a:ext cx="841248" cy="1280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100"/>
              <a:buFont typeface="Arial"/>
              <a:buNone/>
            </a:pPr>
            <a:r>
              <a:rPr b="1" i="0" lang="en-US" sz="1100" u="none" cap="none" strike="noStrike">
                <a:solidFill>
                  <a:srgbClr val="123B6D"/>
                </a:solidFill>
                <a:latin typeface="Arial"/>
                <a:ea typeface="Arial"/>
                <a:cs typeface="Arial"/>
                <a:sym typeface="Arial"/>
              </a:rPr>
              <a:t>W7</a:t>
            </a:r>
            <a:endParaRPr b="0" i="0" sz="1100" u="none" cap="none" strike="noStrike">
              <a:solidFill>
                <a:schemeClr val="dk1"/>
              </a:solidFill>
              <a:latin typeface="Arial"/>
              <a:ea typeface="Arial"/>
              <a:cs typeface="Arial"/>
              <a:sym typeface="Arial"/>
            </a:endParaRPr>
          </a:p>
        </p:txBody>
      </p:sp>
      <p:sp>
        <p:nvSpPr>
          <p:cNvPr id="384" name="Google Shape;384;p15"/>
          <p:cNvSpPr/>
          <p:nvPr/>
        </p:nvSpPr>
        <p:spPr>
          <a:xfrm>
            <a:off x="9372600" y="1664208"/>
            <a:ext cx="841248" cy="310896"/>
          </a:xfrm>
          <a:prstGeom prst="rect">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5" name="Google Shape;385;p15"/>
          <p:cNvSpPr/>
          <p:nvPr/>
        </p:nvSpPr>
        <p:spPr>
          <a:xfrm>
            <a:off x="9372600" y="1737360"/>
            <a:ext cx="841248" cy="1280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23B6D"/>
              </a:buClr>
              <a:buSzPts val="1100"/>
              <a:buFont typeface="Arial"/>
              <a:buNone/>
            </a:pPr>
            <a:r>
              <a:rPr b="1" i="0" lang="en-US" sz="1100" u="none" cap="none" strike="noStrike">
                <a:solidFill>
                  <a:srgbClr val="123B6D"/>
                </a:solidFill>
                <a:latin typeface="Arial"/>
                <a:ea typeface="Arial"/>
                <a:cs typeface="Arial"/>
                <a:sym typeface="Arial"/>
              </a:rPr>
              <a:t>W8</a:t>
            </a:r>
            <a:endParaRPr b="0" i="0" sz="1100" u="none" cap="none" strike="noStrike">
              <a:solidFill>
                <a:schemeClr val="dk1"/>
              </a:solidFill>
              <a:latin typeface="Arial"/>
              <a:ea typeface="Arial"/>
              <a:cs typeface="Arial"/>
              <a:sym typeface="Arial"/>
            </a:endParaRPr>
          </a:p>
        </p:txBody>
      </p:sp>
      <p:sp>
        <p:nvSpPr>
          <p:cNvPr id="386" name="Google Shape;386;p15"/>
          <p:cNvSpPr/>
          <p:nvPr/>
        </p:nvSpPr>
        <p:spPr>
          <a:xfrm>
            <a:off x="868680" y="2322576"/>
            <a:ext cx="19202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300"/>
              <a:buFont typeface="Arial"/>
              <a:buNone/>
            </a:pPr>
            <a:r>
              <a:rPr b="0" i="0" lang="en-US" sz="1300" u="none" cap="none" strike="noStrike">
                <a:solidFill>
                  <a:srgbClr val="243447"/>
                </a:solidFill>
                <a:latin typeface="Arial"/>
                <a:ea typeface="Arial"/>
                <a:cs typeface="Arial"/>
                <a:sym typeface="Arial"/>
              </a:rPr>
              <a:t>Project initiation &amp; scope approval</a:t>
            </a:r>
            <a:endParaRPr b="0" i="0" sz="1300" u="none" cap="none" strike="noStrike">
              <a:solidFill>
                <a:schemeClr val="dk1"/>
              </a:solidFill>
              <a:latin typeface="Arial"/>
              <a:ea typeface="Arial"/>
              <a:cs typeface="Arial"/>
              <a:sym typeface="Arial"/>
            </a:endParaRPr>
          </a:p>
        </p:txBody>
      </p:sp>
      <p:cxnSp>
        <p:nvCxnSpPr>
          <p:cNvPr id="387" name="Google Shape;387;p15"/>
          <p:cNvCxnSpPr/>
          <p:nvPr/>
        </p:nvCxnSpPr>
        <p:spPr>
          <a:xfrm>
            <a:off x="2971800" y="2212848"/>
            <a:ext cx="7242048" cy="0"/>
          </a:xfrm>
          <a:prstGeom prst="straightConnector1">
            <a:avLst/>
          </a:prstGeom>
          <a:noFill/>
          <a:ln cap="flat" cmpd="sng" w="12700">
            <a:solidFill>
              <a:srgbClr val="D9E3EE"/>
            </a:solidFill>
            <a:prstDash val="solid"/>
            <a:round/>
            <a:headEnd len="sm" w="sm" type="none"/>
            <a:tailEnd len="sm" w="sm" type="none"/>
          </a:ln>
        </p:spPr>
      </p:cxnSp>
      <p:cxnSp>
        <p:nvCxnSpPr>
          <p:cNvPr id="388" name="Google Shape;388;p15"/>
          <p:cNvCxnSpPr/>
          <p:nvPr/>
        </p:nvCxnSpPr>
        <p:spPr>
          <a:xfrm>
            <a:off x="2971800" y="2633472"/>
            <a:ext cx="7242048" cy="0"/>
          </a:xfrm>
          <a:prstGeom prst="straightConnector1">
            <a:avLst/>
          </a:prstGeom>
          <a:noFill/>
          <a:ln cap="flat" cmpd="sng" w="12700">
            <a:solidFill>
              <a:srgbClr val="D9E3EE"/>
            </a:solidFill>
            <a:prstDash val="solid"/>
            <a:round/>
            <a:headEnd len="sm" w="sm" type="none"/>
            <a:tailEnd len="sm" w="sm" type="none"/>
          </a:ln>
        </p:spPr>
      </p:cxnSp>
      <p:cxnSp>
        <p:nvCxnSpPr>
          <p:cNvPr id="389" name="Google Shape;389;p15"/>
          <p:cNvCxnSpPr/>
          <p:nvPr/>
        </p:nvCxnSpPr>
        <p:spPr>
          <a:xfrm>
            <a:off x="2971800" y="2212848"/>
            <a:ext cx="0" cy="420624"/>
          </a:xfrm>
          <a:prstGeom prst="straightConnector1">
            <a:avLst/>
          </a:prstGeom>
          <a:noFill/>
          <a:ln cap="flat" cmpd="sng" w="12700">
            <a:solidFill>
              <a:srgbClr val="D9E3EE"/>
            </a:solidFill>
            <a:prstDash val="solid"/>
            <a:round/>
            <a:headEnd len="sm" w="sm" type="none"/>
            <a:tailEnd len="sm" w="sm" type="none"/>
          </a:ln>
        </p:spPr>
      </p:cxnSp>
      <p:cxnSp>
        <p:nvCxnSpPr>
          <p:cNvPr id="390" name="Google Shape;390;p15"/>
          <p:cNvCxnSpPr/>
          <p:nvPr/>
        </p:nvCxnSpPr>
        <p:spPr>
          <a:xfrm>
            <a:off x="3886200" y="2212848"/>
            <a:ext cx="0" cy="420624"/>
          </a:xfrm>
          <a:prstGeom prst="straightConnector1">
            <a:avLst/>
          </a:prstGeom>
          <a:noFill/>
          <a:ln cap="flat" cmpd="sng" w="12700">
            <a:solidFill>
              <a:srgbClr val="D9E3EE"/>
            </a:solidFill>
            <a:prstDash val="solid"/>
            <a:round/>
            <a:headEnd len="sm" w="sm" type="none"/>
            <a:tailEnd len="sm" w="sm" type="none"/>
          </a:ln>
        </p:spPr>
      </p:cxnSp>
      <p:cxnSp>
        <p:nvCxnSpPr>
          <p:cNvPr id="391" name="Google Shape;391;p15"/>
          <p:cNvCxnSpPr/>
          <p:nvPr/>
        </p:nvCxnSpPr>
        <p:spPr>
          <a:xfrm>
            <a:off x="4800600" y="2212848"/>
            <a:ext cx="0" cy="420624"/>
          </a:xfrm>
          <a:prstGeom prst="straightConnector1">
            <a:avLst/>
          </a:prstGeom>
          <a:noFill/>
          <a:ln cap="flat" cmpd="sng" w="12700">
            <a:solidFill>
              <a:srgbClr val="D9E3EE"/>
            </a:solidFill>
            <a:prstDash val="solid"/>
            <a:round/>
            <a:headEnd len="sm" w="sm" type="none"/>
            <a:tailEnd len="sm" w="sm" type="none"/>
          </a:ln>
        </p:spPr>
      </p:cxnSp>
      <p:cxnSp>
        <p:nvCxnSpPr>
          <p:cNvPr id="392" name="Google Shape;392;p15"/>
          <p:cNvCxnSpPr/>
          <p:nvPr/>
        </p:nvCxnSpPr>
        <p:spPr>
          <a:xfrm>
            <a:off x="5715000" y="2212848"/>
            <a:ext cx="0" cy="420624"/>
          </a:xfrm>
          <a:prstGeom prst="straightConnector1">
            <a:avLst/>
          </a:prstGeom>
          <a:noFill/>
          <a:ln cap="flat" cmpd="sng" w="12700">
            <a:solidFill>
              <a:srgbClr val="D9E3EE"/>
            </a:solidFill>
            <a:prstDash val="solid"/>
            <a:round/>
            <a:headEnd len="sm" w="sm" type="none"/>
            <a:tailEnd len="sm" w="sm" type="none"/>
          </a:ln>
        </p:spPr>
      </p:cxnSp>
      <p:cxnSp>
        <p:nvCxnSpPr>
          <p:cNvPr id="393" name="Google Shape;393;p15"/>
          <p:cNvCxnSpPr/>
          <p:nvPr/>
        </p:nvCxnSpPr>
        <p:spPr>
          <a:xfrm>
            <a:off x="6629400" y="2212848"/>
            <a:ext cx="0" cy="420624"/>
          </a:xfrm>
          <a:prstGeom prst="straightConnector1">
            <a:avLst/>
          </a:prstGeom>
          <a:noFill/>
          <a:ln cap="flat" cmpd="sng" w="12700">
            <a:solidFill>
              <a:srgbClr val="D9E3EE"/>
            </a:solidFill>
            <a:prstDash val="solid"/>
            <a:round/>
            <a:headEnd len="sm" w="sm" type="none"/>
            <a:tailEnd len="sm" w="sm" type="none"/>
          </a:ln>
        </p:spPr>
      </p:cxnSp>
      <p:cxnSp>
        <p:nvCxnSpPr>
          <p:cNvPr id="394" name="Google Shape;394;p15"/>
          <p:cNvCxnSpPr/>
          <p:nvPr/>
        </p:nvCxnSpPr>
        <p:spPr>
          <a:xfrm>
            <a:off x="7543800" y="2212848"/>
            <a:ext cx="0" cy="420624"/>
          </a:xfrm>
          <a:prstGeom prst="straightConnector1">
            <a:avLst/>
          </a:prstGeom>
          <a:noFill/>
          <a:ln cap="flat" cmpd="sng" w="12700">
            <a:solidFill>
              <a:srgbClr val="D9E3EE"/>
            </a:solidFill>
            <a:prstDash val="solid"/>
            <a:round/>
            <a:headEnd len="sm" w="sm" type="none"/>
            <a:tailEnd len="sm" w="sm" type="none"/>
          </a:ln>
        </p:spPr>
      </p:cxnSp>
      <p:cxnSp>
        <p:nvCxnSpPr>
          <p:cNvPr id="395" name="Google Shape;395;p15"/>
          <p:cNvCxnSpPr/>
          <p:nvPr/>
        </p:nvCxnSpPr>
        <p:spPr>
          <a:xfrm>
            <a:off x="8458200" y="2212848"/>
            <a:ext cx="0" cy="420624"/>
          </a:xfrm>
          <a:prstGeom prst="straightConnector1">
            <a:avLst/>
          </a:prstGeom>
          <a:noFill/>
          <a:ln cap="flat" cmpd="sng" w="12700">
            <a:solidFill>
              <a:srgbClr val="D9E3EE"/>
            </a:solidFill>
            <a:prstDash val="solid"/>
            <a:round/>
            <a:headEnd len="sm" w="sm" type="none"/>
            <a:tailEnd len="sm" w="sm" type="none"/>
          </a:ln>
        </p:spPr>
      </p:cxnSp>
      <p:cxnSp>
        <p:nvCxnSpPr>
          <p:cNvPr id="396" name="Google Shape;396;p15"/>
          <p:cNvCxnSpPr/>
          <p:nvPr/>
        </p:nvCxnSpPr>
        <p:spPr>
          <a:xfrm>
            <a:off x="9372600" y="2212848"/>
            <a:ext cx="0" cy="420624"/>
          </a:xfrm>
          <a:prstGeom prst="straightConnector1">
            <a:avLst/>
          </a:prstGeom>
          <a:noFill/>
          <a:ln cap="flat" cmpd="sng" w="12700">
            <a:solidFill>
              <a:srgbClr val="D9E3EE"/>
            </a:solidFill>
            <a:prstDash val="solid"/>
            <a:round/>
            <a:headEnd len="sm" w="sm" type="none"/>
            <a:tailEnd len="sm" w="sm" type="none"/>
          </a:ln>
        </p:spPr>
      </p:cxnSp>
      <p:cxnSp>
        <p:nvCxnSpPr>
          <p:cNvPr id="397" name="Google Shape;397;p15"/>
          <p:cNvCxnSpPr/>
          <p:nvPr/>
        </p:nvCxnSpPr>
        <p:spPr>
          <a:xfrm>
            <a:off x="10287000" y="2212848"/>
            <a:ext cx="0" cy="420624"/>
          </a:xfrm>
          <a:prstGeom prst="straightConnector1">
            <a:avLst/>
          </a:prstGeom>
          <a:noFill/>
          <a:ln cap="flat" cmpd="sng" w="12700">
            <a:solidFill>
              <a:srgbClr val="D9E3EE"/>
            </a:solidFill>
            <a:prstDash val="solid"/>
            <a:round/>
            <a:headEnd len="sm" w="sm" type="none"/>
            <a:tailEnd len="sm" w="sm" type="none"/>
          </a:ln>
        </p:spPr>
      </p:cxnSp>
      <p:sp>
        <p:nvSpPr>
          <p:cNvPr id="398" name="Google Shape;398;p15"/>
          <p:cNvSpPr/>
          <p:nvPr/>
        </p:nvSpPr>
        <p:spPr>
          <a:xfrm>
            <a:off x="3008376" y="2258568"/>
            <a:ext cx="841248" cy="329184"/>
          </a:xfrm>
          <a:prstGeom prst="roundRect">
            <a:avLst>
              <a:gd fmla="val 19444" name="adj"/>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9" name="Google Shape;399;p15"/>
          <p:cNvSpPr/>
          <p:nvPr/>
        </p:nvSpPr>
        <p:spPr>
          <a:xfrm>
            <a:off x="868680" y="2944368"/>
            <a:ext cx="19202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300"/>
              <a:buFont typeface="Arial"/>
              <a:buNone/>
            </a:pPr>
            <a:r>
              <a:rPr b="0" i="0" lang="en-US" sz="1300" u="none" cap="none" strike="noStrike">
                <a:solidFill>
                  <a:srgbClr val="243447"/>
                </a:solidFill>
                <a:latin typeface="Arial"/>
                <a:ea typeface="Arial"/>
                <a:cs typeface="Arial"/>
                <a:sym typeface="Arial"/>
              </a:rPr>
              <a:t>Data access &amp; validation</a:t>
            </a:r>
            <a:endParaRPr b="0" i="0" sz="1300" u="none" cap="none" strike="noStrike">
              <a:solidFill>
                <a:schemeClr val="dk1"/>
              </a:solidFill>
              <a:latin typeface="Arial"/>
              <a:ea typeface="Arial"/>
              <a:cs typeface="Arial"/>
              <a:sym typeface="Arial"/>
            </a:endParaRPr>
          </a:p>
        </p:txBody>
      </p:sp>
      <p:cxnSp>
        <p:nvCxnSpPr>
          <p:cNvPr id="400" name="Google Shape;400;p15"/>
          <p:cNvCxnSpPr/>
          <p:nvPr/>
        </p:nvCxnSpPr>
        <p:spPr>
          <a:xfrm>
            <a:off x="2971800" y="2834640"/>
            <a:ext cx="7242048" cy="0"/>
          </a:xfrm>
          <a:prstGeom prst="straightConnector1">
            <a:avLst/>
          </a:prstGeom>
          <a:noFill/>
          <a:ln cap="flat" cmpd="sng" w="12700">
            <a:solidFill>
              <a:srgbClr val="D9E3EE"/>
            </a:solidFill>
            <a:prstDash val="solid"/>
            <a:round/>
            <a:headEnd len="sm" w="sm" type="none"/>
            <a:tailEnd len="sm" w="sm" type="none"/>
          </a:ln>
        </p:spPr>
      </p:cxnSp>
      <p:cxnSp>
        <p:nvCxnSpPr>
          <p:cNvPr id="401" name="Google Shape;401;p15"/>
          <p:cNvCxnSpPr/>
          <p:nvPr/>
        </p:nvCxnSpPr>
        <p:spPr>
          <a:xfrm>
            <a:off x="2971800" y="3255264"/>
            <a:ext cx="7242048" cy="0"/>
          </a:xfrm>
          <a:prstGeom prst="straightConnector1">
            <a:avLst/>
          </a:prstGeom>
          <a:noFill/>
          <a:ln cap="flat" cmpd="sng" w="12700">
            <a:solidFill>
              <a:srgbClr val="D9E3EE"/>
            </a:solidFill>
            <a:prstDash val="solid"/>
            <a:round/>
            <a:headEnd len="sm" w="sm" type="none"/>
            <a:tailEnd len="sm" w="sm" type="none"/>
          </a:ln>
        </p:spPr>
      </p:cxnSp>
      <p:cxnSp>
        <p:nvCxnSpPr>
          <p:cNvPr id="402" name="Google Shape;402;p15"/>
          <p:cNvCxnSpPr/>
          <p:nvPr/>
        </p:nvCxnSpPr>
        <p:spPr>
          <a:xfrm>
            <a:off x="2971800" y="2834640"/>
            <a:ext cx="0" cy="420624"/>
          </a:xfrm>
          <a:prstGeom prst="straightConnector1">
            <a:avLst/>
          </a:prstGeom>
          <a:noFill/>
          <a:ln cap="flat" cmpd="sng" w="12700">
            <a:solidFill>
              <a:srgbClr val="D9E3EE"/>
            </a:solidFill>
            <a:prstDash val="solid"/>
            <a:round/>
            <a:headEnd len="sm" w="sm" type="none"/>
            <a:tailEnd len="sm" w="sm" type="none"/>
          </a:ln>
        </p:spPr>
      </p:cxnSp>
      <p:cxnSp>
        <p:nvCxnSpPr>
          <p:cNvPr id="403" name="Google Shape;403;p15"/>
          <p:cNvCxnSpPr/>
          <p:nvPr/>
        </p:nvCxnSpPr>
        <p:spPr>
          <a:xfrm>
            <a:off x="3886200" y="2834640"/>
            <a:ext cx="0" cy="420624"/>
          </a:xfrm>
          <a:prstGeom prst="straightConnector1">
            <a:avLst/>
          </a:prstGeom>
          <a:noFill/>
          <a:ln cap="flat" cmpd="sng" w="12700">
            <a:solidFill>
              <a:srgbClr val="D9E3EE"/>
            </a:solidFill>
            <a:prstDash val="solid"/>
            <a:round/>
            <a:headEnd len="sm" w="sm" type="none"/>
            <a:tailEnd len="sm" w="sm" type="none"/>
          </a:ln>
        </p:spPr>
      </p:cxnSp>
      <p:cxnSp>
        <p:nvCxnSpPr>
          <p:cNvPr id="404" name="Google Shape;404;p15"/>
          <p:cNvCxnSpPr/>
          <p:nvPr/>
        </p:nvCxnSpPr>
        <p:spPr>
          <a:xfrm>
            <a:off x="4800600" y="2834640"/>
            <a:ext cx="0" cy="420624"/>
          </a:xfrm>
          <a:prstGeom prst="straightConnector1">
            <a:avLst/>
          </a:prstGeom>
          <a:noFill/>
          <a:ln cap="flat" cmpd="sng" w="12700">
            <a:solidFill>
              <a:srgbClr val="D9E3EE"/>
            </a:solidFill>
            <a:prstDash val="solid"/>
            <a:round/>
            <a:headEnd len="sm" w="sm" type="none"/>
            <a:tailEnd len="sm" w="sm" type="none"/>
          </a:ln>
        </p:spPr>
      </p:cxnSp>
      <p:cxnSp>
        <p:nvCxnSpPr>
          <p:cNvPr id="405" name="Google Shape;405;p15"/>
          <p:cNvCxnSpPr/>
          <p:nvPr/>
        </p:nvCxnSpPr>
        <p:spPr>
          <a:xfrm>
            <a:off x="5715000" y="2834640"/>
            <a:ext cx="0" cy="420624"/>
          </a:xfrm>
          <a:prstGeom prst="straightConnector1">
            <a:avLst/>
          </a:prstGeom>
          <a:noFill/>
          <a:ln cap="flat" cmpd="sng" w="12700">
            <a:solidFill>
              <a:srgbClr val="D9E3EE"/>
            </a:solidFill>
            <a:prstDash val="solid"/>
            <a:round/>
            <a:headEnd len="sm" w="sm" type="none"/>
            <a:tailEnd len="sm" w="sm" type="none"/>
          </a:ln>
        </p:spPr>
      </p:cxnSp>
      <p:cxnSp>
        <p:nvCxnSpPr>
          <p:cNvPr id="406" name="Google Shape;406;p15"/>
          <p:cNvCxnSpPr/>
          <p:nvPr/>
        </p:nvCxnSpPr>
        <p:spPr>
          <a:xfrm>
            <a:off x="6629400" y="2834640"/>
            <a:ext cx="0" cy="420624"/>
          </a:xfrm>
          <a:prstGeom prst="straightConnector1">
            <a:avLst/>
          </a:prstGeom>
          <a:noFill/>
          <a:ln cap="flat" cmpd="sng" w="12700">
            <a:solidFill>
              <a:srgbClr val="D9E3EE"/>
            </a:solidFill>
            <a:prstDash val="solid"/>
            <a:round/>
            <a:headEnd len="sm" w="sm" type="none"/>
            <a:tailEnd len="sm" w="sm" type="none"/>
          </a:ln>
        </p:spPr>
      </p:cxnSp>
      <p:cxnSp>
        <p:nvCxnSpPr>
          <p:cNvPr id="407" name="Google Shape;407;p15"/>
          <p:cNvCxnSpPr/>
          <p:nvPr/>
        </p:nvCxnSpPr>
        <p:spPr>
          <a:xfrm>
            <a:off x="7543800" y="2834640"/>
            <a:ext cx="0" cy="420624"/>
          </a:xfrm>
          <a:prstGeom prst="straightConnector1">
            <a:avLst/>
          </a:prstGeom>
          <a:noFill/>
          <a:ln cap="flat" cmpd="sng" w="12700">
            <a:solidFill>
              <a:srgbClr val="D9E3EE"/>
            </a:solidFill>
            <a:prstDash val="solid"/>
            <a:round/>
            <a:headEnd len="sm" w="sm" type="none"/>
            <a:tailEnd len="sm" w="sm" type="none"/>
          </a:ln>
        </p:spPr>
      </p:cxnSp>
      <p:cxnSp>
        <p:nvCxnSpPr>
          <p:cNvPr id="408" name="Google Shape;408;p15"/>
          <p:cNvCxnSpPr/>
          <p:nvPr/>
        </p:nvCxnSpPr>
        <p:spPr>
          <a:xfrm>
            <a:off x="8458200" y="2834640"/>
            <a:ext cx="0" cy="420624"/>
          </a:xfrm>
          <a:prstGeom prst="straightConnector1">
            <a:avLst/>
          </a:prstGeom>
          <a:noFill/>
          <a:ln cap="flat" cmpd="sng" w="12700">
            <a:solidFill>
              <a:srgbClr val="D9E3EE"/>
            </a:solidFill>
            <a:prstDash val="solid"/>
            <a:round/>
            <a:headEnd len="sm" w="sm" type="none"/>
            <a:tailEnd len="sm" w="sm" type="none"/>
          </a:ln>
        </p:spPr>
      </p:cxnSp>
      <p:cxnSp>
        <p:nvCxnSpPr>
          <p:cNvPr id="409" name="Google Shape;409;p15"/>
          <p:cNvCxnSpPr/>
          <p:nvPr/>
        </p:nvCxnSpPr>
        <p:spPr>
          <a:xfrm>
            <a:off x="9372600" y="2834640"/>
            <a:ext cx="0" cy="420624"/>
          </a:xfrm>
          <a:prstGeom prst="straightConnector1">
            <a:avLst/>
          </a:prstGeom>
          <a:noFill/>
          <a:ln cap="flat" cmpd="sng" w="12700">
            <a:solidFill>
              <a:srgbClr val="D9E3EE"/>
            </a:solidFill>
            <a:prstDash val="solid"/>
            <a:round/>
            <a:headEnd len="sm" w="sm" type="none"/>
            <a:tailEnd len="sm" w="sm" type="none"/>
          </a:ln>
        </p:spPr>
      </p:cxnSp>
      <p:cxnSp>
        <p:nvCxnSpPr>
          <p:cNvPr id="410" name="Google Shape;410;p15"/>
          <p:cNvCxnSpPr/>
          <p:nvPr/>
        </p:nvCxnSpPr>
        <p:spPr>
          <a:xfrm>
            <a:off x="10287000" y="2834640"/>
            <a:ext cx="0" cy="420624"/>
          </a:xfrm>
          <a:prstGeom prst="straightConnector1">
            <a:avLst/>
          </a:prstGeom>
          <a:noFill/>
          <a:ln cap="flat" cmpd="sng" w="12700">
            <a:solidFill>
              <a:srgbClr val="D9E3EE"/>
            </a:solidFill>
            <a:prstDash val="solid"/>
            <a:round/>
            <a:headEnd len="sm" w="sm" type="none"/>
            <a:tailEnd len="sm" w="sm" type="none"/>
          </a:ln>
        </p:spPr>
      </p:cxnSp>
      <p:sp>
        <p:nvSpPr>
          <p:cNvPr id="411" name="Google Shape;411;p15"/>
          <p:cNvSpPr/>
          <p:nvPr/>
        </p:nvSpPr>
        <p:spPr>
          <a:xfrm>
            <a:off x="3922776" y="2880360"/>
            <a:ext cx="1755648" cy="329184"/>
          </a:xfrm>
          <a:prstGeom prst="roundRect">
            <a:avLst>
              <a:gd fmla="val 19444" name="adj"/>
            </a:avLst>
          </a:prstGeom>
          <a:solidFill>
            <a:srgbClr val="7AC77A"/>
          </a:solidFill>
          <a:ln cap="flat" cmpd="sng" w="12700">
            <a:solidFill>
              <a:srgbClr val="7AC7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2" name="Google Shape;412;p15"/>
          <p:cNvSpPr/>
          <p:nvPr/>
        </p:nvSpPr>
        <p:spPr>
          <a:xfrm>
            <a:off x="868680" y="3566160"/>
            <a:ext cx="19202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300"/>
              <a:buFont typeface="Arial"/>
              <a:buNone/>
            </a:pPr>
            <a:r>
              <a:rPr b="0" i="0" lang="en-US" sz="1300" u="none" cap="none" strike="noStrike">
                <a:solidFill>
                  <a:srgbClr val="243447"/>
                </a:solidFill>
                <a:latin typeface="Arial"/>
                <a:ea typeface="Arial"/>
                <a:cs typeface="Arial"/>
                <a:sym typeface="Arial"/>
              </a:rPr>
              <a:t>Attrition analysis &amp; hypothesis testing</a:t>
            </a:r>
            <a:endParaRPr b="0" i="0" sz="1300" u="none" cap="none" strike="noStrike">
              <a:solidFill>
                <a:schemeClr val="dk1"/>
              </a:solidFill>
              <a:latin typeface="Arial"/>
              <a:ea typeface="Arial"/>
              <a:cs typeface="Arial"/>
              <a:sym typeface="Arial"/>
            </a:endParaRPr>
          </a:p>
        </p:txBody>
      </p:sp>
      <p:cxnSp>
        <p:nvCxnSpPr>
          <p:cNvPr id="413" name="Google Shape;413;p15"/>
          <p:cNvCxnSpPr/>
          <p:nvPr/>
        </p:nvCxnSpPr>
        <p:spPr>
          <a:xfrm>
            <a:off x="2971800" y="3456432"/>
            <a:ext cx="7242048" cy="0"/>
          </a:xfrm>
          <a:prstGeom prst="straightConnector1">
            <a:avLst/>
          </a:prstGeom>
          <a:noFill/>
          <a:ln cap="flat" cmpd="sng" w="12700">
            <a:solidFill>
              <a:srgbClr val="D9E3EE"/>
            </a:solidFill>
            <a:prstDash val="solid"/>
            <a:round/>
            <a:headEnd len="sm" w="sm" type="none"/>
            <a:tailEnd len="sm" w="sm" type="none"/>
          </a:ln>
        </p:spPr>
      </p:cxnSp>
      <p:cxnSp>
        <p:nvCxnSpPr>
          <p:cNvPr id="414" name="Google Shape;414;p15"/>
          <p:cNvCxnSpPr/>
          <p:nvPr/>
        </p:nvCxnSpPr>
        <p:spPr>
          <a:xfrm>
            <a:off x="2971800" y="3877056"/>
            <a:ext cx="7242048" cy="0"/>
          </a:xfrm>
          <a:prstGeom prst="straightConnector1">
            <a:avLst/>
          </a:prstGeom>
          <a:noFill/>
          <a:ln cap="flat" cmpd="sng" w="12700">
            <a:solidFill>
              <a:srgbClr val="D9E3EE"/>
            </a:solidFill>
            <a:prstDash val="solid"/>
            <a:round/>
            <a:headEnd len="sm" w="sm" type="none"/>
            <a:tailEnd len="sm" w="sm" type="none"/>
          </a:ln>
        </p:spPr>
      </p:cxnSp>
      <p:cxnSp>
        <p:nvCxnSpPr>
          <p:cNvPr id="415" name="Google Shape;415;p15"/>
          <p:cNvCxnSpPr/>
          <p:nvPr/>
        </p:nvCxnSpPr>
        <p:spPr>
          <a:xfrm>
            <a:off x="2971800" y="3456432"/>
            <a:ext cx="0" cy="420624"/>
          </a:xfrm>
          <a:prstGeom prst="straightConnector1">
            <a:avLst/>
          </a:prstGeom>
          <a:noFill/>
          <a:ln cap="flat" cmpd="sng" w="12700">
            <a:solidFill>
              <a:srgbClr val="D9E3EE"/>
            </a:solidFill>
            <a:prstDash val="solid"/>
            <a:round/>
            <a:headEnd len="sm" w="sm" type="none"/>
            <a:tailEnd len="sm" w="sm" type="none"/>
          </a:ln>
        </p:spPr>
      </p:cxnSp>
      <p:cxnSp>
        <p:nvCxnSpPr>
          <p:cNvPr id="416" name="Google Shape;416;p15"/>
          <p:cNvCxnSpPr/>
          <p:nvPr/>
        </p:nvCxnSpPr>
        <p:spPr>
          <a:xfrm>
            <a:off x="3886200" y="3456432"/>
            <a:ext cx="0" cy="420624"/>
          </a:xfrm>
          <a:prstGeom prst="straightConnector1">
            <a:avLst/>
          </a:prstGeom>
          <a:noFill/>
          <a:ln cap="flat" cmpd="sng" w="12700">
            <a:solidFill>
              <a:srgbClr val="D9E3EE"/>
            </a:solidFill>
            <a:prstDash val="solid"/>
            <a:round/>
            <a:headEnd len="sm" w="sm" type="none"/>
            <a:tailEnd len="sm" w="sm" type="none"/>
          </a:ln>
        </p:spPr>
      </p:cxnSp>
      <p:cxnSp>
        <p:nvCxnSpPr>
          <p:cNvPr id="417" name="Google Shape;417;p15"/>
          <p:cNvCxnSpPr/>
          <p:nvPr/>
        </p:nvCxnSpPr>
        <p:spPr>
          <a:xfrm>
            <a:off x="4800600" y="3456432"/>
            <a:ext cx="0" cy="420624"/>
          </a:xfrm>
          <a:prstGeom prst="straightConnector1">
            <a:avLst/>
          </a:prstGeom>
          <a:noFill/>
          <a:ln cap="flat" cmpd="sng" w="12700">
            <a:solidFill>
              <a:srgbClr val="D9E3EE"/>
            </a:solidFill>
            <a:prstDash val="solid"/>
            <a:round/>
            <a:headEnd len="sm" w="sm" type="none"/>
            <a:tailEnd len="sm" w="sm" type="none"/>
          </a:ln>
        </p:spPr>
      </p:cxnSp>
      <p:cxnSp>
        <p:nvCxnSpPr>
          <p:cNvPr id="418" name="Google Shape;418;p15"/>
          <p:cNvCxnSpPr/>
          <p:nvPr/>
        </p:nvCxnSpPr>
        <p:spPr>
          <a:xfrm>
            <a:off x="5715000" y="3456432"/>
            <a:ext cx="0" cy="420624"/>
          </a:xfrm>
          <a:prstGeom prst="straightConnector1">
            <a:avLst/>
          </a:prstGeom>
          <a:noFill/>
          <a:ln cap="flat" cmpd="sng" w="12700">
            <a:solidFill>
              <a:srgbClr val="D9E3EE"/>
            </a:solidFill>
            <a:prstDash val="solid"/>
            <a:round/>
            <a:headEnd len="sm" w="sm" type="none"/>
            <a:tailEnd len="sm" w="sm" type="none"/>
          </a:ln>
        </p:spPr>
      </p:cxnSp>
      <p:cxnSp>
        <p:nvCxnSpPr>
          <p:cNvPr id="419" name="Google Shape;419;p15"/>
          <p:cNvCxnSpPr/>
          <p:nvPr/>
        </p:nvCxnSpPr>
        <p:spPr>
          <a:xfrm>
            <a:off x="6629400" y="3456432"/>
            <a:ext cx="0" cy="420624"/>
          </a:xfrm>
          <a:prstGeom prst="straightConnector1">
            <a:avLst/>
          </a:prstGeom>
          <a:noFill/>
          <a:ln cap="flat" cmpd="sng" w="12700">
            <a:solidFill>
              <a:srgbClr val="D9E3EE"/>
            </a:solidFill>
            <a:prstDash val="solid"/>
            <a:round/>
            <a:headEnd len="sm" w="sm" type="none"/>
            <a:tailEnd len="sm" w="sm" type="none"/>
          </a:ln>
        </p:spPr>
      </p:cxnSp>
      <p:cxnSp>
        <p:nvCxnSpPr>
          <p:cNvPr id="420" name="Google Shape;420;p15"/>
          <p:cNvCxnSpPr/>
          <p:nvPr/>
        </p:nvCxnSpPr>
        <p:spPr>
          <a:xfrm>
            <a:off x="7543800" y="3456432"/>
            <a:ext cx="0" cy="420624"/>
          </a:xfrm>
          <a:prstGeom prst="straightConnector1">
            <a:avLst/>
          </a:prstGeom>
          <a:noFill/>
          <a:ln cap="flat" cmpd="sng" w="12700">
            <a:solidFill>
              <a:srgbClr val="D9E3EE"/>
            </a:solidFill>
            <a:prstDash val="solid"/>
            <a:round/>
            <a:headEnd len="sm" w="sm" type="none"/>
            <a:tailEnd len="sm" w="sm" type="none"/>
          </a:ln>
        </p:spPr>
      </p:cxnSp>
      <p:cxnSp>
        <p:nvCxnSpPr>
          <p:cNvPr id="421" name="Google Shape;421;p15"/>
          <p:cNvCxnSpPr/>
          <p:nvPr/>
        </p:nvCxnSpPr>
        <p:spPr>
          <a:xfrm>
            <a:off x="8458200" y="3456432"/>
            <a:ext cx="0" cy="420624"/>
          </a:xfrm>
          <a:prstGeom prst="straightConnector1">
            <a:avLst/>
          </a:prstGeom>
          <a:noFill/>
          <a:ln cap="flat" cmpd="sng" w="12700">
            <a:solidFill>
              <a:srgbClr val="D9E3EE"/>
            </a:solidFill>
            <a:prstDash val="solid"/>
            <a:round/>
            <a:headEnd len="sm" w="sm" type="none"/>
            <a:tailEnd len="sm" w="sm" type="none"/>
          </a:ln>
        </p:spPr>
      </p:cxnSp>
      <p:cxnSp>
        <p:nvCxnSpPr>
          <p:cNvPr id="422" name="Google Shape;422;p15"/>
          <p:cNvCxnSpPr/>
          <p:nvPr/>
        </p:nvCxnSpPr>
        <p:spPr>
          <a:xfrm>
            <a:off x="9372600" y="3456432"/>
            <a:ext cx="0" cy="420624"/>
          </a:xfrm>
          <a:prstGeom prst="straightConnector1">
            <a:avLst/>
          </a:prstGeom>
          <a:noFill/>
          <a:ln cap="flat" cmpd="sng" w="12700">
            <a:solidFill>
              <a:srgbClr val="D9E3EE"/>
            </a:solidFill>
            <a:prstDash val="solid"/>
            <a:round/>
            <a:headEnd len="sm" w="sm" type="none"/>
            <a:tailEnd len="sm" w="sm" type="none"/>
          </a:ln>
        </p:spPr>
      </p:cxnSp>
      <p:cxnSp>
        <p:nvCxnSpPr>
          <p:cNvPr id="423" name="Google Shape;423;p15"/>
          <p:cNvCxnSpPr/>
          <p:nvPr/>
        </p:nvCxnSpPr>
        <p:spPr>
          <a:xfrm>
            <a:off x="10287000" y="3456432"/>
            <a:ext cx="0" cy="420624"/>
          </a:xfrm>
          <a:prstGeom prst="straightConnector1">
            <a:avLst/>
          </a:prstGeom>
          <a:noFill/>
          <a:ln cap="flat" cmpd="sng" w="12700">
            <a:solidFill>
              <a:srgbClr val="D9E3EE"/>
            </a:solidFill>
            <a:prstDash val="solid"/>
            <a:round/>
            <a:headEnd len="sm" w="sm" type="none"/>
            <a:tailEnd len="sm" w="sm" type="none"/>
          </a:ln>
        </p:spPr>
      </p:cxnSp>
      <p:sp>
        <p:nvSpPr>
          <p:cNvPr id="424" name="Google Shape;424;p15"/>
          <p:cNvSpPr/>
          <p:nvPr/>
        </p:nvSpPr>
        <p:spPr>
          <a:xfrm>
            <a:off x="5751576" y="3502152"/>
            <a:ext cx="1755648" cy="329184"/>
          </a:xfrm>
          <a:prstGeom prst="roundRect">
            <a:avLst>
              <a:gd fmla="val 19444" name="adj"/>
            </a:avLst>
          </a:prstGeom>
          <a:solidFill>
            <a:srgbClr val="F2994A"/>
          </a:solidFill>
          <a:ln cap="flat" cmpd="sng" w="12700">
            <a:solidFill>
              <a:srgbClr val="F299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5" name="Google Shape;425;p15"/>
          <p:cNvSpPr/>
          <p:nvPr/>
        </p:nvSpPr>
        <p:spPr>
          <a:xfrm>
            <a:off x="868680" y="4187952"/>
            <a:ext cx="19202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300"/>
              <a:buFont typeface="Arial"/>
              <a:buNone/>
            </a:pPr>
            <a:r>
              <a:rPr b="0" i="0" lang="en-US" sz="1300" u="none" cap="none" strike="noStrike">
                <a:solidFill>
                  <a:srgbClr val="243447"/>
                </a:solidFill>
                <a:latin typeface="Arial"/>
                <a:ea typeface="Arial"/>
                <a:cs typeface="Arial"/>
                <a:sym typeface="Arial"/>
              </a:rPr>
              <a:t>Insight synthesis &amp; HR validation</a:t>
            </a:r>
            <a:endParaRPr b="0" i="0" sz="1300" u="none" cap="none" strike="noStrike">
              <a:solidFill>
                <a:schemeClr val="dk1"/>
              </a:solidFill>
              <a:latin typeface="Arial"/>
              <a:ea typeface="Arial"/>
              <a:cs typeface="Arial"/>
              <a:sym typeface="Arial"/>
            </a:endParaRPr>
          </a:p>
        </p:txBody>
      </p:sp>
      <p:cxnSp>
        <p:nvCxnSpPr>
          <p:cNvPr id="426" name="Google Shape;426;p15"/>
          <p:cNvCxnSpPr/>
          <p:nvPr/>
        </p:nvCxnSpPr>
        <p:spPr>
          <a:xfrm>
            <a:off x="2971800" y="4078224"/>
            <a:ext cx="7242048" cy="0"/>
          </a:xfrm>
          <a:prstGeom prst="straightConnector1">
            <a:avLst/>
          </a:prstGeom>
          <a:noFill/>
          <a:ln cap="flat" cmpd="sng" w="12700">
            <a:solidFill>
              <a:srgbClr val="D9E3EE"/>
            </a:solidFill>
            <a:prstDash val="solid"/>
            <a:round/>
            <a:headEnd len="sm" w="sm" type="none"/>
            <a:tailEnd len="sm" w="sm" type="none"/>
          </a:ln>
        </p:spPr>
      </p:cxnSp>
      <p:cxnSp>
        <p:nvCxnSpPr>
          <p:cNvPr id="427" name="Google Shape;427;p15"/>
          <p:cNvCxnSpPr/>
          <p:nvPr/>
        </p:nvCxnSpPr>
        <p:spPr>
          <a:xfrm>
            <a:off x="2971800" y="4498848"/>
            <a:ext cx="7242048" cy="0"/>
          </a:xfrm>
          <a:prstGeom prst="straightConnector1">
            <a:avLst/>
          </a:prstGeom>
          <a:noFill/>
          <a:ln cap="flat" cmpd="sng" w="12700">
            <a:solidFill>
              <a:srgbClr val="D9E3EE"/>
            </a:solidFill>
            <a:prstDash val="solid"/>
            <a:round/>
            <a:headEnd len="sm" w="sm" type="none"/>
            <a:tailEnd len="sm" w="sm" type="none"/>
          </a:ln>
        </p:spPr>
      </p:cxnSp>
      <p:cxnSp>
        <p:nvCxnSpPr>
          <p:cNvPr id="428" name="Google Shape;428;p15"/>
          <p:cNvCxnSpPr/>
          <p:nvPr/>
        </p:nvCxnSpPr>
        <p:spPr>
          <a:xfrm>
            <a:off x="2971800" y="4078224"/>
            <a:ext cx="0" cy="420624"/>
          </a:xfrm>
          <a:prstGeom prst="straightConnector1">
            <a:avLst/>
          </a:prstGeom>
          <a:noFill/>
          <a:ln cap="flat" cmpd="sng" w="12700">
            <a:solidFill>
              <a:srgbClr val="D9E3EE"/>
            </a:solidFill>
            <a:prstDash val="solid"/>
            <a:round/>
            <a:headEnd len="sm" w="sm" type="none"/>
            <a:tailEnd len="sm" w="sm" type="none"/>
          </a:ln>
        </p:spPr>
      </p:cxnSp>
      <p:cxnSp>
        <p:nvCxnSpPr>
          <p:cNvPr id="429" name="Google Shape;429;p15"/>
          <p:cNvCxnSpPr/>
          <p:nvPr/>
        </p:nvCxnSpPr>
        <p:spPr>
          <a:xfrm>
            <a:off x="3886200" y="4078224"/>
            <a:ext cx="0" cy="420624"/>
          </a:xfrm>
          <a:prstGeom prst="straightConnector1">
            <a:avLst/>
          </a:prstGeom>
          <a:noFill/>
          <a:ln cap="flat" cmpd="sng" w="12700">
            <a:solidFill>
              <a:srgbClr val="D9E3EE"/>
            </a:solidFill>
            <a:prstDash val="solid"/>
            <a:round/>
            <a:headEnd len="sm" w="sm" type="none"/>
            <a:tailEnd len="sm" w="sm" type="none"/>
          </a:ln>
        </p:spPr>
      </p:cxnSp>
      <p:cxnSp>
        <p:nvCxnSpPr>
          <p:cNvPr id="430" name="Google Shape;430;p15"/>
          <p:cNvCxnSpPr/>
          <p:nvPr/>
        </p:nvCxnSpPr>
        <p:spPr>
          <a:xfrm>
            <a:off x="4800600" y="4078224"/>
            <a:ext cx="0" cy="420624"/>
          </a:xfrm>
          <a:prstGeom prst="straightConnector1">
            <a:avLst/>
          </a:prstGeom>
          <a:noFill/>
          <a:ln cap="flat" cmpd="sng" w="12700">
            <a:solidFill>
              <a:srgbClr val="D9E3EE"/>
            </a:solidFill>
            <a:prstDash val="solid"/>
            <a:round/>
            <a:headEnd len="sm" w="sm" type="none"/>
            <a:tailEnd len="sm" w="sm" type="none"/>
          </a:ln>
        </p:spPr>
      </p:cxnSp>
      <p:cxnSp>
        <p:nvCxnSpPr>
          <p:cNvPr id="431" name="Google Shape;431;p15"/>
          <p:cNvCxnSpPr/>
          <p:nvPr/>
        </p:nvCxnSpPr>
        <p:spPr>
          <a:xfrm>
            <a:off x="5715000" y="4078224"/>
            <a:ext cx="0" cy="420624"/>
          </a:xfrm>
          <a:prstGeom prst="straightConnector1">
            <a:avLst/>
          </a:prstGeom>
          <a:noFill/>
          <a:ln cap="flat" cmpd="sng" w="12700">
            <a:solidFill>
              <a:srgbClr val="D9E3EE"/>
            </a:solidFill>
            <a:prstDash val="solid"/>
            <a:round/>
            <a:headEnd len="sm" w="sm" type="none"/>
            <a:tailEnd len="sm" w="sm" type="none"/>
          </a:ln>
        </p:spPr>
      </p:cxnSp>
      <p:cxnSp>
        <p:nvCxnSpPr>
          <p:cNvPr id="432" name="Google Shape;432;p15"/>
          <p:cNvCxnSpPr/>
          <p:nvPr/>
        </p:nvCxnSpPr>
        <p:spPr>
          <a:xfrm>
            <a:off x="6629400" y="4078224"/>
            <a:ext cx="0" cy="420624"/>
          </a:xfrm>
          <a:prstGeom prst="straightConnector1">
            <a:avLst/>
          </a:prstGeom>
          <a:noFill/>
          <a:ln cap="flat" cmpd="sng" w="12700">
            <a:solidFill>
              <a:srgbClr val="D9E3EE"/>
            </a:solidFill>
            <a:prstDash val="solid"/>
            <a:round/>
            <a:headEnd len="sm" w="sm" type="none"/>
            <a:tailEnd len="sm" w="sm" type="none"/>
          </a:ln>
        </p:spPr>
      </p:cxnSp>
      <p:cxnSp>
        <p:nvCxnSpPr>
          <p:cNvPr id="433" name="Google Shape;433;p15"/>
          <p:cNvCxnSpPr/>
          <p:nvPr/>
        </p:nvCxnSpPr>
        <p:spPr>
          <a:xfrm>
            <a:off x="7543800" y="4078224"/>
            <a:ext cx="0" cy="420624"/>
          </a:xfrm>
          <a:prstGeom prst="straightConnector1">
            <a:avLst/>
          </a:prstGeom>
          <a:noFill/>
          <a:ln cap="flat" cmpd="sng" w="12700">
            <a:solidFill>
              <a:srgbClr val="D9E3EE"/>
            </a:solidFill>
            <a:prstDash val="solid"/>
            <a:round/>
            <a:headEnd len="sm" w="sm" type="none"/>
            <a:tailEnd len="sm" w="sm" type="none"/>
          </a:ln>
        </p:spPr>
      </p:cxnSp>
      <p:cxnSp>
        <p:nvCxnSpPr>
          <p:cNvPr id="434" name="Google Shape;434;p15"/>
          <p:cNvCxnSpPr/>
          <p:nvPr/>
        </p:nvCxnSpPr>
        <p:spPr>
          <a:xfrm>
            <a:off x="8458200" y="4078224"/>
            <a:ext cx="0" cy="420624"/>
          </a:xfrm>
          <a:prstGeom prst="straightConnector1">
            <a:avLst/>
          </a:prstGeom>
          <a:noFill/>
          <a:ln cap="flat" cmpd="sng" w="12700">
            <a:solidFill>
              <a:srgbClr val="D9E3EE"/>
            </a:solidFill>
            <a:prstDash val="solid"/>
            <a:round/>
            <a:headEnd len="sm" w="sm" type="none"/>
            <a:tailEnd len="sm" w="sm" type="none"/>
          </a:ln>
        </p:spPr>
      </p:cxnSp>
      <p:cxnSp>
        <p:nvCxnSpPr>
          <p:cNvPr id="435" name="Google Shape;435;p15"/>
          <p:cNvCxnSpPr/>
          <p:nvPr/>
        </p:nvCxnSpPr>
        <p:spPr>
          <a:xfrm>
            <a:off x="9372600" y="4078224"/>
            <a:ext cx="0" cy="420624"/>
          </a:xfrm>
          <a:prstGeom prst="straightConnector1">
            <a:avLst/>
          </a:prstGeom>
          <a:noFill/>
          <a:ln cap="flat" cmpd="sng" w="12700">
            <a:solidFill>
              <a:srgbClr val="D9E3EE"/>
            </a:solidFill>
            <a:prstDash val="solid"/>
            <a:round/>
            <a:headEnd len="sm" w="sm" type="none"/>
            <a:tailEnd len="sm" w="sm" type="none"/>
          </a:ln>
        </p:spPr>
      </p:cxnSp>
      <p:cxnSp>
        <p:nvCxnSpPr>
          <p:cNvPr id="436" name="Google Shape;436;p15"/>
          <p:cNvCxnSpPr/>
          <p:nvPr/>
        </p:nvCxnSpPr>
        <p:spPr>
          <a:xfrm>
            <a:off x="10287000" y="4078224"/>
            <a:ext cx="0" cy="420624"/>
          </a:xfrm>
          <a:prstGeom prst="straightConnector1">
            <a:avLst/>
          </a:prstGeom>
          <a:noFill/>
          <a:ln cap="flat" cmpd="sng" w="12700">
            <a:solidFill>
              <a:srgbClr val="D9E3EE"/>
            </a:solidFill>
            <a:prstDash val="solid"/>
            <a:round/>
            <a:headEnd len="sm" w="sm" type="none"/>
            <a:tailEnd len="sm" w="sm" type="none"/>
          </a:ln>
        </p:spPr>
      </p:cxnSp>
      <p:sp>
        <p:nvSpPr>
          <p:cNvPr id="437" name="Google Shape;437;p15"/>
          <p:cNvSpPr/>
          <p:nvPr/>
        </p:nvSpPr>
        <p:spPr>
          <a:xfrm>
            <a:off x="7580376" y="4123944"/>
            <a:ext cx="1755648" cy="329184"/>
          </a:xfrm>
          <a:prstGeom prst="roundRect">
            <a:avLst>
              <a:gd fmla="val 19444" name="adj"/>
            </a:avLst>
          </a:prstGeom>
          <a:solidFill>
            <a:srgbClr val="9B51E0"/>
          </a:solidFill>
          <a:ln cap="flat" cmpd="sng" w="12700">
            <a:solidFill>
              <a:srgbClr val="9B51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8" name="Google Shape;438;p15"/>
          <p:cNvSpPr/>
          <p:nvPr/>
        </p:nvSpPr>
        <p:spPr>
          <a:xfrm>
            <a:off x="868680" y="4809744"/>
            <a:ext cx="19202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3447"/>
              </a:buClr>
              <a:buSzPts val="1300"/>
              <a:buFont typeface="Arial"/>
              <a:buNone/>
            </a:pPr>
            <a:r>
              <a:rPr b="0" i="0" lang="en-US" sz="1300" u="none" cap="none" strike="noStrike">
                <a:solidFill>
                  <a:srgbClr val="243447"/>
                </a:solidFill>
                <a:latin typeface="Arial"/>
                <a:ea typeface="Arial"/>
                <a:cs typeface="Arial"/>
                <a:sym typeface="Arial"/>
              </a:rPr>
              <a:t>Executive reporting</a:t>
            </a:r>
            <a:endParaRPr b="0" i="0" sz="1300" u="none" cap="none" strike="noStrike">
              <a:solidFill>
                <a:schemeClr val="dk1"/>
              </a:solidFill>
              <a:latin typeface="Arial"/>
              <a:ea typeface="Arial"/>
              <a:cs typeface="Arial"/>
              <a:sym typeface="Arial"/>
            </a:endParaRPr>
          </a:p>
        </p:txBody>
      </p:sp>
      <p:cxnSp>
        <p:nvCxnSpPr>
          <p:cNvPr id="439" name="Google Shape;439;p15"/>
          <p:cNvCxnSpPr/>
          <p:nvPr/>
        </p:nvCxnSpPr>
        <p:spPr>
          <a:xfrm>
            <a:off x="2971800" y="4700016"/>
            <a:ext cx="7242048" cy="0"/>
          </a:xfrm>
          <a:prstGeom prst="straightConnector1">
            <a:avLst/>
          </a:prstGeom>
          <a:noFill/>
          <a:ln cap="flat" cmpd="sng" w="12700">
            <a:solidFill>
              <a:srgbClr val="D9E3EE"/>
            </a:solidFill>
            <a:prstDash val="solid"/>
            <a:round/>
            <a:headEnd len="sm" w="sm" type="none"/>
            <a:tailEnd len="sm" w="sm" type="none"/>
          </a:ln>
        </p:spPr>
      </p:cxnSp>
      <p:cxnSp>
        <p:nvCxnSpPr>
          <p:cNvPr id="440" name="Google Shape;440;p15"/>
          <p:cNvCxnSpPr/>
          <p:nvPr/>
        </p:nvCxnSpPr>
        <p:spPr>
          <a:xfrm>
            <a:off x="2971800" y="5120640"/>
            <a:ext cx="7242048" cy="0"/>
          </a:xfrm>
          <a:prstGeom prst="straightConnector1">
            <a:avLst/>
          </a:prstGeom>
          <a:noFill/>
          <a:ln cap="flat" cmpd="sng" w="12700">
            <a:solidFill>
              <a:srgbClr val="D9E3EE"/>
            </a:solidFill>
            <a:prstDash val="solid"/>
            <a:round/>
            <a:headEnd len="sm" w="sm" type="none"/>
            <a:tailEnd len="sm" w="sm" type="none"/>
          </a:ln>
        </p:spPr>
      </p:cxnSp>
      <p:cxnSp>
        <p:nvCxnSpPr>
          <p:cNvPr id="441" name="Google Shape;441;p15"/>
          <p:cNvCxnSpPr/>
          <p:nvPr/>
        </p:nvCxnSpPr>
        <p:spPr>
          <a:xfrm>
            <a:off x="2971800" y="4700016"/>
            <a:ext cx="0" cy="420624"/>
          </a:xfrm>
          <a:prstGeom prst="straightConnector1">
            <a:avLst/>
          </a:prstGeom>
          <a:noFill/>
          <a:ln cap="flat" cmpd="sng" w="12700">
            <a:solidFill>
              <a:srgbClr val="D9E3EE"/>
            </a:solidFill>
            <a:prstDash val="solid"/>
            <a:round/>
            <a:headEnd len="sm" w="sm" type="none"/>
            <a:tailEnd len="sm" w="sm" type="none"/>
          </a:ln>
        </p:spPr>
      </p:cxnSp>
      <p:cxnSp>
        <p:nvCxnSpPr>
          <p:cNvPr id="442" name="Google Shape;442;p15"/>
          <p:cNvCxnSpPr/>
          <p:nvPr/>
        </p:nvCxnSpPr>
        <p:spPr>
          <a:xfrm>
            <a:off x="3886200" y="4700016"/>
            <a:ext cx="0" cy="420624"/>
          </a:xfrm>
          <a:prstGeom prst="straightConnector1">
            <a:avLst/>
          </a:prstGeom>
          <a:noFill/>
          <a:ln cap="flat" cmpd="sng" w="12700">
            <a:solidFill>
              <a:srgbClr val="D9E3EE"/>
            </a:solidFill>
            <a:prstDash val="solid"/>
            <a:round/>
            <a:headEnd len="sm" w="sm" type="none"/>
            <a:tailEnd len="sm" w="sm" type="none"/>
          </a:ln>
        </p:spPr>
      </p:cxnSp>
      <p:cxnSp>
        <p:nvCxnSpPr>
          <p:cNvPr id="443" name="Google Shape;443;p15"/>
          <p:cNvCxnSpPr/>
          <p:nvPr/>
        </p:nvCxnSpPr>
        <p:spPr>
          <a:xfrm>
            <a:off x="4800600" y="4700016"/>
            <a:ext cx="0" cy="420624"/>
          </a:xfrm>
          <a:prstGeom prst="straightConnector1">
            <a:avLst/>
          </a:prstGeom>
          <a:noFill/>
          <a:ln cap="flat" cmpd="sng" w="12700">
            <a:solidFill>
              <a:srgbClr val="D9E3EE"/>
            </a:solidFill>
            <a:prstDash val="solid"/>
            <a:round/>
            <a:headEnd len="sm" w="sm" type="none"/>
            <a:tailEnd len="sm" w="sm" type="none"/>
          </a:ln>
        </p:spPr>
      </p:cxnSp>
      <p:cxnSp>
        <p:nvCxnSpPr>
          <p:cNvPr id="444" name="Google Shape;444;p15"/>
          <p:cNvCxnSpPr/>
          <p:nvPr/>
        </p:nvCxnSpPr>
        <p:spPr>
          <a:xfrm>
            <a:off x="5715000" y="4700016"/>
            <a:ext cx="0" cy="420624"/>
          </a:xfrm>
          <a:prstGeom prst="straightConnector1">
            <a:avLst/>
          </a:prstGeom>
          <a:noFill/>
          <a:ln cap="flat" cmpd="sng" w="12700">
            <a:solidFill>
              <a:srgbClr val="D9E3EE"/>
            </a:solidFill>
            <a:prstDash val="solid"/>
            <a:round/>
            <a:headEnd len="sm" w="sm" type="none"/>
            <a:tailEnd len="sm" w="sm" type="none"/>
          </a:ln>
        </p:spPr>
      </p:cxnSp>
      <p:cxnSp>
        <p:nvCxnSpPr>
          <p:cNvPr id="445" name="Google Shape;445;p15"/>
          <p:cNvCxnSpPr/>
          <p:nvPr/>
        </p:nvCxnSpPr>
        <p:spPr>
          <a:xfrm>
            <a:off x="6629400" y="4700016"/>
            <a:ext cx="0" cy="420624"/>
          </a:xfrm>
          <a:prstGeom prst="straightConnector1">
            <a:avLst/>
          </a:prstGeom>
          <a:noFill/>
          <a:ln cap="flat" cmpd="sng" w="12700">
            <a:solidFill>
              <a:srgbClr val="D9E3EE"/>
            </a:solidFill>
            <a:prstDash val="solid"/>
            <a:round/>
            <a:headEnd len="sm" w="sm" type="none"/>
            <a:tailEnd len="sm" w="sm" type="none"/>
          </a:ln>
        </p:spPr>
      </p:cxnSp>
      <p:cxnSp>
        <p:nvCxnSpPr>
          <p:cNvPr id="446" name="Google Shape;446;p15"/>
          <p:cNvCxnSpPr/>
          <p:nvPr/>
        </p:nvCxnSpPr>
        <p:spPr>
          <a:xfrm>
            <a:off x="7543800" y="4700016"/>
            <a:ext cx="0" cy="420624"/>
          </a:xfrm>
          <a:prstGeom prst="straightConnector1">
            <a:avLst/>
          </a:prstGeom>
          <a:noFill/>
          <a:ln cap="flat" cmpd="sng" w="12700">
            <a:solidFill>
              <a:srgbClr val="D9E3EE"/>
            </a:solidFill>
            <a:prstDash val="solid"/>
            <a:round/>
            <a:headEnd len="sm" w="sm" type="none"/>
            <a:tailEnd len="sm" w="sm" type="none"/>
          </a:ln>
        </p:spPr>
      </p:cxnSp>
      <p:cxnSp>
        <p:nvCxnSpPr>
          <p:cNvPr id="447" name="Google Shape;447;p15"/>
          <p:cNvCxnSpPr/>
          <p:nvPr/>
        </p:nvCxnSpPr>
        <p:spPr>
          <a:xfrm>
            <a:off x="8458200" y="4700016"/>
            <a:ext cx="0" cy="420624"/>
          </a:xfrm>
          <a:prstGeom prst="straightConnector1">
            <a:avLst/>
          </a:prstGeom>
          <a:noFill/>
          <a:ln cap="flat" cmpd="sng" w="12700">
            <a:solidFill>
              <a:srgbClr val="D9E3EE"/>
            </a:solidFill>
            <a:prstDash val="solid"/>
            <a:round/>
            <a:headEnd len="sm" w="sm" type="none"/>
            <a:tailEnd len="sm" w="sm" type="none"/>
          </a:ln>
        </p:spPr>
      </p:cxnSp>
      <p:cxnSp>
        <p:nvCxnSpPr>
          <p:cNvPr id="448" name="Google Shape;448;p15"/>
          <p:cNvCxnSpPr/>
          <p:nvPr/>
        </p:nvCxnSpPr>
        <p:spPr>
          <a:xfrm>
            <a:off x="9372600" y="4700016"/>
            <a:ext cx="0" cy="420624"/>
          </a:xfrm>
          <a:prstGeom prst="straightConnector1">
            <a:avLst/>
          </a:prstGeom>
          <a:noFill/>
          <a:ln cap="flat" cmpd="sng" w="12700">
            <a:solidFill>
              <a:srgbClr val="D9E3EE"/>
            </a:solidFill>
            <a:prstDash val="solid"/>
            <a:round/>
            <a:headEnd len="sm" w="sm" type="none"/>
            <a:tailEnd len="sm" w="sm" type="none"/>
          </a:ln>
        </p:spPr>
      </p:cxnSp>
      <p:cxnSp>
        <p:nvCxnSpPr>
          <p:cNvPr id="449" name="Google Shape;449;p15"/>
          <p:cNvCxnSpPr/>
          <p:nvPr/>
        </p:nvCxnSpPr>
        <p:spPr>
          <a:xfrm>
            <a:off x="10287000" y="4700016"/>
            <a:ext cx="0" cy="420624"/>
          </a:xfrm>
          <a:prstGeom prst="straightConnector1">
            <a:avLst/>
          </a:prstGeom>
          <a:noFill/>
          <a:ln cap="flat" cmpd="sng" w="12700">
            <a:solidFill>
              <a:srgbClr val="D9E3EE"/>
            </a:solidFill>
            <a:prstDash val="solid"/>
            <a:round/>
            <a:headEnd len="sm" w="sm" type="none"/>
            <a:tailEnd len="sm" w="sm" type="none"/>
          </a:ln>
        </p:spPr>
      </p:cxnSp>
      <p:sp>
        <p:nvSpPr>
          <p:cNvPr id="450" name="Google Shape;450;p15"/>
          <p:cNvSpPr/>
          <p:nvPr/>
        </p:nvSpPr>
        <p:spPr>
          <a:xfrm>
            <a:off x="9409176" y="4745736"/>
            <a:ext cx="841248" cy="329184"/>
          </a:xfrm>
          <a:prstGeom prst="roundRect">
            <a:avLst>
              <a:gd fmla="val 19444" name="adj"/>
            </a:avLst>
          </a:prstGeom>
          <a:solidFill>
            <a:srgbClr val="123B6D"/>
          </a:solidFill>
          <a:ln cap="flat" cmpd="sng" w="12700">
            <a:solidFill>
              <a:srgbClr val="123B6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1" name="Google Shape;451;p15"/>
          <p:cNvSpPr/>
          <p:nvPr/>
        </p:nvSpPr>
        <p:spPr>
          <a:xfrm>
            <a:off x="749808" y="5376672"/>
            <a:ext cx="5212080" cy="804672"/>
          </a:xfrm>
          <a:prstGeom prst="roundRect">
            <a:avLst>
              <a:gd fmla="val 909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2" name="Google Shape;452;p15"/>
          <p:cNvSpPr/>
          <p:nvPr/>
        </p:nvSpPr>
        <p:spPr>
          <a:xfrm>
            <a:off x="987552" y="5559552"/>
            <a:ext cx="201168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250"/>
              <a:buFont typeface="Arial"/>
              <a:buNone/>
            </a:pPr>
            <a:r>
              <a:rPr b="1" i="0" lang="en-US" sz="1250" u="none" cap="none" strike="noStrike">
                <a:solidFill>
                  <a:srgbClr val="2F80ED"/>
                </a:solidFill>
                <a:latin typeface="Arial"/>
                <a:ea typeface="Arial"/>
                <a:cs typeface="Arial"/>
                <a:sym typeface="Arial"/>
              </a:rPr>
              <a:t>Governance cadence</a:t>
            </a:r>
            <a:endParaRPr b="0" i="0" sz="1250" u="none" cap="none" strike="noStrike">
              <a:solidFill>
                <a:schemeClr val="dk1"/>
              </a:solidFill>
              <a:latin typeface="Arial"/>
              <a:ea typeface="Arial"/>
              <a:cs typeface="Arial"/>
              <a:sym typeface="Arial"/>
            </a:endParaRPr>
          </a:p>
        </p:txBody>
      </p:sp>
      <p:sp>
        <p:nvSpPr>
          <p:cNvPr id="453" name="Google Shape;453;p15"/>
          <p:cNvSpPr/>
          <p:nvPr/>
        </p:nvSpPr>
        <p:spPr>
          <a:xfrm>
            <a:off x="987552" y="5815584"/>
            <a:ext cx="4572000" cy="146304"/>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784"/>
              <a:buFont typeface="Arial"/>
              <a:buNone/>
            </a:pPr>
            <a:r>
              <a:rPr b="0" i="0" lang="en-US" sz="784" u="none" cap="none" strike="noStrike">
                <a:solidFill>
                  <a:srgbClr val="243447"/>
                </a:solidFill>
                <a:latin typeface="Arial"/>
                <a:ea typeface="Arial"/>
                <a:cs typeface="Arial"/>
                <a:sym typeface="Arial"/>
              </a:rPr>
              <a:t>Kickoff W1 | Data readiness W3 | Interim findings W5 | Validation W6–7 | Final presentation W8</a:t>
            </a:r>
            <a:endParaRPr b="0" i="0" sz="784" u="none" cap="none" strike="noStrike">
              <a:solidFill>
                <a:schemeClr val="dk1"/>
              </a:solidFill>
              <a:latin typeface="Arial"/>
              <a:ea typeface="Arial"/>
              <a:cs typeface="Arial"/>
              <a:sym typeface="Arial"/>
            </a:endParaRPr>
          </a:p>
        </p:txBody>
      </p:sp>
      <p:sp>
        <p:nvSpPr>
          <p:cNvPr id="454" name="Google Shape;454;p15"/>
          <p:cNvSpPr/>
          <p:nvPr/>
        </p:nvSpPr>
        <p:spPr>
          <a:xfrm>
            <a:off x="6172200" y="5376672"/>
            <a:ext cx="5349240" cy="804672"/>
          </a:xfrm>
          <a:prstGeom prst="roundRect">
            <a:avLst>
              <a:gd fmla="val 9091"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5" name="Google Shape;455;p15"/>
          <p:cNvSpPr/>
          <p:nvPr/>
        </p:nvSpPr>
        <p:spPr>
          <a:xfrm>
            <a:off x="6419088" y="5559552"/>
            <a:ext cx="182880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F80ED"/>
              </a:buClr>
              <a:buSzPts val="1250"/>
              <a:buFont typeface="Arial"/>
              <a:buNone/>
            </a:pPr>
            <a:r>
              <a:rPr b="1" i="0" lang="en-US" sz="1250" u="none" cap="none" strike="noStrike">
                <a:solidFill>
                  <a:srgbClr val="2F80ED"/>
                </a:solidFill>
                <a:latin typeface="Arial"/>
                <a:ea typeface="Arial"/>
                <a:cs typeface="Arial"/>
                <a:sym typeface="Arial"/>
              </a:rPr>
              <a:t>Key dependencies</a:t>
            </a:r>
            <a:endParaRPr b="0" i="0" sz="1250" u="none" cap="none" strike="noStrike">
              <a:solidFill>
                <a:schemeClr val="dk1"/>
              </a:solidFill>
              <a:latin typeface="Arial"/>
              <a:ea typeface="Arial"/>
              <a:cs typeface="Arial"/>
              <a:sym typeface="Arial"/>
            </a:endParaRPr>
          </a:p>
        </p:txBody>
      </p:sp>
      <p:sp>
        <p:nvSpPr>
          <p:cNvPr id="456" name="Google Shape;456;p15"/>
          <p:cNvSpPr/>
          <p:nvPr/>
        </p:nvSpPr>
        <p:spPr>
          <a:xfrm>
            <a:off x="6419088" y="5815584"/>
            <a:ext cx="4663440" cy="146304"/>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43447"/>
              </a:buClr>
              <a:buSzPts val="1036"/>
              <a:buFont typeface="Arial"/>
              <a:buNone/>
            </a:pPr>
            <a:r>
              <a:rPr b="0" i="0" lang="en-US" sz="1036" u="none" cap="none" strike="noStrike">
                <a:solidFill>
                  <a:srgbClr val="243447"/>
                </a:solidFill>
                <a:latin typeface="Arial"/>
                <a:ea typeface="Arial"/>
                <a:cs typeface="Arial"/>
                <a:sym typeface="Arial"/>
              </a:rPr>
              <a:t>HRIS access, updated exit data, HRBP validation and aligned executive review cycles.</a:t>
            </a:r>
            <a:endParaRPr b="0" i="0" sz="1036" u="none" cap="none" strike="noStrike">
              <a:solidFill>
                <a:schemeClr val="dk1"/>
              </a:solidFill>
              <a:latin typeface="Arial"/>
              <a:ea typeface="Arial"/>
              <a:cs typeface="Arial"/>
              <a:sym typeface="Arial"/>
            </a:endParaRPr>
          </a:p>
        </p:txBody>
      </p:sp>
      <p:sp>
        <p:nvSpPr>
          <p:cNvPr id="457" name="Google Shape;457;p15"/>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458" name="Google Shape;458;p15"/>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15</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16"/>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5" name="Google Shape;465;p16"/>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6" name="Google Shape;466;p16"/>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Appendix: Hypothesis Prioritization</a:t>
            </a:r>
            <a:endParaRPr b="0" i="0" sz="2600" u="none" cap="none" strike="noStrike">
              <a:solidFill>
                <a:schemeClr val="dk1"/>
              </a:solidFill>
              <a:latin typeface="Arial"/>
              <a:ea typeface="Arial"/>
              <a:cs typeface="Arial"/>
              <a:sym typeface="Arial"/>
            </a:endParaRPr>
          </a:p>
        </p:txBody>
      </p:sp>
      <p:sp>
        <p:nvSpPr>
          <p:cNvPr id="467" name="Google Shape;467;p16"/>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APPENDIX</a:t>
            </a:r>
            <a:endParaRPr b="0" i="0" sz="800" u="none" cap="none" strike="noStrike">
              <a:solidFill>
                <a:schemeClr val="dk1"/>
              </a:solidFill>
              <a:latin typeface="Arial"/>
              <a:ea typeface="Arial"/>
              <a:cs typeface="Arial"/>
              <a:sym typeface="Arial"/>
            </a:endParaRPr>
          </a:p>
        </p:txBody>
      </p:sp>
      <p:cxnSp>
        <p:nvCxnSpPr>
          <p:cNvPr id="468" name="Google Shape;468;p16"/>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469" name="Google Shape;469;p16"/>
          <p:cNvSpPr/>
          <p:nvPr/>
        </p:nvSpPr>
        <p:spPr>
          <a:xfrm>
            <a:off x="658368" y="987552"/>
            <a:ext cx="89611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700"/>
              <a:buFont typeface="Arial"/>
              <a:buNone/>
            </a:pPr>
            <a:r>
              <a:rPr b="0" i="0" lang="en-US" sz="1700" u="none" cap="none" strike="noStrike">
                <a:solidFill>
                  <a:srgbClr val="5B6776"/>
                </a:solidFill>
                <a:latin typeface="Arial"/>
                <a:ea typeface="Arial"/>
                <a:cs typeface="Arial"/>
                <a:sym typeface="Arial"/>
              </a:rPr>
              <a:t>The </a:t>
            </a:r>
            <a:r>
              <a:rPr lang="en-US" sz="1700">
                <a:solidFill>
                  <a:srgbClr val="5B6776"/>
                </a:solidFill>
              </a:rPr>
              <a:t>project </a:t>
            </a:r>
            <a:r>
              <a:rPr b="0" i="0" lang="en-US" sz="1700" u="none" cap="none" strike="noStrike">
                <a:solidFill>
                  <a:srgbClr val="5B6776"/>
                </a:solidFill>
                <a:latin typeface="Arial"/>
                <a:ea typeface="Arial"/>
                <a:cs typeface="Arial"/>
                <a:sym typeface="Arial"/>
              </a:rPr>
              <a:t>started with 20 hypotheses</a:t>
            </a:r>
            <a:r>
              <a:rPr lang="en-US" sz="1700">
                <a:solidFill>
                  <a:srgbClr val="5B6776"/>
                </a:solidFill>
              </a:rPr>
              <a:t> that got </a:t>
            </a:r>
            <a:r>
              <a:rPr b="0" i="0" lang="en-US" sz="1700" u="none" cap="none" strike="noStrike">
                <a:solidFill>
                  <a:srgbClr val="5B6776"/>
                </a:solidFill>
                <a:latin typeface="Arial"/>
                <a:ea typeface="Arial"/>
                <a:cs typeface="Arial"/>
                <a:sym typeface="Arial"/>
              </a:rPr>
              <a:t>prioritized </a:t>
            </a:r>
            <a:r>
              <a:rPr lang="en-US" sz="1700">
                <a:solidFill>
                  <a:srgbClr val="5B6776"/>
                </a:solidFill>
              </a:rPr>
              <a:t>to </a:t>
            </a:r>
            <a:r>
              <a:rPr b="0" i="0" lang="en-US" sz="1700" u="none" cap="none" strike="noStrike">
                <a:solidFill>
                  <a:srgbClr val="5B6776"/>
                </a:solidFill>
                <a:latin typeface="Arial"/>
                <a:ea typeface="Arial"/>
                <a:cs typeface="Arial"/>
                <a:sym typeface="Arial"/>
              </a:rPr>
              <a:t>a top 10 set based on strategic priority, actionability, data availability and analytical complexity.</a:t>
            </a:r>
            <a:endParaRPr b="0" i="0" sz="1700" u="none" cap="none" strike="noStrike">
              <a:solidFill>
                <a:schemeClr val="dk1"/>
              </a:solidFill>
              <a:latin typeface="Arial"/>
              <a:ea typeface="Arial"/>
              <a:cs typeface="Arial"/>
              <a:sym typeface="Arial"/>
            </a:endParaRPr>
          </a:p>
        </p:txBody>
      </p:sp>
      <p:sp>
        <p:nvSpPr>
          <p:cNvPr id="470" name="Google Shape;470;p16"/>
          <p:cNvSpPr/>
          <p:nvPr/>
        </p:nvSpPr>
        <p:spPr>
          <a:xfrm>
            <a:off x="658368" y="1536192"/>
            <a:ext cx="2743200" cy="4526280"/>
          </a:xfrm>
          <a:prstGeom prst="roundRect">
            <a:avLst>
              <a:gd fmla="val 4000"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1" name="Google Shape;471;p16"/>
          <p:cNvSpPr/>
          <p:nvPr/>
        </p:nvSpPr>
        <p:spPr>
          <a:xfrm>
            <a:off x="896112" y="1828800"/>
            <a:ext cx="1371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Scoring logic</a:t>
            </a:r>
            <a:endParaRPr b="0" i="0" sz="1800" u="none" cap="none" strike="noStrike">
              <a:solidFill>
                <a:schemeClr val="dk1"/>
              </a:solidFill>
              <a:latin typeface="Arial"/>
              <a:ea typeface="Arial"/>
              <a:cs typeface="Arial"/>
              <a:sym typeface="Arial"/>
            </a:endParaRPr>
          </a:p>
        </p:txBody>
      </p:sp>
      <p:sp>
        <p:nvSpPr>
          <p:cNvPr id="472" name="Google Shape;472;p16"/>
          <p:cNvSpPr/>
          <p:nvPr/>
        </p:nvSpPr>
        <p:spPr>
          <a:xfrm>
            <a:off x="896112" y="2212848"/>
            <a:ext cx="210312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500"/>
              <a:buFont typeface="Arial"/>
              <a:buNone/>
            </a:pPr>
            <a:r>
              <a:rPr b="0" i="0" lang="en-US" sz="1500" u="none" cap="none" strike="noStrike">
                <a:solidFill>
                  <a:srgbClr val="243447"/>
                </a:solidFill>
                <a:latin typeface="Arial"/>
                <a:ea typeface="Arial"/>
                <a:cs typeface="Arial"/>
                <a:sym typeface="Arial"/>
              </a:rPr>
              <a:t>• Strategic priority</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500"/>
              <a:buFont typeface="Arial"/>
              <a:buNone/>
            </a:pPr>
            <a:r>
              <a:rPr b="0" i="0" lang="en-US" sz="1500" u="none" cap="none" strike="noStrike">
                <a:solidFill>
                  <a:srgbClr val="243447"/>
                </a:solidFill>
                <a:latin typeface="Arial"/>
                <a:ea typeface="Arial"/>
                <a:cs typeface="Arial"/>
                <a:sym typeface="Arial"/>
              </a:rPr>
              <a:t>• Actionability</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500"/>
              <a:buFont typeface="Arial"/>
              <a:buNone/>
            </a:pPr>
            <a:r>
              <a:rPr b="0" i="0" lang="en-US" sz="1500" u="none" cap="none" strike="noStrike">
                <a:solidFill>
                  <a:srgbClr val="243447"/>
                </a:solidFill>
                <a:latin typeface="Arial"/>
                <a:ea typeface="Arial"/>
                <a:cs typeface="Arial"/>
                <a:sym typeface="Arial"/>
              </a:rPr>
              <a:t>• Data availability</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500"/>
              <a:buFont typeface="Arial"/>
              <a:buNone/>
            </a:pPr>
            <a:r>
              <a:rPr b="0" i="0" lang="en-US" sz="1500" u="none" cap="none" strike="noStrike">
                <a:solidFill>
                  <a:srgbClr val="243447"/>
                </a:solidFill>
                <a:latin typeface="Arial"/>
                <a:ea typeface="Arial"/>
                <a:cs typeface="Arial"/>
                <a:sym typeface="Arial"/>
              </a:rPr>
              <a:t>• Analytical complexity (tracked separately)</a:t>
            </a:r>
            <a:endParaRPr b="0" i="0" sz="1500" u="none" cap="none" strike="noStrike">
              <a:solidFill>
                <a:schemeClr val="dk1"/>
              </a:solidFill>
              <a:latin typeface="Arial"/>
              <a:ea typeface="Arial"/>
              <a:cs typeface="Arial"/>
              <a:sym typeface="Arial"/>
            </a:endParaRPr>
          </a:p>
        </p:txBody>
      </p:sp>
      <p:sp>
        <p:nvSpPr>
          <p:cNvPr id="473" name="Google Shape;473;p16"/>
          <p:cNvSpPr/>
          <p:nvPr/>
        </p:nvSpPr>
        <p:spPr>
          <a:xfrm>
            <a:off x="896112" y="4187952"/>
            <a:ext cx="2103120" cy="100584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5B6776"/>
              </a:buClr>
              <a:buSzPts val="1295"/>
              <a:buFont typeface="Arial"/>
              <a:buNone/>
            </a:pPr>
            <a:r>
              <a:rPr b="0" i="0" lang="en-US" sz="1295" u="none" cap="none" strike="noStrike">
                <a:solidFill>
                  <a:srgbClr val="5B6776"/>
                </a:solidFill>
                <a:latin typeface="Arial"/>
                <a:ea typeface="Arial"/>
                <a:cs typeface="Arial"/>
                <a:sym typeface="Arial"/>
              </a:rPr>
              <a:t>Highest-value user stories prioritized analysis on tenure, department, time in role, travel, work-life balance, engagement, salary increase and performance.</a:t>
            </a:r>
            <a:endParaRPr b="0" i="0" sz="1295" u="none" cap="none" strike="noStrike">
              <a:solidFill>
                <a:schemeClr val="dk1"/>
              </a:solidFill>
              <a:latin typeface="Arial"/>
              <a:ea typeface="Arial"/>
              <a:cs typeface="Arial"/>
              <a:sym typeface="Arial"/>
            </a:endParaRPr>
          </a:p>
        </p:txBody>
      </p:sp>
      <p:sp>
        <p:nvSpPr>
          <p:cNvPr id="474" name="Google Shape;474;p16"/>
          <p:cNvSpPr/>
          <p:nvPr/>
        </p:nvSpPr>
        <p:spPr>
          <a:xfrm>
            <a:off x="3703320" y="1536192"/>
            <a:ext cx="7818120" cy="4526280"/>
          </a:xfrm>
          <a:prstGeom prst="roundRect">
            <a:avLst>
              <a:gd fmla="val 2424"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5" name="Google Shape;475;p16"/>
          <p:cNvSpPr/>
          <p:nvPr/>
        </p:nvSpPr>
        <p:spPr>
          <a:xfrm>
            <a:off x="3977640" y="1828800"/>
            <a:ext cx="3154680" cy="475488"/>
          </a:xfrm>
          <a:prstGeom prst="roundRect">
            <a:avLst>
              <a:gd fmla="val 11538" name="adj"/>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6" name="Google Shape;476;p16"/>
          <p:cNvSpPr/>
          <p:nvPr/>
        </p:nvSpPr>
        <p:spPr>
          <a:xfrm>
            <a:off x="4087368" y="1938528"/>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1. Attrition risk by tenure stage</a:t>
            </a:r>
            <a:endParaRPr b="0" i="0" sz="1203" u="none" cap="none" strike="noStrike">
              <a:solidFill>
                <a:schemeClr val="dk1"/>
              </a:solidFill>
              <a:latin typeface="Arial"/>
              <a:ea typeface="Arial"/>
              <a:cs typeface="Arial"/>
              <a:sym typeface="Arial"/>
            </a:endParaRPr>
          </a:p>
        </p:txBody>
      </p:sp>
      <p:sp>
        <p:nvSpPr>
          <p:cNvPr id="477" name="Google Shape;477;p16"/>
          <p:cNvSpPr/>
          <p:nvPr/>
        </p:nvSpPr>
        <p:spPr>
          <a:xfrm>
            <a:off x="3977640" y="2542032"/>
            <a:ext cx="3154680" cy="475488"/>
          </a:xfrm>
          <a:prstGeom prst="roundRect">
            <a:avLst>
              <a:gd fmla="val 11538" name="adj"/>
            </a:avLst>
          </a:prstGeom>
          <a:solidFill>
            <a:srgbClr val="FFFFFF"/>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8" name="Google Shape;478;p16"/>
          <p:cNvSpPr/>
          <p:nvPr/>
        </p:nvSpPr>
        <p:spPr>
          <a:xfrm>
            <a:off x="4087368" y="2651760"/>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2. Long-tenure leadership risk</a:t>
            </a:r>
            <a:endParaRPr b="0" i="0" sz="1203" u="none" cap="none" strike="noStrike">
              <a:solidFill>
                <a:schemeClr val="dk1"/>
              </a:solidFill>
              <a:latin typeface="Arial"/>
              <a:ea typeface="Arial"/>
              <a:cs typeface="Arial"/>
              <a:sym typeface="Arial"/>
            </a:endParaRPr>
          </a:p>
        </p:txBody>
      </p:sp>
      <p:sp>
        <p:nvSpPr>
          <p:cNvPr id="479" name="Google Shape;479;p16"/>
          <p:cNvSpPr/>
          <p:nvPr/>
        </p:nvSpPr>
        <p:spPr>
          <a:xfrm>
            <a:off x="3977640" y="3255264"/>
            <a:ext cx="3154680" cy="475488"/>
          </a:xfrm>
          <a:prstGeom prst="roundRect">
            <a:avLst>
              <a:gd fmla="val 11538" name="adj"/>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0" name="Google Shape;480;p16"/>
          <p:cNvSpPr/>
          <p:nvPr/>
        </p:nvSpPr>
        <p:spPr>
          <a:xfrm>
            <a:off x="4087368" y="3364992"/>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3. Ranked attrition risk by department</a:t>
            </a:r>
            <a:endParaRPr b="0" i="0" sz="1203" u="none" cap="none" strike="noStrike">
              <a:solidFill>
                <a:schemeClr val="dk1"/>
              </a:solidFill>
              <a:latin typeface="Arial"/>
              <a:ea typeface="Arial"/>
              <a:cs typeface="Arial"/>
              <a:sym typeface="Arial"/>
            </a:endParaRPr>
          </a:p>
        </p:txBody>
      </p:sp>
      <p:sp>
        <p:nvSpPr>
          <p:cNvPr id="481" name="Google Shape;481;p16"/>
          <p:cNvSpPr/>
          <p:nvPr/>
        </p:nvSpPr>
        <p:spPr>
          <a:xfrm>
            <a:off x="3977640" y="3968496"/>
            <a:ext cx="3154680" cy="475488"/>
          </a:xfrm>
          <a:prstGeom prst="roundRect">
            <a:avLst>
              <a:gd fmla="val 11538" name="adj"/>
            </a:avLst>
          </a:prstGeom>
          <a:solidFill>
            <a:srgbClr val="FFFFFF"/>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2" name="Google Shape;482;p16"/>
          <p:cNvSpPr/>
          <p:nvPr/>
        </p:nvSpPr>
        <p:spPr>
          <a:xfrm>
            <a:off x="4087368" y="4078224"/>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4. Years in role as a risk flag</a:t>
            </a:r>
            <a:endParaRPr b="0" i="0" sz="1203" u="none" cap="none" strike="noStrike">
              <a:solidFill>
                <a:schemeClr val="dk1"/>
              </a:solidFill>
              <a:latin typeface="Arial"/>
              <a:ea typeface="Arial"/>
              <a:cs typeface="Arial"/>
              <a:sym typeface="Arial"/>
            </a:endParaRPr>
          </a:p>
        </p:txBody>
      </p:sp>
      <p:sp>
        <p:nvSpPr>
          <p:cNvPr id="483" name="Google Shape;483;p16"/>
          <p:cNvSpPr/>
          <p:nvPr/>
        </p:nvSpPr>
        <p:spPr>
          <a:xfrm>
            <a:off x="3977640" y="4681728"/>
            <a:ext cx="3154680" cy="475488"/>
          </a:xfrm>
          <a:prstGeom prst="roundRect">
            <a:avLst>
              <a:gd fmla="val 11538" name="adj"/>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4" name="Google Shape;484;p16"/>
          <p:cNvSpPr/>
          <p:nvPr/>
        </p:nvSpPr>
        <p:spPr>
          <a:xfrm>
            <a:off x="4087368" y="4791456"/>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007"/>
              <a:buFont typeface="Arial"/>
              <a:buNone/>
            </a:pPr>
            <a:r>
              <a:rPr b="0" i="0" lang="en-US" sz="1008" u="none" cap="none" strike="noStrike">
                <a:solidFill>
                  <a:srgbClr val="243447"/>
                </a:solidFill>
                <a:latin typeface="Arial"/>
                <a:ea typeface="Arial"/>
                <a:cs typeface="Arial"/>
                <a:sym typeface="Arial"/>
              </a:rPr>
              <a:t>5. Sales and R&amp;D risk versus other departments</a:t>
            </a:r>
            <a:endParaRPr b="0" i="0" sz="1008" u="none" cap="none" strike="noStrike">
              <a:solidFill>
                <a:schemeClr val="dk1"/>
              </a:solidFill>
              <a:latin typeface="Arial"/>
              <a:ea typeface="Arial"/>
              <a:cs typeface="Arial"/>
              <a:sym typeface="Arial"/>
            </a:endParaRPr>
          </a:p>
        </p:txBody>
      </p:sp>
      <p:sp>
        <p:nvSpPr>
          <p:cNvPr id="485" name="Google Shape;485;p16"/>
          <p:cNvSpPr/>
          <p:nvPr/>
        </p:nvSpPr>
        <p:spPr>
          <a:xfrm>
            <a:off x="7589520" y="1828800"/>
            <a:ext cx="3154680" cy="475488"/>
          </a:xfrm>
          <a:prstGeom prst="roundRect">
            <a:avLst>
              <a:gd fmla="val 11538" name="adj"/>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6" name="Google Shape;486;p16"/>
          <p:cNvSpPr/>
          <p:nvPr/>
        </p:nvSpPr>
        <p:spPr>
          <a:xfrm>
            <a:off x="7699248" y="1938528"/>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6. Travel requirements and senior exits</a:t>
            </a:r>
            <a:endParaRPr b="0" i="0" sz="1203" u="none" cap="none" strike="noStrike">
              <a:solidFill>
                <a:schemeClr val="dk1"/>
              </a:solidFill>
              <a:latin typeface="Arial"/>
              <a:ea typeface="Arial"/>
              <a:cs typeface="Arial"/>
              <a:sym typeface="Arial"/>
            </a:endParaRPr>
          </a:p>
        </p:txBody>
      </p:sp>
      <p:sp>
        <p:nvSpPr>
          <p:cNvPr id="487" name="Google Shape;487;p16"/>
          <p:cNvSpPr/>
          <p:nvPr/>
        </p:nvSpPr>
        <p:spPr>
          <a:xfrm>
            <a:off x="7589520" y="2542032"/>
            <a:ext cx="3154680" cy="475488"/>
          </a:xfrm>
          <a:prstGeom prst="roundRect">
            <a:avLst>
              <a:gd fmla="val 11538" name="adj"/>
            </a:avLst>
          </a:prstGeom>
          <a:solidFill>
            <a:srgbClr val="FFFFFF"/>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8" name="Google Shape;488;p16"/>
          <p:cNvSpPr/>
          <p:nvPr/>
        </p:nvSpPr>
        <p:spPr>
          <a:xfrm>
            <a:off x="7699248" y="2651760"/>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7. Work-life balance as a predictor of exits</a:t>
            </a:r>
            <a:endParaRPr b="0" i="0" sz="1203" u="none" cap="none" strike="noStrike">
              <a:solidFill>
                <a:schemeClr val="dk1"/>
              </a:solidFill>
              <a:latin typeface="Arial"/>
              <a:ea typeface="Arial"/>
              <a:cs typeface="Arial"/>
              <a:sym typeface="Arial"/>
            </a:endParaRPr>
          </a:p>
        </p:txBody>
      </p:sp>
      <p:sp>
        <p:nvSpPr>
          <p:cNvPr id="489" name="Google Shape;489;p16"/>
          <p:cNvSpPr/>
          <p:nvPr/>
        </p:nvSpPr>
        <p:spPr>
          <a:xfrm>
            <a:off x="7589520" y="3255264"/>
            <a:ext cx="3154680" cy="475488"/>
          </a:xfrm>
          <a:prstGeom prst="roundRect">
            <a:avLst>
              <a:gd fmla="val 11538" name="adj"/>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0" name="Google Shape;490;p16"/>
          <p:cNvSpPr/>
          <p:nvPr/>
        </p:nvSpPr>
        <p:spPr>
          <a:xfrm>
            <a:off x="7699248" y="3364992"/>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8. Engagement drivers linked to attrition</a:t>
            </a:r>
            <a:endParaRPr b="0" i="0" sz="1203" u="none" cap="none" strike="noStrike">
              <a:solidFill>
                <a:schemeClr val="dk1"/>
              </a:solidFill>
              <a:latin typeface="Arial"/>
              <a:ea typeface="Arial"/>
              <a:cs typeface="Arial"/>
              <a:sym typeface="Arial"/>
            </a:endParaRPr>
          </a:p>
        </p:txBody>
      </p:sp>
      <p:sp>
        <p:nvSpPr>
          <p:cNvPr id="491" name="Google Shape;491;p16"/>
          <p:cNvSpPr/>
          <p:nvPr/>
        </p:nvSpPr>
        <p:spPr>
          <a:xfrm>
            <a:off x="7589520" y="3968496"/>
            <a:ext cx="3154680" cy="475488"/>
          </a:xfrm>
          <a:prstGeom prst="roundRect">
            <a:avLst>
              <a:gd fmla="val 11538" name="adj"/>
            </a:avLst>
          </a:prstGeom>
          <a:solidFill>
            <a:srgbClr val="FFFFFF"/>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2" name="Google Shape;492;p16"/>
          <p:cNvSpPr/>
          <p:nvPr/>
        </p:nvSpPr>
        <p:spPr>
          <a:xfrm>
            <a:off x="7699248" y="4078224"/>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9. Salary increase linked to exit risk</a:t>
            </a:r>
            <a:endParaRPr b="0" i="0" sz="1203" u="none" cap="none" strike="noStrike">
              <a:solidFill>
                <a:schemeClr val="dk1"/>
              </a:solidFill>
              <a:latin typeface="Arial"/>
              <a:ea typeface="Arial"/>
              <a:cs typeface="Arial"/>
              <a:sym typeface="Arial"/>
            </a:endParaRPr>
          </a:p>
        </p:txBody>
      </p:sp>
      <p:sp>
        <p:nvSpPr>
          <p:cNvPr id="493" name="Google Shape;493;p16"/>
          <p:cNvSpPr/>
          <p:nvPr/>
        </p:nvSpPr>
        <p:spPr>
          <a:xfrm>
            <a:off x="7589520" y="4681728"/>
            <a:ext cx="3154680" cy="475488"/>
          </a:xfrm>
          <a:prstGeom prst="roundRect">
            <a:avLst>
              <a:gd fmla="val 11538" name="adj"/>
            </a:avLst>
          </a:prstGeom>
          <a:solidFill>
            <a:srgbClr val="EFF5FB"/>
          </a:solidFill>
          <a:ln cap="flat" cmpd="sng" w="12700">
            <a:solidFill>
              <a:srgbClr val="D9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4" name="Google Shape;494;p16"/>
          <p:cNvSpPr/>
          <p:nvPr/>
        </p:nvSpPr>
        <p:spPr>
          <a:xfrm>
            <a:off x="7699248" y="4791456"/>
            <a:ext cx="2852928" cy="16459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243447"/>
              </a:buClr>
              <a:buSzPts val="1202"/>
              <a:buFont typeface="Arial"/>
              <a:buNone/>
            </a:pPr>
            <a:r>
              <a:rPr b="0" i="0" lang="en-US" sz="1203" u="none" cap="none" strike="noStrike">
                <a:solidFill>
                  <a:srgbClr val="243447"/>
                </a:solidFill>
                <a:latin typeface="Arial"/>
                <a:ea typeface="Arial"/>
                <a:cs typeface="Arial"/>
                <a:sym typeface="Arial"/>
              </a:rPr>
              <a:t>10. Performance ratings linked to exits</a:t>
            </a:r>
            <a:endParaRPr b="0" i="0" sz="1203" u="none" cap="none" strike="noStrike">
              <a:solidFill>
                <a:schemeClr val="dk1"/>
              </a:solidFill>
              <a:latin typeface="Arial"/>
              <a:ea typeface="Arial"/>
              <a:cs typeface="Arial"/>
              <a:sym typeface="Arial"/>
            </a:endParaRPr>
          </a:p>
        </p:txBody>
      </p:sp>
      <p:sp>
        <p:nvSpPr>
          <p:cNvPr id="495" name="Google Shape;495;p16"/>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496" name="Google Shape;496;p16"/>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16</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7"/>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3" name="Google Shape;503;p17"/>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4" name="Google Shape;504;p17"/>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Appendix: Data Model, Transformations &amp; Constraints</a:t>
            </a:r>
            <a:endParaRPr b="0" i="0" sz="2600" u="none" cap="none" strike="noStrike">
              <a:solidFill>
                <a:schemeClr val="dk1"/>
              </a:solidFill>
              <a:latin typeface="Arial"/>
              <a:ea typeface="Arial"/>
              <a:cs typeface="Arial"/>
              <a:sym typeface="Arial"/>
            </a:endParaRPr>
          </a:p>
        </p:txBody>
      </p:sp>
      <p:sp>
        <p:nvSpPr>
          <p:cNvPr id="505" name="Google Shape;505;p17"/>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APPENDIX</a:t>
            </a:r>
            <a:endParaRPr b="0" i="0" sz="800" u="none" cap="none" strike="noStrike">
              <a:solidFill>
                <a:schemeClr val="dk1"/>
              </a:solidFill>
              <a:latin typeface="Arial"/>
              <a:ea typeface="Arial"/>
              <a:cs typeface="Arial"/>
              <a:sym typeface="Arial"/>
            </a:endParaRPr>
          </a:p>
        </p:txBody>
      </p:sp>
      <p:cxnSp>
        <p:nvCxnSpPr>
          <p:cNvPr id="506" name="Google Shape;506;p17"/>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507" name="Google Shape;507;p17"/>
          <p:cNvSpPr/>
          <p:nvPr/>
        </p:nvSpPr>
        <p:spPr>
          <a:xfrm>
            <a:off x="658368" y="1078992"/>
            <a:ext cx="3456432" cy="4983480"/>
          </a:xfrm>
          <a:prstGeom prst="roundRect">
            <a:avLst>
              <a:gd fmla="val 3175"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8" name="Google Shape;508;p17"/>
          <p:cNvSpPr/>
          <p:nvPr/>
        </p:nvSpPr>
        <p:spPr>
          <a:xfrm>
            <a:off x="4343400" y="1078992"/>
            <a:ext cx="3456432" cy="4983480"/>
          </a:xfrm>
          <a:prstGeom prst="roundRect">
            <a:avLst>
              <a:gd fmla="val 3175" name="adj"/>
            </a:avLst>
          </a:prstGeom>
          <a:solidFill>
            <a:srgbClr val="EFF5FB"/>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9" name="Google Shape;509;p17"/>
          <p:cNvSpPr/>
          <p:nvPr/>
        </p:nvSpPr>
        <p:spPr>
          <a:xfrm>
            <a:off x="8028432" y="1078992"/>
            <a:ext cx="3493008" cy="4983480"/>
          </a:xfrm>
          <a:prstGeom prst="roundRect">
            <a:avLst>
              <a:gd fmla="val 3141"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0" name="Google Shape;510;p17"/>
          <p:cNvSpPr/>
          <p:nvPr/>
        </p:nvSpPr>
        <p:spPr>
          <a:xfrm>
            <a:off x="896111" y="1353312"/>
            <a:ext cx="2697479" cy="18288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Core data attributes</a:t>
            </a:r>
            <a:endParaRPr b="0" i="0" sz="1800" u="none" cap="none" strike="noStrike">
              <a:solidFill>
                <a:schemeClr val="dk1"/>
              </a:solidFill>
              <a:latin typeface="Arial"/>
              <a:ea typeface="Arial"/>
              <a:cs typeface="Arial"/>
              <a:sym typeface="Arial"/>
            </a:endParaRPr>
          </a:p>
        </p:txBody>
      </p:sp>
      <p:sp>
        <p:nvSpPr>
          <p:cNvPr id="511" name="Google Shape;511;p17"/>
          <p:cNvSpPr/>
          <p:nvPr/>
        </p:nvSpPr>
        <p:spPr>
          <a:xfrm>
            <a:off x="896112" y="1755647"/>
            <a:ext cx="2697480" cy="346181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Tenure and years in role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Department and job role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Leadership level / filter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Travel requirement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Engagement indicators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Performance rating and salary increase</a:t>
            </a:r>
            <a:endParaRPr b="0" i="0" sz="1400" u="none" cap="none" strike="noStrike">
              <a:solidFill>
                <a:schemeClr val="dk1"/>
              </a:solidFill>
              <a:latin typeface="Arial"/>
              <a:ea typeface="Arial"/>
              <a:cs typeface="Arial"/>
              <a:sym typeface="Arial"/>
            </a:endParaRPr>
          </a:p>
        </p:txBody>
      </p:sp>
      <p:sp>
        <p:nvSpPr>
          <p:cNvPr id="512" name="Google Shape;512;p17"/>
          <p:cNvSpPr/>
          <p:nvPr/>
        </p:nvSpPr>
        <p:spPr>
          <a:xfrm>
            <a:off x="4571999" y="1353312"/>
            <a:ext cx="2697479"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Key transformations</a:t>
            </a:r>
            <a:endParaRPr b="0" i="0" sz="1800" u="none" cap="none" strike="noStrike">
              <a:solidFill>
                <a:schemeClr val="dk1"/>
              </a:solidFill>
              <a:latin typeface="Arial"/>
              <a:ea typeface="Arial"/>
              <a:cs typeface="Arial"/>
              <a:sym typeface="Arial"/>
            </a:endParaRPr>
          </a:p>
        </p:txBody>
      </p:sp>
      <p:sp>
        <p:nvSpPr>
          <p:cNvPr id="513" name="Google Shape;513;p17"/>
          <p:cNvSpPr/>
          <p:nvPr/>
        </p:nvSpPr>
        <p:spPr>
          <a:xfrm>
            <a:off x="4572000" y="1755648"/>
            <a:ext cx="2697480" cy="325410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Created tenure-stage groups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Built attrition indicator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Created leadership filter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Added recent-exit flag for 2024–2025</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Calculated overall engagement average</a:t>
            </a:r>
            <a:endParaRPr b="0" i="0" sz="1400" u="none" cap="none" strike="noStrike">
              <a:solidFill>
                <a:schemeClr val="dk1"/>
              </a:solidFill>
              <a:latin typeface="Arial"/>
              <a:ea typeface="Arial"/>
              <a:cs typeface="Arial"/>
              <a:sym typeface="Arial"/>
            </a:endParaRPr>
          </a:p>
        </p:txBody>
      </p:sp>
      <p:sp>
        <p:nvSpPr>
          <p:cNvPr id="514" name="Google Shape;514;p17"/>
          <p:cNvSpPr/>
          <p:nvPr/>
        </p:nvSpPr>
        <p:spPr>
          <a:xfrm>
            <a:off x="8266176" y="1353312"/>
            <a:ext cx="2724912" cy="18288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1800"/>
              <a:buFont typeface="Play"/>
              <a:buNone/>
            </a:pPr>
            <a:r>
              <a:rPr b="1" i="0" lang="en-US" sz="1800" u="none" cap="none" strike="noStrike">
                <a:solidFill>
                  <a:srgbClr val="123B6D"/>
                </a:solidFill>
                <a:latin typeface="Play"/>
                <a:ea typeface="Play"/>
                <a:cs typeface="Play"/>
                <a:sym typeface="Play"/>
              </a:rPr>
              <a:t>Constraints to remember</a:t>
            </a:r>
            <a:endParaRPr b="0" i="0" sz="1800" u="none" cap="none" strike="noStrike">
              <a:solidFill>
                <a:schemeClr val="dk1"/>
              </a:solidFill>
              <a:latin typeface="Arial"/>
              <a:ea typeface="Arial"/>
              <a:cs typeface="Arial"/>
              <a:sym typeface="Arial"/>
            </a:endParaRPr>
          </a:p>
        </p:txBody>
      </p:sp>
      <p:sp>
        <p:nvSpPr>
          <p:cNvPr id="515" name="Google Shape;515;p17"/>
          <p:cNvSpPr/>
          <p:nvPr/>
        </p:nvSpPr>
        <p:spPr>
          <a:xfrm>
            <a:off x="8266176" y="1755647"/>
            <a:ext cx="2724912" cy="360028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Initial dataset lacked exit dates and reasons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Job titles required correction for some leadership roles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Available variables may miss promotion, mobility and external-pull drivers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43447"/>
              </a:buClr>
              <a:buSzPts val="1400"/>
              <a:buFont typeface="Arial"/>
              <a:buNone/>
            </a:pPr>
            <a:r>
              <a:rPr b="0" i="0" lang="en-US" sz="1400" u="none" cap="none" strike="noStrike">
                <a:solidFill>
                  <a:srgbClr val="243447"/>
                </a:solidFill>
                <a:latin typeface="Arial"/>
                <a:ea typeface="Arial"/>
                <a:cs typeface="Arial"/>
                <a:sym typeface="Arial"/>
              </a:rPr>
              <a:t>• Excel-based methods prioritize interpretability over complex modeling</a:t>
            </a:r>
            <a:endParaRPr b="0" i="0" sz="1400" u="none" cap="none" strike="noStrike">
              <a:solidFill>
                <a:schemeClr val="dk1"/>
              </a:solidFill>
              <a:latin typeface="Arial"/>
              <a:ea typeface="Arial"/>
              <a:cs typeface="Arial"/>
              <a:sym typeface="Arial"/>
            </a:endParaRPr>
          </a:p>
        </p:txBody>
      </p:sp>
      <p:sp>
        <p:nvSpPr>
          <p:cNvPr id="516" name="Google Shape;516;p17"/>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517" name="Google Shape;517;p17"/>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17</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8"/>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4" name="Google Shape;524;p18"/>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5" name="Google Shape;525;p18"/>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Appendix: Additional Exhibits — Travel &amp; Engagement</a:t>
            </a:r>
            <a:endParaRPr b="0" i="0" sz="2600" u="none" cap="none" strike="noStrike">
              <a:solidFill>
                <a:schemeClr val="dk1"/>
              </a:solidFill>
              <a:latin typeface="Arial"/>
              <a:ea typeface="Arial"/>
              <a:cs typeface="Arial"/>
              <a:sym typeface="Arial"/>
            </a:endParaRPr>
          </a:p>
        </p:txBody>
      </p:sp>
      <p:sp>
        <p:nvSpPr>
          <p:cNvPr id="526" name="Google Shape;526;p18"/>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APPENDIX</a:t>
            </a:r>
            <a:endParaRPr b="0" i="0" sz="800" u="none" cap="none" strike="noStrike">
              <a:solidFill>
                <a:schemeClr val="dk1"/>
              </a:solidFill>
              <a:latin typeface="Arial"/>
              <a:ea typeface="Arial"/>
              <a:cs typeface="Arial"/>
              <a:sym typeface="Arial"/>
            </a:endParaRPr>
          </a:p>
        </p:txBody>
      </p:sp>
      <p:cxnSp>
        <p:nvCxnSpPr>
          <p:cNvPr id="527" name="Google Shape;527;p18"/>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528" name="Google Shape;528;p18"/>
          <p:cNvSpPr/>
          <p:nvPr/>
        </p:nvSpPr>
        <p:spPr>
          <a:xfrm>
            <a:off x="658368" y="987552"/>
            <a:ext cx="89611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700"/>
              <a:buFont typeface="Arial"/>
              <a:buNone/>
            </a:pPr>
            <a:r>
              <a:rPr b="0" i="0" lang="en-US" sz="1700" u="none" cap="none" strike="noStrike">
                <a:solidFill>
                  <a:srgbClr val="5B6776"/>
                </a:solidFill>
                <a:latin typeface="Arial"/>
                <a:ea typeface="Arial"/>
                <a:cs typeface="Arial"/>
                <a:sym typeface="Arial"/>
              </a:rPr>
              <a:t>Two supporting exhibits further reinforced that broad travel or survey-based interventions alone are unlikely to solve the leadership attrition problem.</a:t>
            </a:r>
            <a:endParaRPr b="0" i="0" sz="1700" u="none" cap="none" strike="noStrike">
              <a:solidFill>
                <a:schemeClr val="dk1"/>
              </a:solidFill>
              <a:latin typeface="Arial"/>
              <a:ea typeface="Arial"/>
              <a:cs typeface="Arial"/>
              <a:sym typeface="Arial"/>
            </a:endParaRPr>
          </a:p>
        </p:txBody>
      </p:sp>
      <p:sp>
        <p:nvSpPr>
          <p:cNvPr id="529" name="Google Shape;529;p18"/>
          <p:cNvSpPr/>
          <p:nvPr/>
        </p:nvSpPr>
        <p:spPr>
          <a:xfrm>
            <a:off x="658368" y="1572768"/>
            <a:ext cx="5440680" cy="4069080"/>
          </a:xfrm>
          <a:prstGeom prst="roundRect">
            <a:avLst>
              <a:gd fmla="val 1798"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6_chart.png" id="530" name="Google Shape;530;p18"/>
          <p:cNvPicPr preferRelativeResize="0"/>
          <p:nvPr/>
        </p:nvPicPr>
        <p:blipFill rotWithShape="1">
          <a:blip r:embed="rId3">
            <a:alphaModFix/>
          </a:blip>
          <a:srcRect b="0" l="0" r="0" t="0"/>
          <a:stretch/>
        </p:blipFill>
        <p:spPr>
          <a:xfrm>
            <a:off x="731520" y="1977119"/>
            <a:ext cx="5294376" cy="3260378"/>
          </a:xfrm>
          <a:prstGeom prst="rect">
            <a:avLst/>
          </a:prstGeom>
          <a:noFill/>
          <a:ln>
            <a:noFill/>
          </a:ln>
        </p:spPr>
      </p:pic>
      <p:sp>
        <p:nvSpPr>
          <p:cNvPr id="531" name="Google Shape;531;p18"/>
          <p:cNvSpPr/>
          <p:nvPr/>
        </p:nvSpPr>
        <p:spPr>
          <a:xfrm>
            <a:off x="6355080" y="1572768"/>
            <a:ext cx="5166360" cy="4069080"/>
          </a:xfrm>
          <a:prstGeom prst="roundRect">
            <a:avLst>
              <a:gd fmla="val 1798"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8_chart.png" id="532" name="Google Shape;532;p18"/>
          <p:cNvPicPr preferRelativeResize="0"/>
          <p:nvPr/>
        </p:nvPicPr>
        <p:blipFill rotWithShape="1">
          <a:blip r:embed="rId4">
            <a:alphaModFix/>
          </a:blip>
          <a:srcRect b="0" l="0" r="0" t="0"/>
          <a:stretch/>
        </p:blipFill>
        <p:spPr>
          <a:xfrm>
            <a:off x="6428232" y="2305113"/>
            <a:ext cx="5020056" cy="2604390"/>
          </a:xfrm>
          <a:prstGeom prst="rect">
            <a:avLst/>
          </a:prstGeom>
          <a:noFill/>
          <a:ln>
            <a:noFill/>
          </a:ln>
        </p:spPr>
      </p:pic>
      <p:sp>
        <p:nvSpPr>
          <p:cNvPr id="533" name="Google Shape;533;p18"/>
          <p:cNvSpPr/>
          <p:nvPr/>
        </p:nvSpPr>
        <p:spPr>
          <a:xfrm>
            <a:off x="786384" y="5806440"/>
            <a:ext cx="5029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3447"/>
              </a:buClr>
              <a:buSzPts val="1300"/>
              <a:buFont typeface="Arial"/>
              <a:buNone/>
            </a:pPr>
            <a:r>
              <a:rPr b="0" i="0" lang="en-US" sz="1300" u="none" cap="none" strike="noStrike">
                <a:solidFill>
                  <a:srgbClr val="243447"/>
                </a:solidFill>
                <a:latin typeface="Arial"/>
                <a:ea typeface="Arial"/>
                <a:cs typeface="Arial"/>
                <a:sym typeface="Arial"/>
              </a:rPr>
              <a:t>Travel requirements did not display a disproportionate recent-exit pattern.</a:t>
            </a:r>
            <a:endParaRPr b="0" i="0" sz="1300" u="none" cap="none" strike="noStrike">
              <a:solidFill>
                <a:schemeClr val="dk1"/>
              </a:solidFill>
              <a:latin typeface="Arial"/>
              <a:ea typeface="Arial"/>
              <a:cs typeface="Arial"/>
              <a:sym typeface="Arial"/>
            </a:endParaRPr>
          </a:p>
        </p:txBody>
      </p:sp>
      <p:sp>
        <p:nvSpPr>
          <p:cNvPr id="534" name="Google Shape;534;p18"/>
          <p:cNvSpPr/>
          <p:nvPr/>
        </p:nvSpPr>
        <p:spPr>
          <a:xfrm>
            <a:off x="6492240" y="5806440"/>
            <a:ext cx="484632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3447"/>
              </a:buClr>
              <a:buSzPts val="1300"/>
              <a:buFont typeface="Arial"/>
              <a:buNone/>
            </a:pPr>
            <a:r>
              <a:rPr b="0" i="0" lang="en-US" sz="1300" u="none" cap="none" strike="noStrike">
                <a:solidFill>
                  <a:srgbClr val="243447"/>
                </a:solidFill>
                <a:latin typeface="Arial"/>
                <a:ea typeface="Arial"/>
                <a:cs typeface="Arial"/>
                <a:sym typeface="Arial"/>
              </a:rPr>
              <a:t>Engagement correlations clustered around zero, indicating weak explanatory power.</a:t>
            </a:r>
            <a:endParaRPr b="0" i="0" sz="1300" u="none" cap="none" strike="noStrike">
              <a:solidFill>
                <a:schemeClr val="dk1"/>
              </a:solidFill>
              <a:latin typeface="Arial"/>
              <a:ea typeface="Arial"/>
              <a:cs typeface="Arial"/>
              <a:sym typeface="Arial"/>
            </a:endParaRPr>
          </a:p>
        </p:txBody>
      </p:sp>
      <p:sp>
        <p:nvSpPr>
          <p:cNvPr id="535" name="Google Shape;535;p18"/>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536" name="Google Shape;536;p18"/>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18</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9"/>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3" name="Google Shape;543;p19"/>
          <p:cNvSpPr/>
          <p:nvPr/>
        </p:nvSpPr>
        <p:spPr>
          <a:xfrm>
            <a:off x="475488" y="338328"/>
            <a:ext cx="91440" cy="329184"/>
          </a:xfrm>
          <a:prstGeom prst="rect">
            <a:avLst/>
          </a:prstGeom>
          <a:solidFill>
            <a:srgbClr val="2F80ED"/>
          </a:solidFill>
          <a:ln cap="flat" cmpd="sng" w="12700">
            <a:solidFill>
              <a:srgbClr val="2F80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4" name="Google Shape;544;p19"/>
          <p:cNvSpPr/>
          <p:nvPr/>
        </p:nvSpPr>
        <p:spPr>
          <a:xfrm>
            <a:off x="658368" y="219456"/>
            <a:ext cx="9875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23B6D"/>
              </a:buClr>
              <a:buSzPts val="2600"/>
              <a:buFont typeface="Play"/>
              <a:buNone/>
            </a:pPr>
            <a:r>
              <a:rPr b="1" i="0" lang="en-US" sz="2600" u="none" cap="none" strike="noStrike">
                <a:solidFill>
                  <a:srgbClr val="123B6D"/>
                </a:solidFill>
                <a:latin typeface="Play"/>
                <a:ea typeface="Play"/>
                <a:cs typeface="Play"/>
                <a:sym typeface="Play"/>
              </a:rPr>
              <a:t>Appendix: Additional Exhibits — Compensation &amp; Performance</a:t>
            </a:r>
            <a:endParaRPr b="0" i="0" sz="2600" u="none" cap="none" strike="noStrike">
              <a:solidFill>
                <a:schemeClr val="dk1"/>
              </a:solidFill>
              <a:latin typeface="Arial"/>
              <a:ea typeface="Arial"/>
              <a:cs typeface="Arial"/>
              <a:sym typeface="Arial"/>
            </a:endParaRPr>
          </a:p>
        </p:txBody>
      </p:sp>
      <p:sp>
        <p:nvSpPr>
          <p:cNvPr id="545" name="Google Shape;545;p19"/>
          <p:cNvSpPr/>
          <p:nvPr/>
        </p:nvSpPr>
        <p:spPr>
          <a:xfrm>
            <a:off x="10698480" y="91440"/>
            <a:ext cx="822960" cy="12801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F80ED"/>
              </a:buClr>
              <a:buSzPts val="800"/>
              <a:buFont typeface="Arial"/>
              <a:buNone/>
            </a:pPr>
            <a:r>
              <a:rPr b="1" i="0" lang="en-US" sz="800" u="none" cap="none" strike="noStrike">
                <a:solidFill>
                  <a:srgbClr val="2F80ED"/>
                </a:solidFill>
                <a:latin typeface="Arial"/>
                <a:ea typeface="Arial"/>
                <a:cs typeface="Arial"/>
                <a:sym typeface="Arial"/>
              </a:rPr>
              <a:t>APPENDIX</a:t>
            </a:r>
            <a:endParaRPr b="0" i="0" sz="800" u="none" cap="none" strike="noStrike">
              <a:solidFill>
                <a:schemeClr val="dk1"/>
              </a:solidFill>
              <a:latin typeface="Arial"/>
              <a:ea typeface="Arial"/>
              <a:cs typeface="Arial"/>
              <a:sym typeface="Arial"/>
            </a:endParaRPr>
          </a:p>
        </p:txBody>
      </p:sp>
      <p:cxnSp>
        <p:nvCxnSpPr>
          <p:cNvPr id="546" name="Google Shape;546;p19"/>
          <p:cNvCxnSpPr/>
          <p:nvPr/>
        </p:nvCxnSpPr>
        <p:spPr>
          <a:xfrm>
            <a:off x="502920" y="768096"/>
            <a:ext cx="11201400" cy="0"/>
          </a:xfrm>
          <a:prstGeom prst="straightConnector1">
            <a:avLst/>
          </a:prstGeom>
          <a:noFill/>
          <a:ln cap="flat" cmpd="sng" w="13950">
            <a:solidFill>
              <a:srgbClr val="D9E3EE"/>
            </a:solidFill>
            <a:prstDash val="solid"/>
            <a:round/>
            <a:headEnd len="sm" w="sm" type="none"/>
            <a:tailEnd len="sm" w="sm" type="none"/>
          </a:ln>
        </p:spPr>
      </p:cxnSp>
      <p:sp>
        <p:nvSpPr>
          <p:cNvPr id="547" name="Google Shape;547;p19"/>
          <p:cNvSpPr/>
          <p:nvPr/>
        </p:nvSpPr>
        <p:spPr>
          <a:xfrm>
            <a:off x="658368" y="987552"/>
            <a:ext cx="9692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776"/>
              </a:buClr>
              <a:buSzPts val="1700"/>
              <a:buFont typeface="Arial"/>
              <a:buNone/>
            </a:pPr>
            <a:r>
              <a:rPr b="0" i="0" lang="en-US" sz="1700" u="none" cap="none" strike="noStrike">
                <a:solidFill>
                  <a:srgbClr val="5B6776"/>
                </a:solidFill>
                <a:latin typeface="Arial"/>
                <a:ea typeface="Arial"/>
                <a:cs typeface="Arial"/>
                <a:sym typeface="Arial"/>
              </a:rPr>
              <a:t>Compensation and performance variables were also weak differentiators, suggesting the organization may be losing capable leaders for reasons outside the standard HR fields available.</a:t>
            </a:r>
            <a:endParaRPr b="0" i="0" sz="1700" u="none" cap="none" strike="noStrike">
              <a:solidFill>
                <a:schemeClr val="dk1"/>
              </a:solidFill>
              <a:latin typeface="Arial"/>
              <a:ea typeface="Arial"/>
              <a:cs typeface="Arial"/>
              <a:sym typeface="Arial"/>
            </a:endParaRPr>
          </a:p>
        </p:txBody>
      </p:sp>
      <p:sp>
        <p:nvSpPr>
          <p:cNvPr id="548" name="Google Shape;548;p19"/>
          <p:cNvSpPr/>
          <p:nvPr/>
        </p:nvSpPr>
        <p:spPr>
          <a:xfrm>
            <a:off x="914400" y="1572768"/>
            <a:ext cx="4206240" cy="4251960"/>
          </a:xfrm>
          <a:prstGeom prst="roundRect">
            <a:avLst>
              <a:gd fmla="val 1739"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9_chart.png" id="549" name="Google Shape;549;p19"/>
          <p:cNvPicPr preferRelativeResize="0"/>
          <p:nvPr/>
        </p:nvPicPr>
        <p:blipFill rotWithShape="1">
          <a:blip r:embed="rId3">
            <a:alphaModFix/>
          </a:blip>
          <a:srcRect b="0" l="0" r="0" t="0"/>
          <a:stretch/>
        </p:blipFill>
        <p:spPr>
          <a:xfrm>
            <a:off x="987552" y="2148024"/>
            <a:ext cx="4059936" cy="3101448"/>
          </a:xfrm>
          <a:prstGeom prst="rect">
            <a:avLst/>
          </a:prstGeom>
          <a:noFill/>
          <a:ln>
            <a:noFill/>
          </a:ln>
        </p:spPr>
      </p:pic>
      <p:sp>
        <p:nvSpPr>
          <p:cNvPr id="550" name="Google Shape;550;p19"/>
          <p:cNvSpPr/>
          <p:nvPr/>
        </p:nvSpPr>
        <p:spPr>
          <a:xfrm>
            <a:off x="6446520" y="1572768"/>
            <a:ext cx="3794760" cy="4251960"/>
          </a:xfrm>
          <a:prstGeom prst="roundRect">
            <a:avLst>
              <a:gd fmla="val 1928"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mnt/data/extracted_insight_charts/slide10_chart.png" id="551" name="Google Shape;551;p19"/>
          <p:cNvPicPr preferRelativeResize="0"/>
          <p:nvPr/>
        </p:nvPicPr>
        <p:blipFill rotWithShape="1">
          <a:blip r:embed="rId4">
            <a:alphaModFix/>
          </a:blip>
          <a:srcRect b="0" l="0" r="0" t="0"/>
          <a:stretch/>
        </p:blipFill>
        <p:spPr>
          <a:xfrm>
            <a:off x="6771425" y="1645920"/>
            <a:ext cx="3144951" cy="4105656"/>
          </a:xfrm>
          <a:prstGeom prst="rect">
            <a:avLst/>
          </a:prstGeom>
          <a:noFill/>
          <a:ln>
            <a:noFill/>
          </a:ln>
        </p:spPr>
      </p:pic>
      <p:sp>
        <p:nvSpPr>
          <p:cNvPr id="552" name="Google Shape;552;p19"/>
          <p:cNvSpPr/>
          <p:nvPr/>
        </p:nvSpPr>
        <p:spPr>
          <a:xfrm>
            <a:off x="5413248" y="2212848"/>
            <a:ext cx="502920" cy="2697480"/>
          </a:xfrm>
          <a:prstGeom prst="roundRect">
            <a:avLst>
              <a:gd fmla="val 3636" name="adj"/>
            </a:avLst>
          </a:prstGeom>
          <a:solidFill>
            <a:srgbClr val="FFFFFF"/>
          </a:solidFill>
          <a:ln cap="flat" cmpd="sng" w="12700">
            <a:solidFill>
              <a:srgbClr val="D9E3EE"/>
            </a:solidFill>
            <a:prstDash val="solid"/>
            <a:round/>
            <a:headEnd len="sm" w="sm" type="none"/>
            <a:tailEnd len="sm" w="sm" type="none"/>
          </a:ln>
          <a:effectLst>
            <a:outerShdw blurRad="19050" rotWithShape="0" algn="bl" dir="27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3" name="Google Shape;553;p19"/>
          <p:cNvSpPr/>
          <p:nvPr/>
        </p:nvSpPr>
        <p:spPr>
          <a:xfrm>
            <a:off x="5513832" y="2926080"/>
            <a:ext cx="2743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994A"/>
              </a:buClr>
              <a:buSzPts val="3000"/>
              <a:buFont typeface="Play"/>
              <a:buNone/>
            </a:pPr>
            <a:r>
              <a:rPr b="1" i="0" lang="en-US" sz="3000" u="none" cap="none" strike="noStrike">
                <a:solidFill>
                  <a:srgbClr val="F2994A"/>
                </a:solidFill>
                <a:latin typeface="Play"/>
                <a:ea typeface="Play"/>
                <a:cs typeface="Play"/>
                <a:sym typeface="Play"/>
              </a:rPr>
              <a:t>≈</a:t>
            </a:r>
            <a:endParaRPr b="0" i="0" sz="3000" u="none" cap="none" strike="noStrike">
              <a:solidFill>
                <a:schemeClr val="dk1"/>
              </a:solidFill>
              <a:latin typeface="Arial"/>
              <a:ea typeface="Arial"/>
              <a:cs typeface="Arial"/>
              <a:sym typeface="Arial"/>
            </a:endParaRPr>
          </a:p>
        </p:txBody>
      </p:sp>
      <p:sp>
        <p:nvSpPr>
          <p:cNvPr id="554" name="Google Shape;554;p19"/>
          <p:cNvSpPr/>
          <p:nvPr/>
        </p:nvSpPr>
        <p:spPr>
          <a:xfrm>
            <a:off x="2011680" y="5907024"/>
            <a:ext cx="722376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3447"/>
              </a:buClr>
              <a:buSzPts val="1300"/>
              <a:buFont typeface="Arial"/>
              <a:buNone/>
            </a:pPr>
            <a:r>
              <a:rPr b="0" i="0" lang="en-US" sz="1300" u="none" cap="none" strike="noStrike">
                <a:solidFill>
                  <a:srgbClr val="243447"/>
                </a:solidFill>
                <a:latin typeface="Arial"/>
                <a:ea typeface="Arial"/>
                <a:cs typeface="Arial"/>
                <a:sym typeface="Arial"/>
              </a:rPr>
              <a:t>Neither metric materially distinguished recent leavers from the comparison group.</a:t>
            </a:r>
            <a:endParaRPr b="0" i="0" sz="1300" u="none" cap="none" strike="noStrike">
              <a:solidFill>
                <a:schemeClr val="dk1"/>
              </a:solidFill>
              <a:latin typeface="Arial"/>
              <a:ea typeface="Arial"/>
              <a:cs typeface="Arial"/>
              <a:sym typeface="Arial"/>
            </a:endParaRPr>
          </a:p>
        </p:txBody>
      </p:sp>
      <p:sp>
        <p:nvSpPr>
          <p:cNvPr id="555" name="Google Shape;555;p19"/>
          <p:cNvSpPr/>
          <p:nvPr/>
        </p:nvSpPr>
        <p:spPr>
          <a:xfrm>
            <a:off x="530352" y="6510528"/>
            <a:ext cx="4389120"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Pulse Diagnostics | Senior &amp; Leadership Attrition Analysis</a:t>
            </a:r>
            <a:endParaRPr b="0" i="0" sz="900" u="none" cap="none" strike="noStrike">
              <a:solidFill>
                <a:schemeClr val="dk1"/>
              </a:solidFill>
              <a:latin typeface="Arial"/>
              <a:ea typeface="Arial"/>
              <a:cs typeface="Arial"/>
              <a:sym typeface="Arial"/>
            </a:endParaRPr>
          </a:p>
        </p:txBody>
      </p:sp>
      <p:sp>
        <p:nvSpPr>
          <p:cNvPr id="556" name="Google Shape;556;p19"/>
          <p:cNvSpPr/>
          <p:nvPr/>
        </p:nvSpPr>
        <p:spPr>
          <a:xfrm>
            <a:off x="11384280" y="6483096"/>
            <a:ext cx="274320" cy="1645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797"/>
              </a:buClr>
              <a:buSzPts val="900"/>
              <a:buFont typeface="Arial"/>
              <a:buNone/>
            </a:pPr>
            <a:r>
              <a:rPr b="0" i="0" lang="en-US" sz="900" u="none" cap="none" strike="noStrike">
                <a:solidFill>
                  <a:srgbClr val="7A8797"/>
                </a:solidFill>
                <a:latin typeface="Arial"/>
                <a:ea typeface="Arial"/>
                <a:cs typeface="Arial"/>
                <a:sym typeface="Arial"/>
              </a:rPr>
              <a:t>19</a:t>
            </a:r>
            <a:endParaRPr b="0" i="0" sz="9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